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1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5143500" type="screen16x9"/>
  <p:notesSz cx="6858000" cy="9144000"/>
  <p:embeddedFontLst>
    <p:embeddedFont>
      <p:font typeface="Inter Medium" panose="020B0604020202020204" charset="0"/>
      <p:regular r:id="rId36"/>
      <p:bold r:id="rId37"/>
      <p:italic r:id="rId38"/>
      <p:boldItalic r:id="rId39"/>
    </p:embeddedFont>
    <p:embeddedFont>
      <p:font typeface="Montserrat" panose="00000500000000000000" pitchFamily="2" charset="0"/>
      <p:regular r:id="rId40"/>
      <p:bold r:id="rId41"/>
      <p:italic r:id="rId42"/>
      <p:boldItalic r:id="rId43"/>
    </p:embeddedFont>
    <p:embeddedFont>
      <p:font typeface="Montserrat Medium" panose="00000600000000000000" pitchFamily="2" charset="0"/>
      <p:regular r:id="rId44"/>
      <p:bold r:id="rId45"/>
      <p:italic r:id="rId46"/>
      <p:boldItalic r:id="rId47"/>
    </p:embeddedFont>
    <p:embeddedFont>
      <p:font typeface="Montserrat SemiBold" panose="00000700000000000000" pitchFamily="2" charset="0"/>
      <p:regular r:id="rId48"/>
      <p:bold r:id="rId49"/>
      <p:italic r:id="rId50"/>
      <p:boldItalic r:id="rId51"/>
    </p:embeddedFont>
    <p:embeddedFont>
      <p:font typeface="Space Grotesk" panose="020B0604020202020204" charset="0"/>
      <p:bold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606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47" Type="http://schemas.openxmlformats.org/officeDocument/2006/relationships/font" Target="fonts/font12.fntdata"/><Relationship Id="rId50" Type="http://schemas.openxmlformats.org/officeDocument/2006/relationships/font" Target="fonts/font15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9.fntdata"/><Relationship Id="rId52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48" Type="http://schemas.openxmlformats.org/officeDocument/2006/relationships/font" Target="fonts/font13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1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20" Type="http://schemas.openxmlformats.org/officeDocument/2006/relationships/slide" Target="slides/slide19.xml"/><Relationship Id="rId41" Type="http://schemas.openxmlformats.org/officeDocument/2006/relationships/font" Target="fonts/font6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49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h145f27aa7f1901b7_3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874713" y="0"/>
            <a:ext cx="3998913" cy="224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" name="Google Shape;11;h145f27aa7f1901b7_3_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Mở đầu bài thuyết trình: giới thiệu chủ đề RNN, nhấn mạnh đây là kiến trúc nền tảng cho dữ liệu tuần tự.</a:t>
            </a:r>
            <a:endParaRPr/>
          </a:p>
        </p:txBody>
      </p:sp>
      <p:sp>
        <p:nvSpPr>
          <p:cNvPr id="12" name="Google Shape;12;h145f27aa7f1901b7_3_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h145f27aa7f1901b7_3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874713" y="0"/>
            <a:ext cx="3998913" cy="224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h145f27aa7f1901b7_3_8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Giới thiệu các thành viên nhóm và phạm vi. Nói rõ phần demo sẽ làm riêng sau lý thuyết, không nhồi vào slide.</a:t>
            </a:r>
            <a:endParaRPr/>
          </a:p>
        </p:txBody>
      </p:sp>
      <p:sp>
        <p:nvSpPr>
          <p:cNvPr id="90" name="Google Shape;90;h145f27aa7f1901b7_3_8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h145f27aa7f1901b7_3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h145f27aa7f1901b7_3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h145f27aa7f1901b7_3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2250000" cy="225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8" name="Google Shape;178;h145f27aa7f1901b7_3_16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Giải thích sequential data. Nhấn mạnh không chỉ là nhiều dữ liệu, mà thứ tự của phần tử có ý nghĩa.</a:t>
            </a:r>
            <a:endParaRPr/>
          </a:p>
        </p:txBody>
      </p:sp>
      <p:sp>
        <p:nvSpPr>
          <p:cNvPr id="179" name="Google Shape;179;h145f27aa7f1901b7_3_16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h145f27aa7f1901b7_3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2250000" cy="225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0" name="Google Shape;250;h145f27aa7f1901b7_3_23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Dùng ví dụ câu để giải thích vì sao mô hình cần quan tâm đến thứ tự.</a:t>
            </a:r>
            <a:endParaRPr/>
          </a:p>
        </p:txBody>
      </p:sp>
      <p:sp>
        <p:nvSpPr>
          <p:cNvPr id="251" name="Google Shape;251;h145f27aa7f1901b7_3_23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h145f27aa7f1901b7_3_2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874713" y="0"/>
            <a:ext cx="3998913" cy="224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8" name="Google Shape;288;h145f27aa7f1901b7_3_27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 sánh feedforward và RNN. Đây là động lực dẫn vào hidden state.</a:t>
            </a:r>
            <a:endParaRPr/>
          </a:p>
        </p:txBody>
      </p:sp>
      <p:sp>
        <p:nvSpPr>
          <p:cNvPr id="289" name="Google Shape;289;h145f27aa7f1901b7_3_27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h145f27aa7f1901b7_3_3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2250000" cy="225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2" name="Google Shape;362;h145f27aa7f1901b7_3_34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Giới thiệu trực giác RNN: lấy thông tin hiện tại cộng với bộ nhớ trước đó, tạo bộ nhớ mới.</a:t>
            </a:r>
            <a:endParaRPr/>
          </a:p>
        </p:txBody>
      </p:sp>
      <p:sp>
        <p:nvSpPr>
          <p:cNvPr id="363" name="Google Shape;363;h145f27aa7f1901b7_3_34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h145f27aa7f1901b7_3_3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2250000" cy="225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6" name="Google Shape;416;h145f27aa7f1901b7_3_39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Làm rõ hidden state là vector biểu diễn, không phải “bộ nhớ” lưu toàn bộ câu.</a:t>
            </a:r>
            <a:endParaRPr/>
          </a:p>
        </p:txBody>
      </p:sp>
      <p:sp>
        <p:nvSpPr>
          <p:cNvPr id="417" name="Google Shape;417;h145f27aa7f1901b7_3_39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h145f27aa7f1901b7_3_4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2250000" cy="225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8" name="Google Shape;458;h145f27aa7f1901b7_3_44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Dẫn giải một chuỗi 4 phần tử. Nói theo từng bước để người nghe hiểu cách state được cập nhật.</a:t>
            </a:r>
            <a:endParaRPr/>
          </a:p>
        </p:txBody>
      </p:sp>
      <p:sp>
        <p:nvSpPr>
          <p:cNvPr id="459" name="Google Shape;459;h145f27aa7f1901b7_3_44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h145f27aa7f1901b7_3_5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2250000" cy="225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7" name="Google Shape;527;h145f27aa7f1901b7_3_5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Nhấn mạnh unroll là cách biểu diễn, không phải tạo nhiều mạng riêng biệt.</a:t>
            </a:r>
            <a:endParaRPr/>
          </a:p>
        </p:txBody>
      </p:sp>
      <p:sp>
        <p:nvSpPr>
          <p:cNvPr id="528" name="Google Shape;528;h145f27aa7f1901b7_3_5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h145f27aa7f1901b7_3_5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2250000" cy="225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9" name="Google Shape;559;h145f27aa7f1901b7_3_54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Giải thích Wxh, Whh, Why. Nhấn mạnh giảm tham số và cho phép xử lý chuỗi độ dài linh hoạt.</a:t>
            </a:r>
            <a:endParaRPr/>
          </a:p>
        </p:txBody>
      </p:sp>
      <p:sp>
        <p:nvSpPr>
          <p:cNvPr id="560" name="Google Shape;560;h145f27aa7f1901b7_3_54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h145f27aa7f1901b7_3_5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2250000" cy="225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7" name="Google Shape;597;h145f27aa7f1901b7_3_58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Đọc công thức và giải thích từng thành phần bằng ngôn ngữ đơn giản.</a:t>
            </a:r>
            <a:endParaRPr/>
          </a:p>
        </p:txBody>
      </p:sp>
      <p:sp>
        <p:nvSpPr>
          <p:cNvPr id="598" name="Google Shape;598;h145f27aa7f1901b7_3_58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h145f27aa7f1901b7_3_6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2250000" cy="225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3" name="Google Shape;643;h145f27aa7f1901b7_3_62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Nói sự khác biệt giữa hidden state và output. Output phụ thuộc bài toán.</a:t>
            </a:r>
            <a:endParaRPr/>
          </a:p>
        </p:txBody>
      </p:sp>
      <p:sp>
        <p:nvSpPr>
          <p:cNvPr id="644" name="Google Shape;644;h145f27aa7f1901b7_3_62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h145f27aa7f1901b7_3_6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2250000" cy="225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9" name="Google Shape;679;h145f27aa7f1901b7_3_66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Giải thích đồ thị tanh; nhấn mạnh đây là lý do tanh xuất hiện trong công thức hidden state.</a:t>
            </a:r>
            <a:endParaRPr/>
          </a:p>
        </p:txBody>
      </p:sp>
      <p:sp>
        <p:nvSpPr>
          <p:cNvPr id="680" name="Google Shape;680;h145f27aa7f1901b7_3_66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h145f27aa7f1901b7_3_6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2250000" cy="225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2" name="Google Shape;712;h145f27aa7f1901b7_3_69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Kể câu chuyện qua từng step. Không cần tính số, chỉ cần người nghe hiểu dependency.</a:t>
            </a:r>
            <a:endParaRPr/>
          </a:p>
        </p:txBody>
      </p:sp>
      <p:sp>
        <p:nvSpPr>
          <p:cNvPr id="713" name="Google Shape;713;h145f27aa7f1901b7_3_69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h145f27aa7f1901b7_3_7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2250000" cy="225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6" name="Google Shape;766;h145f27aa7f1901b7_3_74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Giới thiệu tổng quan bốn dạng. Không cần đi quá sâu one-to-one.</a:t>
            </a:r>
            <a:endParaRPr/>
          </a:p>
        </p:txBody>
      </p:sp>
      <p:sp>
        <p:nvSpPr>
          <p:cNvPr id="767" name="Google Shape;767;h145f27aa7f1901b7_3_74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h145f27aa7f1901b7_3_8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2250000" cy="225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4" name="Google Shape;854;h145f27aa7f1901b7_3_83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Giải thích 1 input, nhiều output. Chỉ nói theo cấu trúc, không đi sâu sang mô hình khác.</a:t>
            </a:r>
            <a:endParaRPr/>
          </a:p>
        </p:txBody>
      </p:sp>
      <p:sp>
        <p:nvSpPr>
          <p:cNvPr id="855" name="Google Shape;855;h145f27aa7f1901b7_3_83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h145f27aa7f1901b7_3_8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2250000" cy="225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3" name="Google Shape;913;h145f27aa7f1901b7_3_89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Nối với demo sau này: sentiment analysis là dạng many-to-one rất trực quan.</a:t>
            </a:r>
            <a:endParaRPr/>
          </a:p>
        </p:txBody>
      </p:sp>
      <p:sp>
        <p:nvSpPr>
          <p:cNvPr id="914" name="Google Shape;914;h145f27aa7f1901b7_3_89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h145f27aa7f1901b7_3_9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2250000" cy="225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0" name="Google Shape;970;h145f27aa7f1901b7_3_95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Giải thích many-to-many cùng độ dài bằng sequence labeling để tránh nhầm với dịch máy.</a:t>
            </a:r>
            <a:endParaRPr/>
          </a:p>
        </p:txBody>
      </p:sp>
      <p:sp>
        <p:nvSpPr>
          <p:cNvPr id="971" name="Google Shape;971;h145f27aa7f1901b7_3_95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h145f27aa7f1901b7_3_10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2250000" cy="225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8" name="Google Shape;1038;h145f27aa7f1901b7_3_102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Tổng quan trước khi đi sâu forward và backward.</a:t>
            </a:r>
            <a:endParaRPr/>
          </a:p>
        </p:txBody>
      </p:sp>
      <p:sp>
        <p:nvSpPr>
          <p:cNvPr id="1039" name="Google Shape;1039;h145f27aa7f1901b7_3_102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h145f27aa7f1901b7_3_10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2250000" cy="225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4" name="Google Shape;1084;h145f27aa7f1901b7_3_106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Nhấn mạnh forward có tính tuần tự: h(t) phụ thuộc h(t-1).</a:t>
            </a:r>
            <a:endParaRPr/>
          </a:p>
        </p:txBody>
      </p:sp>
      <p:sp>
        <p:nvSpPr>
          <p:cNvPr id="1085" name="Google Shape;1085;h145f27aa7f1901b7_3_106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h145f27aa7f1901b7_3_1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874713" y="0"/>
            <a:ext cx="3998913" cy="224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0" name="Google Shape;1120;h145f27aa7f1901b7_3_110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Chỉ rõ forward một màu, backward một màu. BPTT là backprop trên mạng đã unroll.</a:t>
            </a:r>
            <a:endParaRPr/>
          </a:p>
        </p:txBody>
      </p:sp>
      <p:sp>
        <p:nvSpPr>
          <p:cNvPr id="1121" name="Google Shape;1121;h145f27aa7f1901b7_3_110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h145f27aa7f1901b7_3_1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2250000" cy="225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6" name="Google Shape;1156;h145f27aa7f1901b7_3_113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Tóm tắt BPTT bằng 5 bước dễ nhớ.</a:t>
            </a:r>
            <a:endParaRPr/>
          </a:p>
        </p:txBody>
      </p:sp>
      <p:sp>
        <p:nvSpPr>
          <p:cNvPr id="1157" name="Google Shape;1157;h145f27aa7f1901b7_3_113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h145f27aa7f1901b7_3_1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2250000" cy="225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1" name="Google Shape;1211;h145f27aa7f1901b7_3_119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Dùng hình chuỗi dài để giải thích long-term dependency.</a:t>
            </a:r>
            <a:endParaRPr/>
          </a:p>
        </p:txBody>
      </p:sp>
      <p:sp>
        <p:nvSpPr>
          <p:cNvPr id="1212" name="Google Shape;1212;h145f27aa7f1901b7_3_119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h145f27aa7f1901b7_3_1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874713" y="0"/>
            <a:ext cx="3998913" cy="224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0" name="Google Shape;1270;h145f27aa7f1901b7_3_125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Giải thích vanishing gradient bằng trực giác: tín hiệu học yếu dần khi đi ngược rất xa.</a:t>
            </a:r>
            <a:endParaRPr/>
          </a:p>
        </p:txBody>
      </p:sp>
      <p:sp>
        <p:nvSpPr>
          <p:cNvPr id="1271" name="Google Shape;1271;h145f27aa7f1901b7_3_125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h145f27aa7f1901b7_3_13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2250000" cy="225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5" name="Google Shape;1325;h145f27aa7f1901b7_3_130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Giải thích exploding gradient và gradient clipping một cách đơn giản.</a:t>
            </a:r>
            <a:endParaRPr/>
          </a:p>
        </p:txBody>
      </p:sp>
      <p:sp>
        <p:nvSpPr>
          <p:cNvPr id="1326" name="Google Shape;1326;h145f27aa7f1901b7_3_130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h145f27aa7f1901b7_5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2250000" cy="225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1" name="Google Shape;1361;h145f27aa7f1901b7_5_30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Giải thích exploding gradient và gradient clipping một cách đơn giản.</a:t>
            </a:r>
            <a:endParaRPr/>
          </a:p>
        </p:txBody>
      </p:sp>
      <p:sp>
        <p:nvSpPr>
          <p:cNvPr id="1362" name="Google Shape;1362;h145f27aa7f1901b7_5_30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h145f27aa7f1901b7_5_3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2250000" cy="225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6" name="Google Shape;1396;h145f27aa7f1901b7_5_34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Giải thích exploding gradient và gradient clipping một cách đơn giản.</a:t>
            </a:r>
            <a:endParaRPr/>
          </a:p>
        </p:txBody>
      </p:sp>
      <p:sp>
        <p:nvSpPr>
          <p:cNvPr id="1397" name="Google Shape;1397;h145f27aa7f1901b7_5_34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Google Shape;1436;h145f27aa7f1901b7_5_3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2250000" cy="225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7" name="Google Shape;1437;h145f27aa7f1901b7_5_39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Giải thích exploding gradient và gradient clipping một cách đơn giản.</a:t>
            </a:r>
            <a:endParaRPr/>
          </a:p>
        </p:txBody>
      </p:sp>
      <p:sp>
        <p:nvSpPr>
          <p:cNvPr id="1438" name="Google Shape;1438;h145f27aa7f1901b7_5_39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h145f27aa7f1901b7_5_4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2250000" cy="225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84" name="Google Shape;1484;h145f27aa7f1901b7_5_45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Giải thích exploding gradient và gradient clipping một cách đơn giản.</a:t>
            </a:r>
            <a:endParaRPr/>
          </a:p>
        </p:txBody>
      </p:sp>
      <p:sp>
        <p:nvSpPr>
          <p:cNvPr id="1485" name="Google Shape;1485;h145f27aa7f1901b7_5_45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h145f27aa7f1901b7_5_5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2250000" cy="225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21" name="Google Shape;1521;h145f27aa7f1901b7_5_5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Giải thích exploding gradient và gradient clipping một cách đơn giản.</a:t>
            </a:r>
            <a:endParaRPr/>
          </a:p>
        </p:txBody>
      </p:sp>
      <p:sp>
        <p:nvSpPr>
          <p:cNvPr id="1522" name="Google Shape;1522;h145f27aa7f1901b7_5_5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Google Shape;1560;h145f27aa7f1901b7_3_13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2250000" cy="225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61" name="Google Shape;1561;h145f27aa7f1901b7_3_134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Kết nối ứng dụng với kiểu dữ liệu chuỗi. Nói rõ vanilla RNN là baseline/học nền tảng.</a:t>
            </a:r>
            <a:endParaRPr/>
          </a:p>
        </p:txBody>
      </p:sp>
      <p:sp>
        <p:nvSpPr>
          <p:cNvPr id="1562" name="Google Shape;1562;h145f27aa7f1901b7_3_134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h145f27aa7f1901b7_3_14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2250000" cy="225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3" name="Google Shape;1683;h145f27aa7f1901b7_3_146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Tổng kết: RNN xử lý chuỗi bằng hidden state, nhưng gặp khó khăn khi chuỗi dài. Mời thầy/các bạn đặt câu hỏi.</a:t>
            </a:r>
            <a:endParaRPr/>
          </a:p>
        </p:txBody>
      </p:sp>
      <p:sp>
        <p:nvSpPr>
          <p:cNvPr id="1684" name="Google Shape;1684;h145f27aa7f1901b7_3_146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STER">
  <p:cSld name="MASTER">
    <p:bg>
      <p:bgPr>
        <a:solidFill>
          <a:srgbClr val="071426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h2cdc51d0583f4a55_13_0)">
  <p:cSld name="Generated (h2cdc51d0583f4a55_13_0)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sv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071426"/>
          </a:solidFill>
          <a:ln w="12700" cap="flat" cmpd="sng">
            <a:solidFill>
              <a:srgbClr val="0714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" name="Google Shape;15;p5"/>
          <p:cNvCxnSpPr/>
          <p:nvPr/>
        </p:nvCxnSpPr>
        <p:spPr>
          <a:xfrm>
            <a:off x="754380" y="548640"/>
            <a:ext cx="0" cy="4183380"/>
          </a:xfrm>
          <a:prstGeom prst="straightConnector1">
            <a:avLst/>
          </a:prstGeom>
          <a:noFill/>
          <a:ln w="12700" cap="flat" cmpd="sng">
            <a:solidFill>
              <a:srgbClr val="0C3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5"/>
          <p:cNvSpPr/>
          <p:nvPr/>
        </p:nvSpPr>
        <p:spPr>
          <a:xfrm>
            <a:off x="658368" y="685800"/>
            <a:ext cx="192024" cy="192024"/>
          </a:xfrm>
          <a:prstGeom prst="ellipse">
            <a:avLst/>
          </a:prstGeom>
          <a:solidFill>
            <a:srgbClr val="14D9E5"/>
          </a:solidFill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" name="Google Shape;17;p5"/>
          <p:cNvSpPr/>
          <p:nvPr/>
        </p:nvSpPr>
        <p:spPr>
          <a:xfrm>
            <a:off x="672084" y="737647"/>
            <a:ext cx="164592" cy="6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Montserrat"/>
              <a:buNone/>
            </a:pPr>
            <a:endParaRPr sz="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18;p5"/>
          <p:cNvSpPr/>
          <p:nvPr/>
        </p:nvSpPr>
        <p:spPr>
          <a:xfrm>
            <a:off x="658368" y="1440180"/>
            <a:ext cx="192024" cy="192024"/>
          </a:xfrm>
          <a:prstGeom prst="ellipse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Google Shape;19;p5"/>
          <p:cNvSpPr/>
          <p:nvPr/>
        </p:nvSpPr>
        <p:spPr>
          <a:xfrm>
            <a:off x="672084" y="1492027"/>
            <a:ext cx="164592" cy="6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Montserrat"/>
              <a:buNone/>
            </a:pPr>
            <a:endParaRPr sz="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" name="Google Shape;20;p5"/>
          <p:cNvSpPr/>
          <p:nvPr/>
        </p:nvSpPr>
        <p:spPr>
          <a:xfrm>
            <a:off x="658368" y="2194560"/>
            <a:ext cx="192024" cy="192024"/>
          </a:xfrm>
          <a:prstGeom prst="ellipse">
            <a:avLst/>
          </a:prstGeom>
          <a:solidFill>
            <a:srgbClr val="14D9E5"/>
          </a:solidFill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" name="Google Shape;21;p5"/>
          <p:cNvSpPr/>
          <p:nvPr/>
        </p:nvSpPr>
        <p:spPr>
          <a:xfrm>
            <a:off x="672084" y="2246407"/>
            <a:ext cx="164592" cy="6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Montserrat"/>
              <a:buNone/>
            </a:pPr>
            <a:endParaRPr sz="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" name="Google Shape;22;p5"/>
          <p:cNvSpPr/>
          <p:nvPr/>
        </p:nvSpPr>
        <p:spPr>
          <a:xfrm>
            <a:off x="658368" y="2948940"/>
            <a:ext cx="192024" cy="192024"/>
          </a:xfrm>
          <a:prstGeom prst="ellipse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" name="Google Shape;23;p5"/>
          <p:cNvSpPr/>
          <p:nvPr/>
        </p:nvSpPr>
        <p:spPr>
          <a:xfrm>
            <a:off x="672084" y="3000787"/>
            <a:ext cx="164592" cy="6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Montserrat"/>
              <a:buNone/>
            </a:pPr>
            <a:endParaRPr sz="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" name="Google Shape;24;p5"/>
          <p:cNvSpPr/>
          <p:nvPr/>
        </p:nvSpPr>
        <p:spPr>
          <a:xfrm>
            <a:off x="658368" y="3703320"/>
            <a:ext cx="192024" cy="192024"/>
          </a:xfrm>
          <a:prstGeom prst="ellipse">
            <a:avLst/>
          </a:prstGeom>
          <a:solidFill>
            <a:srgbClr val="14D9E5"/>
          </a:solidFill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" name="Google Shape;25;p5"/>
          <p:cNvSpPr/>
          <p:nvPr/>
        </p:nvSpPr>
        <p:spPr>
          <a:xfrm>
            <a:off x="672084" y="3755167"/>
            <a:ext cx="164592" cy="6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Montserrat"/>
              <a:buNone/>
            </a:pPr>
            <a:endParaRPr sz="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6" name="Google Shape;26;p5"/>
          <p:cNvCxnSpPr/>
          <p:nvPr/>
        </p:nvCxnSpPr>
        <p:spPr>
          <a:xfrm>
            <a:off x="2263140" y="548640"/>
            <a:ext cx="0" cy="4183380"/>
          </a:xfrm>
          <a:prstGeom prst="straightConnector1">
            <a:avLst/>
          </a:prstGeom>
          <a:noFill/>
          <a:ln w="12700" cap="flat" cmpd="sng">
            <a:solidFill>
              <a:srgbClr val="0C3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/>
          <p:nvPr/>
        </p:nvSpPr>
        <p:spPr>
          <a:xfrm>
            <a:off x="2167128" y="685800"/>
            <a:ext cx="192024" cy="192024"/>
          </a:xfrm>
          <a:prstGeom prst="ellipse">
            <a:avLst/>
          </a:prstGeom>
          <a:solidFill>
            <a:srgbClr val="14D9E5"/>
          </a:solidFill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" name="Google Shape;28;p5"/>
          <p:cNvSpPr/>
          <p:nvPr/>
        </p:nvSpPr>
        <p:spPr>
          <a:xfrm>
            <a:off x="2180844" y="737647"/>
            <a:ext cx="164592" cy="6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Montserrat"/>
              <a:buNone/>
            </a:pPr>
            <a:endParaRPr sz="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" name="Google Shape;29;p5"/>
          <p:cNvSpPr/>
          <p:nvPr/>
        </p:nvSpPr>
        <p:spPr>
          <a:xfrm>
            <a:off x="2167128" y="1440180"/>
            <a:ext cx="192024" cy="192024"/>
          </a:xfrm>
          <a:prstGeom prst="ellipse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" name="Google Shape;30;p5"/>
          <p:cNvSpPr/>
          <p:nvPr/>
        </p:nvSpPr>
        <p:spPr>
          <a:xfrm>
            <a:off x="2180844" y="1492027"/>
            <a:ext cx="164592" cy="6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Montserrat"/>
              <a:buNone/>
            </a:pPr>
            <a:endParaRPr sz="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" name="Google Shape;31;p5"/>
          <p:cNvSpPr/>
          <p:nvPr/>
        </p:nvSpPr>
        <p:spPr>
          <a:xfrm>
            <a:off x="2167128" y="2194560"/>
            <a:ext cx="192024" cy="192024"/>
          </a:xfrm>
          <a:prstGeom prst="ellipse">
            <a:avLst/>
          </a:prstGeom>
          <a:solidFill>
            <a:srgbClr val="14D9E5"/>
          </a:solidFill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2180844" y="2246407"/>
            <a:ext cx="164592" cy="6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Montserrat"/>
              <a:buNone/>
            </a:pPr>
            <a:endParaRPr sz="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2167128" y="2948940"/>
            <a:ext cx="192024" cy="192024"/>
          </a:xfrm>
          <a:prstGeom prst="ellipse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2180844" y="3000787"/>
            <a:ext cx="164592" cy="6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Montserrat"/>
              <a:buNone/>
            </a:pPr>
            <a:endParaRPr sz="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2167128" y="3703320"/>
            <a:ext cx="192024" cy="192024"/>
          </a:xfrm>
          <a:prstGeom prst="ellipse">
            <a:avLst/>
          </a:prstGeom>
          <a:solidFill>
            <a:srgbClr val="14D9E5"/>
          </a:solidFill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2180844" y="3755167"/>
            <a:ext cx="164592" cy="6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Montserrat"/>
              <a:buNone/>
            </a:pPr>
            <a:endParaRPr sz="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7" name="Google Shape;37;p5"/>
          <p:cNvCxnSpPr/>
          <p:nvPr/>
        </p:nvCxnSpPr>
        <p:spPr>
          <a:xfrm>
            <a:off x="3771900" y="548640"/>
            <a:ext cx="0" cy="4183380"/>
          </a:xfrm>
          <a:prstGeom prst="straightConnector1">
            <a:avLst/>
          </a:prstGeom>
          <a:noFill/>
          <a:ln w="12700" cap="flat" cmpd="sng">
            <a:solidFill>
              <a:srgbClr val="0C3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" name="Google Shape;38;p5"/>
          <p:cNvSpPr/>
          <p:nvPr/>
        </p:nvSpPr>
        <p:spPr>
          <a:xfrm>
            <a:off x="3675888" y="685800"/>
            <a:ext cx="192024" cy="192024"/>
          </a:xfrm>
          <a:prstGeom prst="ellipse">
            <a:avLst/>
          </a:prstGeom>
          <a:solidFill>
            <a:srgbClr val="14D9E5"/>
          </a:solidFill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3689604" y="737647"/>
            <a:ext cx="164592" cy="6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Montserrat"/>
              <a:buNone/>
            </a:pPr>
            <a:endParaRPr sz="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3675888" y="1440180"/>
            <a:ext cx="192024" cy="192024"/>
          </a:xfrm>
          <a:prstGeom prst="ellipse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3689604" y="1492027"/>
            <a:ext cx="164592" cy="6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Montserrat"/>
              <a:buNone/>
            </a:pPr>
            <a:endParaRPr sz="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3675888" y="2194560"/>
            <a:ext cx="192024" cy="192024"/>
          </a:xfrm>
          <a:prstGeom prst="ellipse">
            <a:avLst/>
          </a:prstGeom>
          <a:solidFill>
            <a:srgbClr val="14D9E5"/>
          </a:solidFill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3689604" y="2246407"/>
            <a:ext cx="164592" cy="6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Montserrat"/>
              <a:buNone/>
            </a:pPr>
            <a:endParaRPr sz="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3675888" y="2948940"/>
            <a:ext cx="192024" cy="192024"/>
          </a:xfrm>
          <a:prstGeom prst="ellipse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3689604" y="3000787"/>
            <a:ext cx="164592" cy="6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Montserrat"/>
              <a:buNone/>
            </a:pPr>
            <a:endParaRPr sz="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3675888" y="3703320"/>
            <a:ext cx="192024" cy="192024"/>
          </a:xfrm>
          <a:prstGeom prst="ellipse">
            <a:avLst/>
          </a:prstGeom>
          <a:solidFill>
            <a:srgbClr val="14D9E5"/>
          </a:solidFill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3689604" y="3755167"/>
            <a:ext cx="164592" cy="6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Montserrat"/>
              <a:buNone/>
            </a:pPr>
            <a:endParaRPr sz="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8" name="Google Shape;48;p5"/>
          <p:cNvCxnSpPr/>
          <p:nvPr/>
        </p:nvCxnSpPr>
        <p:spPr>
          <a:xfrm>
            <a:off x="5280660" y="548640"/>
            <a:ext cx="0" cy="4183380"/>
          </a:xfrm>
          <a:prstGeom prst="straightConnector1">
            <a:avLst/>
          </a:prstGeom>
          <a:noFill/>
          <a:ln w="12700" cap="flat" cmpd="sng">
            <a:solidFill>
              <a:srgbClr val="0C3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9" name="Google Shape;49;p5"/>
          <p:cNvSpPr/>
          <p:nvPr/>
        </p:nvSpPr>
        <p:spPr>
          <a:xfrm>
            <a:off x="5184648" y="685800"/>
            <a:ext cx="192024" cy="192024"/>
          </a:xfrm>
          <a:prstGeom prst="ellipse">
            <a:avLst/>
          </a:prstGeom>
          <a:solidFill>
            <a:srgbClr val="14D9E5"/>
          </a:solidFill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5198364" y="737647"/>
            <a:ext cx="164592" cy="6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Montserrat"/>
              <a:buNone/>
            </a:pPr>
            <a:endParaRPr sz="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5184648" y="1440180"/>
            <a:ext cx="192024" cy="192024"/>
          </a:xfrm>
          <a:prstGeom prst="ellipse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5198364" y="1492027"/>
            <a:ext cx="164592" cy="6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Montserrat"/>
              <a:buNone/>
            </a:pPr>
            <a:endParaRPr sz="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5184648" y="2194560"/>
            <a:ext cx="192024" cy="192024"/>
          </a:xfrm>
          <a:prstGeom prst="ellipse">
            <a:avLst/>
          </a:prstGeom>
          <a:solidFill>
            <a:srgbClr val="14D9E5"/>
          </a:solidFill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5198364" y="2246407"/>
            <a:ext cx="164592" cy="6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Montserrat"/>
              <a:buNone/>
            </a:pPr>
            <a:endParaRPr sz="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184648" y="2948940"/>
            <a:ext cx="192024" cy="192024"/>
          </a:xfrm>
          <a:prstGeom prst="ellipse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5198364" y="3000787"/>
            <a:ext cx="164592" cy="6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Montserrat"/>
              <a:buNone/>
            </a:pPr>
            <a:endParaRPr sz="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5184648" y="3703320"/>
            <a:ext cx="192024" cy="192024"/>
          </a:xfrm>
          <a:prstGeom prst="ellipse">
            <a:avLst/>
          </a:prstGeom>
          <a:solidFill>
            <a:srgbClr val="14D9E5"/>
          </a:solidFill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5198364" y="3755167"/>
            <a:ext cx="164592" cy="6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Montserrat"/>
              <a:buNone/>
            </a:pPr>
            <a:endParaRPr sz="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9" name="Google Shape;59;p5"/>
          <p:cNvCxnSpPr/>
          <p:nvPr/>
        </p:nvCxnSpPr>
        <p:spPr>
          <a:xfrm>
            <a:off x="6789420" y="548640"/>
            <a:ext cx="0" cy="4183380"/>
          </a:xfrm>
          <a:prstGeom prst="straightConnector1">
            <a:avLst/>
          </a:prstGeom>
          <a:noFill/>
          <a:ln w="12700" cap="flat" cmpd="sng">
            <a:solidFill>
              <a:srgbClr val="0C3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0" name="Google Shape;60;p5"/>
          <p:cNvSpPr/>
          <p:nvPr/>
        </p:nvSpPr>
        <p:spPr>
          <a:xfrm>
            <a:off x="6693408" y="685800"/>
            <a:ext cx="192024" cy="192024"/>
          </a:xfrm>
          <a:prstGeom prst="ellipse">
            <a:avLst/>
          </a:prstGeom>
          <a:solidFill>
            <a:srgbClr val="14D9E5"/>
          </a:solidFill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6707124" y="737647"/>
            <a:ext cx="164592" cy="6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Montserrat"/>
              <a:buNone/>
            </a:pPr>
            <a:endParaRPr sz="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6693408" y="1440180"/>
            <a:ext cx="192024" cy="192024"/>
          </a:xfrm>
          <a:prstGeom prst="ellipse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6707124" y="1492027"/>
            <a:ext cx="164592" cy="6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Montserrat"/>
              <a:buNone/>
            </a:pPr>
            <a:endParaRPr sz="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6693408" y="2194560"/>
            <a:ext cx="192024" cy="192024"/>
          </a:xfrm>
          <a:prstGeom prst="ellipse">
            <a:avLst/>
          </a:prstGeom>
          <a:solidFill>
            <a:srgbClr val="14D9E5"/>
          </a:solidFill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6707124" y="2246407"/>
            <a:ext cx="164592" cy="6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Montserrat"/>
              <a:buNone/>
            </a:pPr>
            <a:endParaRPr sz="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6693408" y="2948940"/>
            <a:ext cx="192024" cy="192024"/>
          </a:xfrm>
          <a:prstGeom prst="ellipse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6707124" y="3000787"/>
            <a:ext cx="164592" cy="6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Montserrat"/>
              <a:buNone/>
            </a:pPr>
            <a:endParaRPr sz="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6693408" y="3703320"/>
            <a:ext cx="192024" cy="192024"/>
          </a:xfrm>
          <a:prstGeom prst="ellipse">
            <a:avLst/>
          </a:prstGeom>
          <a:solidFill>
            <a:srgbClr val="14D9E5"/>
          </a:solidFill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6707124" y="3755167"/>
            <a:ext cx="164592" cy="6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Montserrat"/>
              <a:buNone/>
            </a:pPr>
            <a:endParaRPr sz="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0" name="Google Shape;70;p5"/>
          <p:cNvCxnSpPr/>
          <p:nvPr/>
        </p:nvCxnSpPr>
        <p:spPr>
          <a:xfrm>
            <a:off x="8298180" y="548640"/>
            <a:ext cx="0" cy="4183380"/>
          </a:xfrm>
          <a:prstGeom prst="straightConnector1">
            <a:avLst/>
          </a:prstGeom>
          <a:noFill/>
          <a:ln w="12700" cap="flat" cmpd="sng">
            <a:solidFill>
              <a:srgbClr val="0C3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1" name="Google Shape;71;p5"/>
          <p:cNvSpPr/>
          <p:nvPr/>
        </p:nvSpPr>
        <p:spPr>
          <a:xfrm>
            <a:off x="8202168" y="685800"/>
            <a:ext cx="192024" cy="192024"/>
          </a:xfrm>
          <a:prstGeom prst="ellipse">
            <a:avLst/>
          </a:prstGeom>
          <a:solidFill>
            <a:srgbClr val="14D9E5"/>
          </a:solidFill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8215884" y="737647"/>
            <a:ext cx="164592" cy="6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Montserrat"/>
              <a:buNone/>
            </a:pPr>
            <a:endParaRPr sz="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8202168" y="1440180"/>
            <a:ext cx="192024" cy="192024"/>
          </a:xfrm>
          <a:prstGeom prst="ellipse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8215884" y="1492027"/>
            <a:ext cx="164592" cy="6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Montserrat"/>
              <a:buNone/>
            </a:pPr>
            <a:endParaRPr sz="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8202168" y="2194560"/>
            <a:ext cx="192024" cy="192024"/>
          </a:xfrm>
          <a:prstGeom prst="ellipse">
            <a:avLst/>
          </a:prstGeom>
          <a:solidFill>
            <a:srgbClr val="14D9E5"/>
          </a:solidFill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8215884" y="2246407"/>
            <a:ext cx="164592" cy="6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Montserrat"/>
              <a:buNone/>
            </a:pPr>
            <a:endParaRPr sz="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8202168" y="2948940"/>
            <a:ext cx="192024" cy="192024"/>
          </a:xfrm>
          <a:prstGeom prst="ellipse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8215884" y="3000787"/>
            <a:ext cx="164592" cy="6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Montserrat"/>
              <a:buNone/>
            </a:pPr>
            <a:endParaRPr sz="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8202168" y="3703320"/>
            <a:ext cx="192024" cy="192024"/>
          </a:xfrm>
          <a:prstGeom prst="ellipse">
            <a:avLst/>
          </a:prstGeom>
          <a:solidFill>
            <a:srgbClr val="14D9E5"/>
          </a:solidFill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8215884" y="3755167"/>
            <a:ext cx="164592" cy="6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Montserrat"/>
              <a:buNone/>
            </a:pPr>
            <a:endParaRPr sz="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1" name="Google Shape;81;p5"/>
          <p:cNvCxnSpPr/>
          <p:nvPr/>
        </p:nvCxnSpPr>
        <p:spPr>
          <a:xfrm>
            <a:off x="617220" y="4560570"/>
            <a:ext cx="2263140" cy="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2" name="Google Shape;82;p5"/>
          <p:cNvSpPr/>
          <p:nvPr/>
        </p:nvSpPr>
        <p:spPr>
          <a:xfrm>
            <a:off x="480060" y="480060"/>
            <a:ext cx="377190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D9E5"/>
              </a:buClr>
              <a:buSzPts val="600"/>
              <a:buFont typeface="Montserrat"/>
              <a:buNone/>
            </a:pPr>
            <a:r>
              <a:rPr lang="en" sz="600" b="1">
                <a:solidFill>
                  <a:srgbClr val="14D9E5"/>
                </a:solidFill>
                <a:latin typeface="Montserrat"/>
                <a:ea typeface="Montserrat"/>
                <a:cs typeface="Montserrat"/>
                <a:sym typeface="Montserrat"/>
              </a:rPr>
              <a:t>PHÁT TRIỂN HỆ THỐNG THÔNG MINH 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480060" y="1474470"/>
            <a:ext cx="5143500" cy="106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7FF"/>
              </a:buClr>
              <a:buSzPts val="3300"/>
              <a:buFont typeface="Montserrat"/>
              <a:buNone/>
            </a:pPr>
            <a:r>
              <a:rPr lang="en" sz="3300" b="1">
                <a:solidFill>
                  <a:srgbClr val="F2F7FF"/>
                </a:solidFill>
                <a:latin typeface="Montserrat"/>
                <a:ea typeface="Montserrat"/>
                <a:cs typeface="Montserrat"/>
                <a:sym typeface="Montserrat"/>
              </a:rPr>
              <a:t>Recurrent</a:t>
            </a:r>
            <a:endParaRPr sz="3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7FF"/>
              </a:buClr>
              <a:buSzPts val="3300"/>
              <a:buFont typeface="Montserrat"/>
              <a:buNone/>
            </a:pPr>
            <a:r>
              <a:rPr lang="en" sz="3300" b="1">
                <a:solidFill>
                  <a:srgbClr val="F2F7FF"/>
                </a:solidFill>
                <a:latin typeface="Montserrat"/>
                <a:ea typeface="Montserrat"/>
                <a:cs typeface="Montserrat"/>
                <a:sym typeface="Montserrat"/>
              </a:rPr>
              <a:t>Neural Network</a:t>
            </a:r>
            <a:endParaRPr sz="3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514350" y="2743200"/>
            <a:ext cx="521208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</a:pP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7104889" y="548640"/>
            <a:ext cx="102870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4D9E5"/>
              </a:buClr>
              <a:buSzPts val="900"/>
              <a:buFont typeface="Montserrat"/>
              <a:buNone/>
            </a:pPr>
            <a:r>
              <a:rPr lang="en" sz="900" b="1" dirty="0">
                <a:solidFill>
                  <a:srgbClr val="14D9E5"/>
                </a:solidFill>
                <a:latin typeface="Montserrat"/>
                <a:ea typeface="Montserrat"/>
                <a:cs typeface="Montserrat"/>
                <a:sym typeface="Montserrat"/>
              </a:rPr>
              <a:t>NHÓM 4</a:t>
            </a:r>
            <a:endParaRPr sz="9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7852410" y="4183380"/>
            <a:ext cx="7543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D9E5"/>
              </a:buClr>
              <a:buSzPts val="2300"/>
              <a:buFont typeface="Montserrat"/>
              <a:buNone/>
            </a:pPr>
            <a:endParaRPr sz="23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6"/>
          <p:cNvCxnSpPr/>
          <p:nvPr/>
        </p:nvCxnSpPr>
        <p:spPr>
          <a:xfrm>
            <a:off x="0" y="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3" name="Google Shape;93;p6"/>
          <p:cNvCxnSpPr/>
          <p:nvPr/>
        </p:nvCxnSpPr>
        <p:spPr>
          <a:xfrm>
            <a:off x="0" y="65151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4" name="Google Shape;94;p6"/>
          <p:cNvCxnSpPr/>
          <p:nvPr/>
        </p:nvCxnSpPr>
        <p:spPr>
          <a:xfrm>
            <a:off x="0" y="130302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5" name="Google Shape;95;p6"/>
          <p:cNvCxnSpPr/>
          <p:nvPr/>
        </p:nvCxnSpPr>
        <p:spPr>
          <a:xfrm>
            <a:off x="0" y="195453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6" name="Google Shape;96;p6"/>
          <p:cNvCxnSpPr/>
          <p:nvPr/>
        </p:nvCxnSpPr>
        <p:spPr>
          <a:xfrm>
            <a:off x="0" y="260604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7" name="Google Shape;97;p6"/>
          <p:cNvCxnSpPr/>
          <p:nvPr/>
        </p:nvCxnSpPr>
        <p:spPr>
          <a:xfrm>
            <a:off x="0" y="325755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8" name="Google Shape;98;p6"/>
          <p:cNvCxnSpPr/>
          <p:nvPr/>
        </p:nvCxnSpPr>
        <p:spPr>
          <a:xfrm>
            <a:off x="0" y="390906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9" name="Google Shape;99;p6"/>
          <p:cNvCxnSpPr/>
          <p:nvPr/>
        </p:nvCxnSpPr>
        <p:spPr>
          <a:xfrm>
            <a:off x="0" y="456057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0" name="Google Shape;100;p6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1" name="Google Shape;101;p6"/>
          <p:cNvCxnSpPr/>
          <p:nvPr/>
        </p:nvCxnSpPr>
        <p:spPr>
          <a:xfrm>
            <a:off x="7886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" name="Google Shape;102;p6"/>
          <p:cNvCxnSpPr/>
          <p:nvPr/>
        </p:nvCxnSpPr>
        <p:spPr>
          <a:xfrm>
            <a:off x="157734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3" name="Google Shape;103;p6"/>
          <p:cNvCxnSpPr/>
          <p:nvPr/>
        </p:nvCxnSpPr>
        <p:spPr>
          <a:xfrm>
            <a:off x="236601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4" name="Google Shape;104;p6"/>
          <p:cNvCxnSpPr/>
          <p:nvPr/>
        </p:nvCxnSpPr>
        <p:spPr>
          <a:xfrm>
            <a:off x="315468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5" name="Google Shape;105;p6"/>
          <p:cNvCxnSpPr/>
          <p:nvPr/>
        </p:nvCxnSpPr>
        <p:spPr>
          <a:xfrm>
            <a:off x="394335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6" name="Google Shape;106;p6"/>
          <p:cNvCxnSpPr/>
          <p:nvPr/>
        </p:nvCxnSpPr>
        <p:spPr>
          <a:xfrm>
            <a:off x="473202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7" name="Google Shape;107;p6"/>
          <p:cNvCxnSpPr/>
          <p:nvPr/>
        </p:nvCxnSpPr>
        <p:spPr>
          <a:xfrm>
            <a:off x="552069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8" name="Google Shape;108;p6"/>
          <p:cNvCxnSpPr/>
          <p:nvPr/>
        </p:nvCxnSpPr>
        <p:spPr>
          <a:xfrm>
            <a:off x="630936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9" name="Google Shape;109;p6"/>
          <p:cNvCxnSpPr/>
          <p:nvPr/>
        </p:nvCxnSpPr>
        <p:spPr>
          <a:xfrm>
            <a:off x="709803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0" name="Google Shape;110;p6"/>
          <p:cNvCxnSpPr/>
          <p:nvPr/>
        </p:nvCxnSpPr>
        <p:spPr>
          <a:xfrm>
            <a:off x="788670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1" name="Google Shape;111;p6"/>
          <p:cNvCxnSpPr/>
          <p:nvPr/>
        </p:nvCxnSpPr>
        <p:spPr>
          <a:xfrm>
            <a:off x="86753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2" name="Google Shape;112;p6"/>
          <p:cNvSpPr/>
          <p:nvPr/>
        </p:nvSpPr>
        <p:spPr>
          <a:xfrm>
            <a:off x="0" y="0"/>
            <a:ext cx="9143771" cy="246888"/>
          </a:xfrm>
          <a:prstGeom prst="rect">
            <a:avLst/>
          </a:prstGeom>
          <a:solidFill>
            <a:srgbClr val="04101F"/>
          </a:solidFill>
          <a:ln w="12700" cap="flat" cmpd="sng">
            <a:solidFill>
              <a:srgbClr val="0410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260604" y="68580"/>
            <a:ext cx="322326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RNN · PHÁT TRIỂN HỆ THỐNG THÔNG MINH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3531870" y="61722"/>
            <a:ext cx="3429000" cy="123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D9E5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14D9E5"/>
                </a:solidFill>
                <a:latin typeface="Montserrat"/>
                <a:ea typeface="Montserrat"/>
                <a:cs typeface="Montserrat"/>
                <a:sym typeface="Montserrat"/>
              </a:rPr>
              <a:t>MỞ ĐẦU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425196" y="493776"/>
            <a:ext cx="507492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7FF"/>
              </a:buClr>
              <a:buSzPts val="2000"/>
              <a:buFont typeface="Montserrat"/>
              <a:buNone/>
            </a:pPr>
            <a:r>
              <a:rPr lang="en" sz="2000" b="1">
                <a:solidFill>
                  <a:srgbClr val="F2F7FF"/>
                </a:solidFill>
                <a:latin typeface="Montserrat"/>
                <a:ea typeface="Montserrat"/>
                <a:cs typeface="Montserrat"/>
                <a:sym typeface="Montserrat"/>
              </a:rPr>
              <a:t>Thành viên nhóm 4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438912" y="850392"/>
            <a:ext cx="5486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700"/>
              <a:buFont typeface="Montserrat"/>
              <a:buNone/>
            </a:pPr>
            <a:r>
              <a:rPr lang="en" sz="700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Danh sách thành viên và phạm vi bài thuyết trình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630983" y="1625340"/>
            <a:ext cx="3463200" cy="720000"/>
          </a:xfrm>
          <a:prstGeom prst="roundRect">
            <a:avLst>
              <a:gd name="adj" fmla="val 7619"/>
            </a:avLst>
          </a:prstGeom>
          <a:solidFill>
            <a:srgbClr val="0A1D35"/>
          </a:solidFill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795574" y="1817364"/>
            <a:ext cx="342900" cy="342900"/>
          </a:xfrm>
          <a:prstGeom prst="ellipse">
            <a:avLst/>
          </a:prstGeom>
          <a:solidFill>
            <a:srgbClr val="14D9E5"/>
          </a:solidFill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809290" y="1909947"/>
            <a:ext cx="315600" cy="1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ontserrat"/>
              <a:buNone/>
            </a:pPr>
            <a:r>
              <a:rPr lang="en" sz="8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1248203" y="1837938"/>
            <a:ext cx="25374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7FF"/>
              </a:buClr>
              <a:buSzPts val="1100"/>
              <a:buFont typeface="Montserrat"/>
              <a:buNone/>
            </a:pPr>
            <a:r>
              <a:rPr lang="en" sz="1100" b="1">
                <a:solidFill>
                  <a:srgbClr val="F2F7FF"/>
                </a:solidFill>
                <a:latin typeface="Montserrat"/>
                <a:ea typeface="Montserrat"/>
                <a:cs typeface="Montserrat"/>
                <a:sym typeface="Montserrat"/>
              </a:rPr>
              <a:t>Mai Anh Tuấn Anh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4622249" y="1666647"/>
            <a:ext cx="3463200" cy="720000"/>
          </a:xfrm>
          <a:prstGeom prst="roundRect">
            <a:avLst>
              <a:gd name="adj" fmla="val 7619"/>
            </a:avLst>
          </a:prstGeom>
          <a:solidFill>
            <a:srgbClr val="0A1D35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4792714" y="1887382"/>
            <a:ext cx="342900" cy="342900"/>
          </a:xfrm>
          <a:prstGeom prst="ellipse">
            <a:avLst/>
          </a:prstGeom>
          <a:solidFill>
            <a:srgbClr val="A78BFA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4806430" y="1979965"/>
            <a:ext cx="315600" cy="1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ontserrat"/>
              <a:buNone/>
            </a:pPr>
            <a:r>
              <a:rPr lang="en" sz="8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5245342" y="1907956"/>
            <a:ext cx="25374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7FF"/>
              </a:buClr>
              <a:buSzPts val="1100"/>
              <a:buFont typeface="Montserrat"/>
              <a:buNone/>
            </a:pPr>
            <a:r>
              <a:rPr lang="en" sz="1100" b="1">
                <a:solidFill>
                  <a:srgbClr val="F2F7FF"/>
                </a:solidFill>
                <a:latin typeface="Montserrat"/>
                <a:ea typeface="Montserrat"/>
                <a:cs typeface="Montserrat"/>
                <a:sym typeface="Montserrat"/>
              </a:rPr>
              <a:t>Nguyễn Trọng Bảo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630983" y="2688330"/>
            <a:ext cx="3463200" cy="720000"/>
          </a:xfrm>
          <a:prstGeom prst="roundRect">
            <a:avLst>
              <a:gd name="adj" fmla="val 7619"/>
            </a:avLst>
          </a:prstGeom>
          <a:solidFill>
            <a:srgbClr val="0A1D35"/>
          </a:solidFill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795574" y="2880354"/>
            <a:ext cx="342900" cy="342900"/>
          </a:xfrm>
          <a:prstGeom prst="ellipse">
            <a:avLst/>
          </a:prstGeom>
          <a:solidFill>
            <a:srgbClr val="14D9E5"/>
          </a:solidFill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788678" y="2976312"/>
            <a:ext cx="315600" cy="1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ontserrat"/>
              <a:buNone/>
            </a:pPr>
            <a:r>
              <a:rPr lang="en" sz="8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1248203" y="2900928"/>
            <a:ext cx="25374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7FF"/>
              </a:buClr>
              <a:buSzPts val="1100"/>
              <a:buFont typeface="Montserrat"/>
              <a:buNone/>
            </a:pPr>
            <a:r>
              <a:rPr lang="en" sz="1100" b="1">
                <a:solidFill>
                  <a:srgbClr val="F2F7FF"/>
                </a:solidFill>
                <a:latin typeface="Montserrat"/>
                <a:ea typeface="Montserrat"/>
                <a:cs typeface="Montserrat"/>
                <a:sym typeface="Montserrat"/>
              </a:rPr>
              <a:t>Phạm Tùng Dương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4628122" y="2665786"/>
            <a:ext cx="3463200" cy="720000"/>
          </a:xfrm>
          <a:prstGeom prst="roundRect">
            <a:avLst>
              <a:gd name="adj" fmla="val 7619"/>
            </a:avLst>
          </a:prstGeom>
          <a:solidFill>
            <a:srgbClr val="0A1D35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4792714" y="2857810"/>
            <a:ext cx="342900" cy="342900"/>
          </a:xfrm>
          <a:prstGeom prst="ellipse">
            <a:avLst/>
          </a:prstGeom>
          <a:solidFill>
            <a:srgbClr val="A78BFA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4806430" y="2950393"/>
            <a:ext cx="315600" cy="1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ontserrat"/>
              <a:buNone/>
            </a:pPr>
            <a:r>
              <a:rPr lang="en" sz="8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5245342" y="2878384"/>
            <a:ext cx="25374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7FF"/>
              </a:buClr>
              <a:buSzPts val="1100"/>
              <a:buFont typeface="Montserrat"/>
              <a:buNone/>
            </a:pPr>
            <a:r>
              <a:rPr lang="en" sz="1100" b="1">
                <a:solidFill>
                  <a:srgbClr val="F2F7FF"/>
                </a:solidFill>
                <a:latin typeface="Montserrat"/>
                <a:ea typeface="Montserrat"/>
                <a:cs typeface="Montserrat"/>
                <a:sym typeface="Montserrat"/>
              </a:rPr>
              <a:t>Trần Hải Đăng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617220" y="4149053"/>
            <a:ext cx="76809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1000"/>
              <a:buFont typeface="Montserrat"/>
              <a:buNone/>
            </a:pPr>
            <a:endParaRPr lang="en-US"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"/>
          <p:cNvSpPr txBox="1"/>
          <p:nvPr/>
        </p:nvSpPr>
        <p:spPr>
          <a:xfrm>
            <a:off x="438912" y="305950"/>
            <a:ext cx="2030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F4F8FF"/>
                </a:solidFill>
                <a:latin typeface="Montserrat"/>
                <a:ea typeface="Montserrat"/>
                <a:cs typeface="Montserrat"/>
                <a:sym typeface="Montserrat"/>
              </a:rPr>
              <a:t>Nội dung</a:t>
            </a:r>
            <a:endParaRPr sz="2200" b="1">
              <a:solidFill>
                <a:srgbClr val="F4F8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438912" y="822960"/>
            <a:ext cx="816102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solidFill>
                  <a:srgbClr val="A9BDD3"/>
                </a:solidFill>
                <a:latin typeface="Montserrat"/>
                <a:ea typeface="Montserrat"/>
                <a:cs typeface="Montserrat"/>
                <a:sym typeface="Montserrat"/>
              </a:rPr>
              <a:t>8</a:t>
            </a:r>
            <a:r>
              <a:rPr lang="en" sz="800" b="0" dirty="0">
                <a:solidFill>
                  <a:srgbClr val="A9BDD3"/>
                </a:solidFill>
                <a:latin typeface="Montserrat"/>
                <a:ea typeface="Montserrat"/>
                <a:cs typeface="Montserrat"/>
                <a:sym typeface="Montserrat"/>
              </a:rPr>
              <a:t> phần nội dung chính được sắp theo mạch: từ dữ liệu tuần tự → kiến trúc RNN → huấn luyện → giới hạn → ứng dụng.</a:t>
            </a:r>
            <a:endParaRPr sz="1100" dirty="0"/>
          </a:p>
        </p:txBody>
      </p:sp>
      <p:sp>
        <p:nvSpPr>
          <p:cNvPr id="144" name="Google Shape;144;p7"/>
          <p:cNvSpPr/>
          <p:nvPr/>
        </p:nvSpPr>
        <p:spPr>
          <a:xfrm>
            <a:off x="534924" y="1179576"/>
            <a:ext cx="3806190" cy="630936"/>
          </a:xfrm>
          <a:prstGeom prst="roundRect">
            <a:avLst>
              <a:gd name="adj" fmla="val 16667"/>
            </a:avLst>
          </a:prstGeom>
          <a:solidFill>
            <a:srgbClr val="0A1D35"/>
          </a:solidFill>
          <a:ln w="16500" cap="flat" cmpd="sng">
            <a:solidFill>
              <a:srgbClr val="9B7C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658368" y="1303020"/>
            <a:ext cx="288036" cy="288036"/>
          </a:xfrm>
          <a:prstGeom prst="ellipse">
            <a:avLst/>
          </a:prstGeom>
          <a:solidFill>
            <a:srgbClr val="9B7CFF"/>
          </a:solidFill>
          <a:ln w="9525" cap="flat" cmpd="sng">
            <a:solidFill>
              <a:srgbClr val="9B7C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100"/>
          </a:p>
        </p:txBody>
      </p:sp>
      <p:sp>
        <p:nvSpPr>
          <p:cNvPr id="146" name="Google Shape;146;p7"/>
          <p:cNvSpPr txBox="1"/>
          <p:nvPr/>
        </p:nvSpPr>
        <p:spPr>
          <a:xfrm>
            <a:off x="1028700" y="1275588"/>
            <a:ext cx="632385" cy="155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9B7CFF"/>
                </a:solidFill>
                <a:latin typeface="Montserrat"/>
                <a:ea typeface="Montserrat"/>
                <a:cs typeface="Montserrat"/>
                <a:sym typeface="Montserrat"/>
              </a:rPr>
              <a:t>Nền tảng</a:t>
            </a:r>
            <a:endParaRPr sz="1000" b="1">
              <a:solidFill>
                <a:srgbClr val="9B7C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" name="Google Shape;147;p7"/>
          <p:cNvSpPr txBox="1"/>
          <p:nvPr/>
        </p:nvSpPr>
        <p:spPr>
          <a:xfrm>
            <a:off x="1028700" y="1474470"/>
            <a:ext cx="3188969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0">
                <a:solidFill>
                  <a:srgbClr val="B9C9DC"/>
                </a:solidFill>
                <a:latin typeface="Montserrat"/>
                <a:ea typeface="Montserrat"/>
                <a:cs typeface="Montserrat"/>
                <a:sym typeface="Montserrat"/>
              </a:rPr>
              <a:t>Sequential data và lý do mô hình cần hiểu thứ tự, ngữ cảnh.</a:t>
            </a:r>
            <a:endParaRPr sz="1100"/>
          </a:p>
        </p:txBody>
      </p:sp>
      <p:sp>
        <p:nvSpPr>
          <p:cNvPr id="148" name="Google Shape;148;p7"/>
          <p:cNvSpPr/>
          <p:nvPr/>
        </p:nvSpPr>
        <p:spPr>
          <a:xfrm>
            <a:off x="534924" y="1940814"/>
            <a:ext cx="3806190" cy="630936"/>
          </a:xfrm>
          <a:prstGeom prst="roundRect">
            <a:avLst>
              <a:gd name="adj" fmla="val 16667"/>
            </a:avLst>
          </a:prstGeom>
          <a:solidFill>
            <a:srgbClr val="0A1D35"/>
          </a:solidFill>
          <a:ln w="16500" cap="flat" cmpd="sng">
            <a:solidFill>
              <a:srgbClr val="00D8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658368" y="2064258"/>
            <a:ext cx="288036" cy="288036"/>
          </a:xfrm>
          <a:prstGeom prst="ellipse">
            <a:avLst/>
          </a:prstGeom>
          <a:solidFill>
            <a:srgbClr val="00D8FF"/>
          </a:solidFill>
          <a:ln w="9525" cap="flat" cmpd="sng">
            <a:solidFill>
              <a:srgbClr val="00D8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100"/>
          </a:p>
        </p:txBody>
      </p:sp>
      <p:sp>
        <p:nvSpPr>
          <p:cNvPr id="150" name="Google Shape;150;p7"/>
          <p:cNvSpPr txBox="1"/>
          <p:nvPr/>
        </p:nvSpPr>
        <p:spPr>
          <a:xfrm>
            <a:off x="1028700" y="2036826"/>
            <a:ext cx="965409" cy="155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D8FF"/>
                </a:solidFill>
                <a:latin typeface="Montserrat"/>
                <a:ea typeface="Montserrat"/>
                <a:cs typeface="Montserrat"/>
                <a:sym typeface="Montserrat"/>
              </a:rPr>
              <a:t>Kiến trúc RNN</a:t>
            </a:r>
            <a:endParaRPr sz="1100"/>
          </a:p>
        </p:txBody>
      </p:sp>
      <p:sp>
        <p:nvSpPr>
          <p:cNvPr id="151" name="Google Shape;151;p7"/>
          <p:cNvSpPr txBox="1"/>
          <p:nvPr/>
        </p:nvSpPr>
        <p:spPr>
          <a:xfrm>
            <a:off x="1028700" y="2235708"/>
            <a:ext cx="3188969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0">
                <a:solidFill>
                  <a:srgbClr val="B9C9DC"/>
                </a:solidFill>
                <a:latin typeface="Montserrat"/>
                <a:ea typeface="Montserrat"/>
                <a:cs typeface="Montserrat"/>
                <a:sym typeface="Montserrat"/>
              </a:rPr>
              <a:t>Hidden state mang thông tin từ bước trước sang bước sau.</a:t>
            </a:r>
            <a:endParaRPr sz="1100"/>
          </a:p>
        </p:txBody>
      </p:sp>
      <p:sp>
        <p:nvSpPr>
          <p:cNvPr id="152" name="Google Shape;152;p7"/>
          <p:cNvSpPr/>
          <p:nvPr/>
        </p:nvSpPr>
        <p:spPr>
          <a:xfrm>
            <a:off x="534924" y="2702052"/>
            <a:ext cx="3806190" cy="630936"/>
          </a:xfrm>
          <a:prstGeom prst="roundRect">
            <a:avLst>
              <a:gd name="adj" fmla="val 16667"/>
            </a:avLst>
          </a:prstGeom>
          <a:solidFill>
            <a:srgbClr val="0A1D35"/>
          </a:solidFill>
          <a:ln w="16500" cap="flat" cmpd="sng">
            <a:solidFill>
              <a:srgbClr val="35D6A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658368" y="2825496"/>
            <a:ext cx="288036" cy="288036"/>
          </a:xfrm>
          <a:prstGeom prst="ellipse">
            <a:avLst/>
          </a:prstGeom>
          <a:solidFill>
            <a:srgbClr val="35D6A4"/>
          </a:solidFill>
          <a:ln w="9525" cap="flat" cmpd="sng">
            <a:solidFill>
              <a:srgbClr val="35D6A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100"/>
          </a:p>
        </p:txBody>
      </p:sp>
      <p:sp>
        <p:nvSpPr>
          <p:cNvPr id="154" name="Google Shape;154;p7"/>
          <p:cNvSpPr txBox="1"/>
          <p:nvPr/>
        </p:nvSpPr>
        <p:spPr>
          <a:xfrm>
            <a:off x="1028700" y="2798064"/>
            <a:ext cx="1510029" cy="155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35D6A4"/>
                </a:solidFill>
                <a:latin typeface="Montserrat"/>
                <a:ea typeface="Montserrat"/>
                <a:cs typeface="Montserrat"/>
                <a:sym typeface="Montserrat"/>
              </a:rPr>
              <a:t>Công thức &amp; tính toán</a:t>
            </a:r>
            <a:endParaRPr sz="1000" b="1">
              <a:solidFill>
                <a:srgbClr val="35D6A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" name="Google Shape;155;p7"/>
          <p:cNvSpPr txBox="1"/>
          <p:nvPr/>
        </p:nvSpPr>
        <p:spPr>
          <a:xfrm>
            <a:off x="1028700" y="2996946"/>
            <a:ext cx="3188969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0">
                <a:solidFill>
                  <a:srgbClr val="B9C9DC"/>
                </a:solidFill>
                <a:latin typeface="Montserrat"/>
                <a:ea typeface="Montserrat"/>
                <a:cs typeface="Montserrat"/>
                <a:sym typeface="Montserrat"/>
              </a:rPr>
              <a:t>RNN Cell, x(t), h(t), y(t), tanh và weight sharing.</a:t>
            </a:r>
            <a:endParaRPr sz="1100"/>
          </a:p>
        </p:txBody>
      </p:sp>
      <p:sp>
        <p:nvSpPr>
          <p:cNvPr id="156" name="Google Shape;156;p7"/>
          <p:cNvSpPr/>
          <p:nvPr/>
        </p:nvSpPr>
        <p:spPr>
          <a:xfrm>
            <a:off x="534924" y="3463290"/>
            <a:ext cx="3806190" cy="630936"/>
          </a:xfrm>
          <a:prstGeom prst="roundRect">
            <a:avLst>
              <a:gd name="adj" fmla="val 16667"/>
            </a:avLst>
          </a:prstGeom>
          <a:solidFill>
            <a:srgbClr val="0A1D35"/>
          </a:solidFill>
          <a:ln w="16500" cap="flat" cmpd="sng">
            <a:solidFill>
              <a:srgbClr val="FFD21E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658368" y="3586734"/>
            <a:ext cx="288036" cy="288036"/>
          </a:xfrm>
          <a:prstGeom prst="ellipse">
            <a:avLst/>
          </a:prstGeom>
          <a:solidFill>
            <a:srgbClr val="FFD21E"/>
          </a:solidFill>
          <a:ln w="9525" cap="flat" cmpd="sng">
            <a:solidFill>
              <a:srgbClr val="FFD21E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sz="1100"/>
          </a:p>
        </p:txBody>
      </p:sp>
      <p:sp>
        <p:nvSpPr>
          <p:cNvPr id="158" name="Google Shape;158;p7"/>
          <p:cNvSpPr txBox="1"/>
          <p:nvPr/>
        </p:nvSpPr>
        <p:spPr>
          <a:xfrm>
            <a:off x="1028700" y="3559302"/>
            <a:ext cx="3188969" cy="150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FFD21E"/>
                </a:solidFill>
                <a:latin typeface="Montserrat"/>
                <a:ea typeface="Montserrat"/>
                <a:cs typeface="Montserrat"/>
                <a:sym typeface="Montserrat"/>
              </a:rPr>
              <a:t>Các dạng RNN</a:t>
            </a:r>
            <a:endParaRPr sz="1100"/>
          </a:p>
        </p:txBody>
      </p:sp>
      <p:sp>
        <p:nvSpPr>
          <p:cNvPr id="159" name="Google Shape;159;p7"/>
          <p:cNvSpPr txBox="1"/>
          <p:nvPr/>
        </p:nvSpPr>
        <p:spPr>
          <a:xfrm>
            <a:off x="1028700" y="3758184"/>
            <a:ext cx="3188969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0">
                <a:solidFill>
                  <a:srgbClr val="B9C9DC"/>
                </a:solidFill>
                <a:latin typeface="Montserrat"/>
                <a:ea typeface="Montserrat"/>
                <a:cs typeface="Montserrat"/>
                <a:sym typeface="Montserrat"/>
              </a:rPr>
              <a:t>One-to-Many, Many-to-One, Many-to-Many và ví dụ tương ứng.</a:t>
            </a:r>
            <a:endParaRPr sz="1100"/>
          </a:p>
        </p:txBody>
      </p:sp>
      <p:sp>
        <p:nvSpPr>
          <p:cNvPr id="160" name="Google Shape;160;p7"/>
          <p:cNvSpPr/>
          <p:nvPr/>
        </p:nvSpPr>
        <p:spPr>
          <a:xfrm>
            <a:off x="4736910" y="1167577"/>
            <a:ext cx="3806100" cy="630900"/>
          </a:xfrm>
          <a:prstGeom prst="roundRect">
            <a:avLst>
              <a:gd name="adj" fmla="val 16667"/>
            </a:avLst>
          </a:prstGeom>
          <a:solidFill>
            <a:srgbClr val="0A1D35"/>
          </a:solidFill>
          <a:ln w="16500" cap="flat" cmpd="sng">
            <a:solidFill>
              <a:srgbClr val="EF5DA8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4860354" y="1291022"/>
            <a:ext cx="288000" cy="288000"/>
          </a:xfrm>
          <a:prstGeom prst="ellipse">
            <a:avLst/>
          </a:prstGeom>
          <a:solidFill>
            <a:srgbClr val="EF5DA8"/>
          </a:solidFill>
          <a:ln w="9525" cap="flat" cmpd="sng">
            <a:solidFill>
              <a:srgbClr val="EF5DA8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sz="1100"/>
          </a:p>
        </p:txBody>
      </p:sp>
      <p:sp>
        <p:nvSpPr>
          <p:cNvPr id="162" name="Google Shape;162;p7"/>
          <p:cNvSpPr txBox="1"/>
          <p:nvPr/>
        </p:nvSpPr>
        <p:spPr>
          <a:xfrm>
            <a:off x="5230686" y="1263590"/>
            <a:ext cx="3189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EF5DA8"/>
                </a:solidFill>
                <a:latin typeface="Montserrat"/>
                <a:ea typeface="Montserrat"/>
                <a:cs typeface="Montserrat"/>
                <a:sym typeface="Montserrat"/>
              </a:rPr>
              <a:t>Huấn luyện</a:t>
            </a:r>
            <a:endParaRPr sz="1100"/>
          </a:p>
        </p:txBody>
      </p:sp>
      <p:sp>
        <p:nvSpPr>
          <p:cNvPr id="163" name="Google Shape;163;p7"/>
          <p:cNvSpPr txBox="1"/>
          <p:nvPr/>
        </p:nvSpPr>
        <p:spPr>
          <a:xfrm>
            <a:off x="5230686" y="1462472"/>
            <a:ext cx="31890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0">
                <a:solidFill>
                  <a:srgbClr val="B9C9DC"/>
                </a:solidFill>
                <a:latin typeface="Montserrat"/>
                <a:ea typeface="Montserrat"/>
                <a:cs typeface="Montserrat"/>
                <a:sym typeface="Montserrat"/>
              </a:rPr>
              <a:t>Forward through time, tính loss và Backpropagation Through Time.</a:t>
            </a:r>
            <a:endParaRPr sz="1100"/>
          </a:p>
        </p:txBody>
      </p:sp>
      <p:sp>
        <p:nvSpPr>
          <p:cNvPr id="164" name="Google Shape;164;p7"/>
          <p:cNvSpPr/>
          <p:nvPr/>
        </p:nvSpPr>
        <p:spPr>
          <a:xfrm>
            <a:off x="4736860" y="1954518"/>
            <a:ext cx="3806100" cy="630900"/>
          </a:xfrm>
          <a:prstGeom prst="roundRect">
            <a:avLst>
              <a:gd name="adj" fmla="val 16667"/>
            </a:avLst>
          </a:prstGeom>
          <a:solidFill>
            <a:srgbClr val="0A1D35"/>
          </a:solidFill>
          <a:ln w="16500" cap="flat" cmpd="sng">
            <a:solidFill>
              <a:srgbClr val="22C9C9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4860304" y="2077962"/>
            <a:ext cx="288000" cy="288000"/>
          </a:xfrm>
          <a:prstGeom prst="ellipse">
            <a:avLst/>
          </a:prstGeom>
          <a:solidFill>
            <a:srgbClr val="22C9C9"/>
          </a:solidFill>
          <a:ln w="9525" cap="flat" cmpd="sng">
            <a:solidFill>
              <a:srgbClr val="22C9C9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endParaRPr sz="1100"/>
          </a:p>
        </p:txBody>
      </p:sp>
      <p:sp>
        <p:nvSpPr>
          <p:cNvPr id="166" name="Google Shape;166;p7"/>
          <p:cNvSpPr txBox="1"/>
          <p:nvPr/>
        </p:nvSpPr>
        <p:spPr>
          <a:xfrm>
            <a:off x="5230636" y="2050530"/>
            <a:ext cx="3189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22C9C9"/>
                </a:solidFill>
                <a:latin typeface="Montserrat"/>
                <a:ea typeface="Montserrat"/>
                <a:cs typeface="Montserrat"/>
                <a:sym typeface="Montserrat"/>
              </a:rPr>
              <a:t>Giới hạn</a:t>
            </a:r>
            <a:endParaRPr sz="1100"/>
          </a:p>
        </p:txBody>
      </p:sp>
      <p:sp>
        <p:nvSpPr>
          <p:cNvPr id="167" name="Google Shape;167;p7"/>
          <p:cNvSpPr txBox="1"/>
          <p:nvPr/>
        </p:nvSpPr>
        <p:spPr>
          <a:xfrm>
            <a:off x="5230636" y="2249412"/>
            <a:ext cx="31890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0">
                <a:solidFill>
                  <a:srgbClr val="B9C9DC"/>
                </a:solidFill>
                <a:latin typeface="Montserrat"/>
                <a:ea typeface="Montserrat"/>
                <a:cs typeface="Montserrat"/>
                <a:sym typeface="Montserrat"/>
              </a:rPr>
              <a:t>Long-term dependency, vanishing gradient và exploding gradient.</a:t>
            </a:r>
            <a:endParaRPr sz="1100"/>
          </a:p>
        </p:txBody>
      </p:sp>
      <p:sp>
        <p:nvSpPr>
          <p:cNvPr id="168" name="Google Shape;168;p7"/>
          <p:cNvSpPr/>
          <p:nvPr/>
        </p:nvSpPr>
        <p:spPr>
          <a:xfrm>
            <a:off x="4736910" y="2741483"/>
            <a:ext cx="3806100" cy="630900"/>
          </a:xfrm>
          <a:prstGeom prst="roundRect">
            <a:avLst>
              <a:gd name="adj" fmla="val 16667"/>
            </a:avLst>
          </a:prstGeom>
          <a:solidFill>
            <a:srgbClr val="0A1D35"/>
          </a:solidFill>
          <a:ln w="1650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4860354" y="2864927"/>
            <a:ext cx="288000" cy="2880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  <a:endParaRPr sz="1100"/>
          </a:p>
        </p:txBody>
      </p:sp>
      <p:sp>
        <p:nvSpPr>
          <p:cNvPr id="170" name="Google Shape;170;p7"/>
          <p:cNvSpPr txBox="1"/>
          <p:nvPr/>
        </p:nvSpPr>
        <p:spPr>
          <a:xfrm>
            <a:off x="5230686" y="2837495"/>
            <a:ext cx="3189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LSTM và GRU</a:t>
            </a:r>
            <a:endParaRPr sz="1100">
              <a:solidFill>
                <a:schemeClr val="accent1"/>
              </a:solidFill>
            </a:endParaRPr>
          </a:p>
        </p:txBody>
      </p:sp>
      <p:sp>
        <p:nvSpPr>
          <p:cNvPr id="171" name="Google Shape;171;p7"/>
          <p:cNvSpPr txBox="1"/>
          <p:nvPr/>
        </p:nvSpPr>
        <p:spPr>
          <a:xfrm>
            <a:off x="5230686" y="3036377"/>
            <a:ext cx="31890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9C9DC"/>
                </a:solidFill>
                <a:latin typeface="Montserrat"/>
                <a:ea typeface="Montserrat"/>
                <a:cs typeface="Montserrat"/>
                <a:sym typeface="Montserrat"/>
              </a:rPr>
              <a:t>khắc phục nhược điểm của RNN</a:t>
            </a:r>
            <a:endParaRPr sz="1100"/>
          </a:p>
        </p:txBody>
      </p:sp>
      <p:sp>
        <p:nvSpPr>
          <p:cNvPr id="172" name="Google Shape;172;p7"/>
          <p:cNvSpPr/>
          <p:nvPr/>
        </p:nvSpPr>
        <p:spPr>
          <a:xfrm>
            <a:off x="4736860" y="3471807"/>
            <a:ext cx="3806100" cy="630900"/>
          </a:xfrm>
          <a:prstGeom prst="roundRect">
            <a:avLst>
              <a:gd name="adj" fmla="val 16667"/>
            </a:avLst>
          </a:prstGeom>
          <a:solidFill>
            <a:srgbClr val="0A1D35"/>
          </a:solidFill>
          <a:ln w="16500" cap="flat" cmpd="sng">
            <a:solidFill>
              <a:srgbClr val="7BE49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4860304" y="3595252"/>
            <a:ext cx="288000" cy="288000"/>
          </a:xfrm>
          <a:prstGeom prst="ellipse">
            <a:avLst/>
          </a:prstGeom>
          <a:solidFill>
            <a:srgbClr val="7BE495"/>
          </a:solidFill>
          <a:ln w="9525" cap="flat" cmpd="sng">
            <a:solidFill>
              <a:srgbClr val="7BE49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8</a:t>
            </a:r>
            <a:endParaRPr sz="1100"/>
          </a:p>
        </p:txBody>
      </p:sp>
      <p:sp>
        <p:nvSpPr>
          <p:cNvPr id="174" name="Google Shape;174;p7"/>
          <p:cNvSpPr txBox="1"/>
          <p:nvPr/>
        </p:nvSpPr>
        <p:spPr>
          <a:xfrm>
            <a:off x="5230636" y="3567820"/>
            <a:ext cx="3189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7BE495"/>
                </a:solidFill>
                <a:latin typeface="Montserrat"/>
                <a:ea typeface="Montserrat"/>
                <a:cs typeface="Montserrat"/>
                <a:sym typeface="Montserrat"/>
              </a:rPr>
              <a:t>Ứng dụng &amp; kết luận</a:t>
            </a:r>
            <a:endParaRPr sz="1100"/>
          </a:p>
        </p:txBody>
      </p:sp>
      <p:sp>
        <p:nvSpPr>
          <p:cNvPr id="175" name="Google Shape;175;p7"/>
          <p:cNvSpPr txBox="1"/>
          <p:nvPr/>
        </p:nvSpPr>
        <p:spPr>
          <a:xfrm>
            <a:off x="5230636" y="3766702"/>
            <a:ext cx="31890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0">
                <a:solidFill>
                  <a:srgbClr val="B9C9DC"/>
                </a:solidFill>
                <a:latin typeface="Montserrat"/>
                <a:ea typeface="Montserrat"/>
                <a:cs typeface="Montserrat"/>
                <a:sym typeface="Montserrat"/>
              </a:rPr>
              <a:t>RNN như nền tảng để hiểu học dữ liệu chuỗi.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1" name="Google Shape;181;p8"/>
          <p:cNvCxnSpPr/>
          <p:nvPr/>
        </p:nvCxnSpPr>
        <p:spPr>
          <a:xfrm>
            <a:off x="0" y="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2" name="Google Shape;182;p8"/>
          <p:cNvCxnSpPr/>
          <p:nvPr/>
        </p:nvCxnSpPr>
        <p:spPr>
          <a:xfrm>
            <a:off x="0" y="65151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3" name="Google Shape;183;p8"/>
          <p:cNvCxnSpPr/>
          <p:nvPr/>
        </p:nvCxnSpPr>
        <p:spPr>
          <a:xfrm>
            <a:off x="0" y="130302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4" name="Google Shape;184;p8"/>
          <p:cNvCxnSpPr/>
          <p:nvPr/>
        </p:nvCxnSpPr>
        <p:spPr>
          <a:xfrm>
            <a:off x="0" y="195453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5" name="Google Shape;185;p8"/>
          <p:cNvCxnSpPr/>
          <p:nvPr/>
        </p:nvCxnSpPr>
        <p:spPr>
          <a:xfrm>
            <a:off x="0" y="260604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6" name="Google Shape;186;p8"/>
          <p:cNvCxnSpPr/>
          <p:nvPr/>
        </p:nvCxnSpPr>
        <p:spPr>
          <a:xfrm>
            <a:off x="0" y="325755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7" name="Google Shape;187;p8"/>
          <p:cNvCxnSpPr/>
          <p:nvPr/>
        </p:nvCxnSpPr>
        <p:spPr>
          <a:xfrm>
            <a:off x="0" y="390906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8" name="Google Shape;188;p8"/>
          <p:cNvCxnSpPr/>
          <p:nvPr/>
        </p:nvCxnSpPr>
        <p:spPr>
          <a:xfrm>
            <a:off x="0" y="456057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9" name="Google Shape;189;p8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0" name="Google Shape;190;p8"/>
          <p:cNvCxnSpPr/>
          <p:nvPr/>
        </p:nvCxnSpPr>
        <p:spPr>
          <a:xfrm>
            <a:off x="7886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1" name="Google Shape;191;p8"/>
          <p:cNvCxnSpPr/>
          <p:nvPr/>
        </p:nvCxnSpPr>
        <p:spPr>
          <a:xfrm>
            <a:off x="157734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2" name="Google Shape;192;p8"/>
          <p:cNvCxnSpPr/>
          <p:nvPr/>
        </p:nvCxnSpPr>
        <p:spPr>
          <a:xfrm>
            <a:off x="236601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3" name="Google Shape;193;p8"/>
          <p:cNvCxnSpPr/>
          <p:nvPr/>
        </p:nvCxnSpPr>
        <p:spPr>
          <a:xfrm>
            <a:off x="315468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4" name="Google Shape;194;p8"/>
          <p:cNvCxnSpPr/>
          <p:nvPr/>
        </p:nvCxnSpPr>
        <p:spPr>
          <a:xfrm>
            <a:off x="394335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5" name="Google Shape;195;p8"/>
          <p:cNvCxnSpPr/>
          <p:nvPr/>
        </p:nvCxnSpPr>
        <p:spPr>
          <a:xfrm>
            <a:off x="473202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6" name="Google Shape;196;p8"/>
          <p:cNvCxnSpPr/>
          <p:nvPr/>
        </p:nvCxnSpPr>
        <p:spPr>
          <a:xfrm>
            <a:off x="552069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7" name="Google Shape;197;p8"/>
          <p:cNvCxnSpPr/>
          <p:nvPr/>
        </p:nvCxnSpPr>
        <p:spPr>
          <a:xfrm>
            <a:off x="630936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8" name="Google Shape;198;p8"/>
          <p:cNvCxnSpPr/>
          <p:nvPr/>
        </p:nvCxnSpPr>
        <p:spPr>
          <a:xfrm>
            <a:off x="709803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9" name="Google Shape;199;p8"/>
          <p:cNvCxnSpPr/>
          <p:nvPr/>
        </p:nvCxnSpPr>
        <p:spPr>
          <a:xfrm>
            <a:off x="788670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0" name="Google Shape;200;p8"/>
          <p:cNvCxnSpPr/>
          <p:nvPr/>
        </p:nvCxnSpPr>
        <p:spPr>
          <a:xfrm>
            <a:off x="86753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1" name="Google Shape;201;p8"/>
          <p:cNvSpPr/>
          <p:nvPr/>
        </p:nvSpPr>
        <p:spPr>
          <a:xfrm>
            <a:off x="0" y="0"/>
            <a:ext cx="9143771" cy="246888"/>
          </a:xfrm>
          <a:prstGeom prst="rect">
            <a:avLst/>
          </a:prstGeom>
          <a:solidFill>
            <a:srgbClr val="04101F"/>
          </a:solidFill>
          <a:ln w="12700" cap="flat" cmpd="sng">
            <a:solidFill>
              <a:srgbClr val="0410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260604" y="68580"/>
            <a:ext cx="322326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RNN · PHÁT TRIỂN HỆ THỐNG THÔNG MINH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3531870" y="61722"/>
            <a:ext cx="3429000" cy="123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D9E5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14D9E5"/>
                </a:solidFill>
                <a:latin typeface="Montserrat"/>
                <a:ea typeface="Montserrat"/>
                <a:cs typeface="Montserrat"/>
                <a:sym typeface="Montserrat"/>
              </a:rPr>
              <a:t>PHẦN 1 · NỀN TẢNG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425196" y="493776"/>
            <a:ext cx="507492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7FF"/>
              </a:buClr>
              <a:buSzPts val="2000"/>
              <a:buFont typeface="Montserrat"/>
              <a:buNone/>
            </a:pPr>
            <a:r>
              <a:rPr lang="en" sz="2000" b="1">
                <a:solidFill>
                  <a:srgbClr val="F2F7FF"/>
                </a:solidFill>
                <a:latin typeface="Montserrat"/>
                <a:ea typeface="Montserrat"/>
                <a:cs typeface="Montserrat"/>
                <a:sym typeface="Montserrat"/>
              </a:rPr>
              <a:t>Dữ liệu tuần tự là gì?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438912" y="850392"/>
            <a:ext cx="5486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700"/>
              <a:buFont typeface="Montserrat"/>
              <a:buNone/>
            </a:pPr>
            <a:r>
              <a:rPr lang="en" sz="700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Các phần tử có thứ tự theo thời gian hoặc vị trí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514350" y="1474470"/>
            <a:ext cx="1885950" cy="1954530"/>
          </a:xfrm>
          <a:prstGeom prst="roundRect">
            <a:avLst>
              <a:gd name="adj" fmla="val 2909"/>
            </a:avLst>
          </a:prstGeom>
          <a:solidFill>
            <a:srgbClr val="0A1D35"/>
          </a:solidFill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637794" y="1632204"/>
            <a:ext cx="150876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D9E5"/>
              </a:buClr>
              <a:buSzPts val="1000"/>
              <a:buFont typeface="Montserrat"/>
              <a:buNone/>
            </a:pPr>
            <a:r>
              <a:rPr lang="en" sz="1000" b="1">
                <a:solidFill>
                  <a:srgbClr val="14D9E5"/>
                </a:solidFill>
                <a:latin typeface="Montserrat"/>
                <a:ea typeface="Montserrat"/>
                <a:cs typeface="Montserrat"/>
                <a:sym typeface="Montserrat"/>
              </a:rPr>
              <a:t>Văn bản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665226" y="2160270"/>
            <a:ext cx="154305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7FF"/>
              </a:buClr>
              <a:buSzPts val="1100"/>
              <a:buFont typeface="Montserrat"/>
              <a:buNone/>
            </a:pPr>
            <a:r>
              <a:rPr lang="en" sz="1100" b="1">
                <a:solidFill>
                  <a:srgbClr val="F2F7FF"/>
                </a:solidFill>
                <a:latin typeface="Montserrat"/>
                <a:ea typeface="Montserrat"/>
                <a:cs typeface="Montserrat"/>
                <a:sym typeface="Montserrat"/>
              </a:rPr>
              <a:t>Tôi / thích / RNN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2640330" y="1474470"/>
            <a:ext cx="1885950" cy="1954530"/>
          </a:xfrm>
          <a:prstGeom prst="roundRect">
            <a:avLst>
              <a:gd name="adj" fmla="val 2909"/>
            </a:avLst>
          </a:prstGeom>
          <a:solidFill>
            <a:srgbClr val="0A1D35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2763774" y="1632204"/>
            <a:ext cx="150876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000"/>
              <a:buFont typeface="Montserrat"/>
              <a:buNone/>
            </a:pPr>
            <a:r>
              <a:rPr lang="en" sz="1000" b="1">
                <a:solidFill>
                  <a:srgbClr val="A78BFA"/>
                </a:solidFill>
                <a:latin typeface="Montserrat"/>
                <a:ea typeface="Montserrat"/>
                <a:cs typeface="Montserrat"/>
                <a:sym typeface="Montserrat"/>
              </a:rPr>
              <a:t>Âm thanh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2791206" y="2160270"/>
            <a:ext cx="154305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7FF"/>
              </a:buClr>
              <a:buSzPts val="1100"/>
              <a:buFont typeface="Montserrat"/>
              <a:buNone/>
            </a:pPr>
            <a:r>
              <a:rPr lang="en" sz="1100" b="1">
                <a:solidFill>
                  <a:srgbClr val="F2F7FF"/>
                </a:solidFill>
                <a:latin typeface="Montserrat"/>
                <a:ea typeface="Montserrat"/>
                <a:cs typeface="Montserrat"/>
                <a:sym typeface="Montserrat"/>
              </a:rPr>
              <a:t>waveform theo thời gian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4766310" y="1474470"/>
            <a:ext cx="1885950" cy="1954530"/>
          </a:xfrm>
          <a:prstGeom prst="roundRect">
            <a:avLst>
              <a:gd name="adj" fmla="val 2909"/>
            </a:avLst>
          </a:prstGeom>
          <a:solidFill>
            <a:srgbClr val="0A1D35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4889754" y="1632204"/>
            <a:ext cx="150876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000"/>
              <a:buFont typeface="Montserrat"/>
              <a:buNone/>
            </a:pPr>
            <a:r>
              <a:rPr lang="en" sz="1000" b="1">
                <a:solidFill>
                  <a:srgbClr val="34D399"/>
                </a:solidFill>
                <a:latin typeface="Montserrat"/>
                <a:ea typeface="Montserrat"/>
                <a:cs typeface="Montserrat"/>
                <a:sym typeface="Montserrat"/>
              </a:rPr>
              <a:t>Time series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4917186" y="1954530"/>
            <a:ext cx="1577340" cy="960120"/>
          </a:xfrm>
          <a:prstGeom prst="roundRect">
            <a:avLst>
              <a:gd name="adj" fmla="val 5714"/>
            </a:avLst>
          </a:prstGeom>
          <a:solidFill>
            <a:srgbClr val="091B31"/>
          </a:solidFill>
          <a:ln w="12700" cap="flat" cmpd="sng">
            <a:solidFill>
              <a:srgbClr val="173A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15" name="Google Shape;215;p8"/>
          <p:cNvCxnSpPr/>
          <p:nvPr/>
        </p:nvCxnSpPr>
        <p:spPr>
          <a:xfrm>
            <a:off x="5020056" y="2194560"/>
            <a:ext cx="1371600" cy="0"/>
          </a:xfrm>
          <a:prstGeom prst="straightConnector1">
            <a:avLst/>
          </a:prstGeom>
          <a:noFill/>
          <a:ln w="12700" cap="flat" cmpd="sng">
            <a:solidFill>
              <a:srgbClr val="24466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6" name="Google Shape;216;p8"/>
          <p:cNvCxnSpPr/>
          <p:nvPr/>
        </p:nvCxnSpPr>
        <p:spPr>
          <a:xfrm>
            <a:off x="5020056" y="2434590"/>
            <a:ext cx="1371600" cy="0"/>
          </a:xfrm>
          <a:prstGeom prst="straightConnector1">
            <a:avLst/>
          </a:prstGeom>
          <a:noFill/>
          <a:ln w="12700" cap="flat" cmpd="sng">
            <a:solidFill>
              <a:srgbClr val="24466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7" name="Google Shape;217;p8"/>
          <p:cNvCxnSpPr/>
          <p:nvPr/>
        </p:nvCxnSpPr>
        <p:spPr>
          <a:xfrm>
            <a:off x="5020056" y="2674620"/>
            <a:ext cx="1371600" cy="0"/>
          </a:xfrm>
          <a:prstGeom prst="straightConnector1">
            <a:avLst/>
          </a:prstGeom>
          <a:noFill/>
          <a:ln w="12700" cap="flat" cmpd="sng">
            <a:solidFill>
              <a:srgbClr val="24466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8" name="Google Shape;218;p8"/>
          <p:cNvCxnSpPr/>
          <p:nvPr/>
        </p:nvCxnSpPr>
        <p:spPr>
          <a:xfrm>
            <a:off x="5043374" y="2588210"/>
            <a:ext cx="157734" cy="0"/>
          </a:xfrm>
          <a:prstGeom prst="straightConnector1">
            <a:avLst/>
          </a:prstGeom>
          <a:noFill/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9" name="Google Shape;219;p8"/>
          <p:cNvCxnSpPr/>
          <p:nvPr/>
        </p:nvCxnSpPr>
        <p:spPr>
          <a:xfrm>
            <a:off x="5201108" y="2367382"/>
            <a:ext cx="157734" cy="0"/>
          </a:xfrm>
          <a:prstGeom prst="straightConnector1">
            <a:avLst/>
          </a:prstGeom>
          <a:noFill/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0" name="Google Shape;220;p8"/>
          <p:cNvCxnSpPr/>
          <p:nvPr/>
        </p:nvCxnSpPr>
        <p:spPr>
          <a:xfrm>
            <a:off x="5358842" y="2261768"/>
            <a:ext cx="157734" cy="115214"/>
          </a:xfrm>
          <a:prstGeom prst="straightConnector1">
            <a:avLst/>
          </a:prstGeom>
          <a:noFill/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1" name="Google Shape;221;p8"/>
          <p:cNvCxnSpPr/>
          <p:nvPr/>
        </p:nvCxnSpPr>
        <p:spPr>
          <a:xfrm>
            <a:off x="5516575" y="2376982"/>
            <a:ext cx="189281" cy="364846"/>
          </a:xfrm>
          <a:prstGeom prst="straightConnector1">
            <a:avLst/>
          </a:prstGeom>
          <a:noFill/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2" name="Google Shape;222;p8"/>
          <p:cNvCxnSpPr/>
          <p:nvPr/>
        </p:nvCxnSpPr>
        <p:spPr>
          <a:xfrm>
            <a:off x="5705856" y="2741828"/>
            <a:ext cx="189281" cy="0"/>
          </a:xfrm>
          <a:prstGeom prst="straightConnector1">
            <a:avLst/>
          </a:prstGeom>
          <a:noFill/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3" name="Google Shape;223;p8"/>
          <p:cNvCxnSpPr/>
          <p:nvPr/>
        </p:nvCxnSpPr>
        <p:spPr>
          <a:xfrm>
            <a:off x="5895137" y="2645816"/>
            <a:ext cx="157734" cy="0"/>
          </a:xfrm>
          <a:prstGeom prst="straightConnector1">
            <a:avLst/>
          </a:prstGeom>
          <a:noFill/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4" name="Google Shape;224;p8"/>
          <p:cNvCxnSpPr/>
          <p:nvPr/>
        </p:nvCxnSpPr>
        <p:spPr>
          <a:xfrm>
            <a:off x="6052871" y="2405786"/>
            <a:ext cx="157734" cy="0"/>
          </a:xfrm>
          <a:prstGeom prst="straightConnector1">
            <a:avLst/>
          </a:prstGeom>
          <a:noFill/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5" name="Google Shape;225;p8"/>
          <p:cNvCxnSpPr/>
          <p:nvPr/>
        </p:nvCxnSpPr>
        <p:spPr>
          <a:xfrm>
            <a:off x="6210605" y="2194560"/>
            <a:ext cx="189281" cy="288036"/>
          </a:xfrm>
          <a:prstGeom prst="straightConnector1">
            <a:avLst/>
          </a:prstGeom>
          <a:noFill/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6" name="Google Shape;226;p8"/>
          <p:cNvSpPr/>
          <p:nvPr/>
        </p:nvSpPr>
        <p:spPr>
          <a:xfrm>
            <a:off x="5019371" y="2564206"/>
            <a:ext cx="48006" cy="48006"/>
          </a:xfrm>
          <a:prstGeom prst="ellipse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5033087" y="2577168"/>
            <a:ext cx="20574" cy="16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Montserrat"/>
              <a:buNone/>
            </a:pPr>
            <a:endParaRPr sz="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5177105" y="2343379"/>
            <a:ext cx="48006" cy="48006"/>
          </a:xfrm>
          <a:prstGeom prst="ellipse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5190821" y="2356340"/>
            <a:ext cx="20574" cy="16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Montserrat"/>
              <a:buNone/>
            </a:pPr>
            <a:endParaRPr sz="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5334838" y="2237765"/>
            <a:ext cx="48006" cy="48006"/>
          </a:xfrm>
          <a:prstGeom prst="ellipse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5348555" y="2250727"/>
            <a:ext cx="20574" cy="16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Montserrat"/>
              <a:buNone/>
            </a:pPr>
            <a:endParaRPr sz="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5492573" y="2352980"/>
            <a:ext cx="48006" cy="48006"/>
          </a:xfrm>
          <a:prstGeom prst="ellipse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5506288" y="2365942"/>
            <a:ext cx="20574" cy="16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Montserrat"/>
              <a:buNone/>
            </a:pPr>
            <a:endParaRPr sz="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5681853" y="2717825"/>
            <a:ext cx="48006" cy="48006"/>
          </a:xfrm>
          <a:prstGeom prst="ellipse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5695569" y="2730787"/>
            <a:ext cx="20574" cy="16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Montserrat"/>
              <a:buNone/>
            </a:pPr>
            <a:endParaRPr sz="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5871134" y="2621813"/>
            <a:ext cx="48006" cy="48006"/>
          </a:xfrm>
          <a:prstGeom prst="ellipse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5884850" y="2634775"/>
            <a:ext cx="20574" cy="16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Montserrat"/>
              <a:buNone/>
            </a:pPr>
            <a:endParaRPr sz="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6028867" y="2381783"/>
            <a:ext cx="48006" cy="48006"/>
          </a:xfrm>
          <a:prstGeom prst="ellipse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6042584" y="2394745"/>
            <a:ext cx="20574" cy="16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Montserrat"/>
              <a:buNone/>
            </a:pPr>
            <a:endParaRPr sz="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6186602" y="2170557"/>
            <a:ext cx="48006" cy="48006"/>
          </a:xfrm>
          <a:prstGeom prst="ellipse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6200318" y="2183519"/>
            <a:ext cx="20574" cy="16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Montserrat"/>
              <a:buNone/>
            </a:pPr>
            <a:endParaRPr sz="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6375883" y="2458593"/>
            <a:ext cx="48006" cy="48006"/>
          </a:xfrm>
          <a:prstGeom prst="ellipse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6389599" y="2471555"/>
            <a:ext cx="20574" cy="16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Montserrat"/>
              <a:buNone/>
            </a:pPr>
            <a:endParaRPr sz="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6892290" y="1474470"/>
            <a:ext cx="1885950" cy="1954530"/>
          </a:xfrm>
          <a:prstGeom prst="roundRect">
            <a:avLst>
              <a:gd name="adj" fmla="val 2909"/>
            </a:avLst>
          </a:prstGeom>
          <a:solidFill>
            <a:srgbClr val="0A1D35"/>
          </a:solidFill>
          <a:ln w="12700" cap="flat" cmpd="sng">
            <a:solidFill>
              <a:srgbClr val="FACC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7015734" y="1632204"/>
            <a:ext cx="150876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ACC15"/>
              </a:buClr>
              <a:buSzPts val="1000"/>
              <a:buFont typeface="Montserrat"/>
              <a:buNone/>
            </a:pPr>
            <a:r>
              <a:rPr lang="en" sz="1000" b="1">
                <a:solidFill>
                  <a:srgbClr val="FACC15"/>
                </a:solidFill>
                <a:latin typeface="Montserrat"/>
                <a:ea typeface="Montserrat"/>
                <a:cs typeface="Montserrat"/>
                <a:sym typeface="Montserrat"/>
              </a:rPr>
              <a:t>Cảm biến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7043166" y="2160270"/>
            <a:ext cx="154305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7FF"/>
              </a:buClr>
              <a:buSzPts val="1100"/>
              <a:buFont typeface="Montserrat"/>
              <a:buNone/>
            </a:pPr>
            <a:r>
              <a:rPr lang="en" sz="1100" b="1">
                <a:solidFill>
                  <a:srgbClr val="F2F7FF"/>
                </a:solidFill>
                <a:latin typeface="Montserrat"/>
                <a:ea typeface="Montserrat"/>
                <a:cs typeface="Montserrat"/>
                <a:sym typeface="Montserrat"/>
              </a:rPr>
              <a:t>chuỗi event/log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617220" y="387477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D9E5"/>
              </a:buClr>
              <a:buSzPts val="1200"/>
              <a:buFont typeface="Montserrat"/>
              <a:buNone/>
            </a:pPr>
            <a:r>
              <a:rPr lang="en" sz="1200" b="1">
                <a:solidFill>
                  <a:srgbClr val="14D9E5"/>
                </a:solidFill>
                <a:latin typeface="Montserrat"/>
                <a:ea typeface="Montserrat"/>
                <a:cs typeface="Montserrat"/>
                <a:sym typeface="Montserrat"/>
              </a:rPr>
              <a:t>Điểm cốt lõi: thứ tự mang thông tin. Mô hình cần hiểu phần tử hiện tại trong ngữ cảnh trước đó.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3" name="Google Shape;253;p9"/>
          <p:cNvCxnSpPr/>
          <p:nvPr/>
        </p:nvCxnSpPr>
        <p:spPr>
          <a:xfrm>
            <a:off x="0" y="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4" name="Google Shape;254;p9"/>
          <p:cNvCxnSpPr/>
          <p:nvPr/>
        </p:nvCxnSpPr>
        <p:spPr>
          <a:xfrm>
            <a:off x="0" y="65151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5" name="Google Shape;255;p9"/>
          <p:cNvCxnSpPr/>
          <p:nvPr/>
        </p:nvCxnSpPr>
        <p:spPr>
          <a:xfrm>
            <a:off x="0" y="130302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6" name="Google Shape;256;p9"/>
          <p:cNvCxnSpPr/>
          <p:nvPr/>
        </p:nvCxnSpPr>
        <p:spPr>
          <a:xfrm>
            <a:off x="0" y="195453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7" name="Google Shape;257;p9"/>
          <p:cNvCxnSpPr/>
          <p:nvPr/>
        </p:nvCxnSpPr>
        <p:spPr>
          <a:xfrm>
            <a:off x="0" y="260604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8" name="Google Shape;258;p9"/>
          <p:cNvCxnSpPr/>
          <p:nvPr/>
        </p:nvCxnSpPr>
        <p:spPr>
          <a:xfrm>
            <a:off x="0" y="325755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9" name="Google Shape;259;p9"/>
          <p:cNvCxnSpPr/>
          <p:nvPr/>
        </p:nvCxnSpPr>
        <p:spPr>
          <a:xfrm>
            <a:off x="0" y="390906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0" name="Google Shape;260;p9"/>
          <p:cNvCxnSpPr/>
          <p:nvPr/>
        </p:nvCxnSpPr>
        <p:spPr>
          <a:xfrm>
            <a:off x="0" y="456057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1" name="Google Shape;261;p9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2" name="Google Shape;262;p9"/>
          <p:cNvCxnSpPr/>
          <p:nvPr/>
        </p:nvCxnSpPr>
        <p:spPr>
          <a:xfrm>
            <a:off x="7886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3" name="Google Shape;263;p9"/>
          <p:cNvCxnSpPr/>
          <p:nvPr/>
        </p:nvCxnSpPr>
        <p:spPr>
          <a:xfrm>
            <a:off x="157734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4" name="Google Shape;264;p9"/>
          <p:cNvCxnSpPr/>
          <p:nvPr/>
        </p:nvCxnSpPr>
        <p:spPr>
          <a:xfrm>
            <a:off x="236601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5" name="Google Shape;265;p9"/>
          <p:cNvCxnSpPr/>
          <p:nvPr/>
        </p:nvCxnSpPr>
        <p:spPr>
          <a:xfrm>
            <a:off x="315468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6" name="Google Shape;266;p9"/>
          <p:cNvCxnSpPr/>
          <p:nvPr/>
        </p:nvCxnSpPr>
        <p:spPr>
          <a:xfrm>
            <a:off x="394335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7" name="Google Shape;267;p9"/>
          <p:cNvCxnSpPr/>
          <p:nvPr/>
        </p:nvCxnSpPr>
        <p:spPr>
          <a:xfrm>
            <a:off x="473202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8" name="Google Shape;268;p9"/>
          <p:cNvCxnSpPr/>
          <p:nvPr/>
        </p:nvCxnSpPr>
        <p:spPr>
          <a:xfrm>
            <a:off x="552069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9" name="Google Shape;269;p9"/>
          <p:cNvCxnSpPr/>
          <p:nvPr/>
        </p:nvCxnSpPr>
        <p:spPr>
          <a:xfrm>
            <a:off x="630936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0" name="Google Shape;270;p9"/>
          <p:cNvCxnSpPr/>
          <p:nvPr/>
        </p:nvCxnSpPr>
        <p:spPr>
          <a:xfrm>
            <a:off x="709803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1" name="Google Shape;271;p9"/>
          <p:cNvCxnSpPr/>
          <p:nvPr/>
        </p:nvCxnSpPr>
        <p:spPr>
          <a:xfrm>
            <a:off x="788670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2" name="Google Shape;272;p9"/>
          <p:cNvCxnSpPr/>
          <p:nvPr/>
        </p:nvCxnSpPr>
        <p:spPr>
          <a:xfrm>
            <a:off x="86753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3" name="Google Shape;273;p9"/>
          <p:cNvSpPr/>
          <p:nvPr/>
        </p:nvSpPr>
        <p:spPr>
          <a:xfrm>
            <a:off x="0" y="0"/>
            <a:ext cx="9143771" cy="246888"/>
          </a:xfrm>
          <a:prstGeom prst="rect">
            <a:avLst/>
          </a:prstGeom>
          <a:solidFill>
            <a:srgbClr val="04101F"/>
          </a:solidFill>
          <a:ln w="12700" cap="flat" cmpd="sng">
            <a:solidFill>
              <a:srgbClr val="0410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260604" y="68580"/>
            <a:ext cx="322326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RNN · PHÁT TRIỂN HỆ THỐNG THÔNG MINH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3531870" y="61722"/>
            <a:ext cx="3429000" cy="123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D9E5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14D9E5"/>
                </a:solidFill>
                <a:latin typeface="Montserrat"/>
                <a:ea typeface="Montserrat"/>
                <a:cs typeface="Montserrat"/>
                <a:sym typeface="Montserrat"/>
              </a:rPr>
              <a:t>PHẦN 1 · NỀN TẢNG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425196" y="493776"/>
            <a:ext cx="507492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7FF"/>
              </a:buClr>
              <a:buSzPts val="2000"/>
              <a:buFont typeface="Montserrat"/>
              <a:buNone/>
            </a:pPr>
            <a:r>
              <a:rPr lang="en" sz="2000" b="1">
                <a:solidFill>
                  <a:srgbClr val="F2F7FF"/>
                </a:solidFill>
                <a:latin typeface="Montserrat"/>
                <a:ea typeface="Montserrat"/>
                <a:cs typeface="Montserrat"/>
                <a:sym typeface="Montserrat"/>
              </a:rPr>
              <a:t>Thứ tự làm thay đổi ý nghĩa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438912" y="850392"/>
            <a:ext cx="5486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700"/>
              <a:buFont typeface="Montserrat"/>
              <a:buNone/>
            </a:pPr>
            <a:r>
              <a:rPr lang="en" sz="700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Cùng tập từ nhưng khác thứ tự có thể tạo ý nghĩa hoàn toàn khác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617220" y="1405890"/>
            <a:ext cx="3703320" cy="1508760"/>
          </a:xfrm>
          <a:prstGeom prst="roundRect">
            <a:avLst>
              <a:gd name="adj" fmla="val 3636"/>
            </a:avLst>
          </a:prstGeom>
          <a:solidFill>
            <a:srgbClr val="0A1D35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809244" y="1817370"/>
            <a:ext cx="32918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7FF"/>
              </a:buClr>
              <a:buSzPts val="2100"/>
              <a:buFont typeface="Montserrat"/>
              <a:buNone/>
            </a:pPr>
            <a:r>
              <a:rPr lang="en" sz="2100" b="1">
                <a:solidFill>
                  <a:srgbClr val="F2F7FF"/>
                </a:solidFill>
                <a:latin typeface="Montserrat"/>
                <a:ea typeface="Montserrat"/>
                <a:cs typeface="Montserrat"/>
                <a:sym typeface="Montserrat"/>
              </a:rPr>
              <a:t>“Con chó cắn người”</a:t>
            </a:r>
            <a:endParaRPr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1371600" y="2386584"/>
            <a:ext cx="205740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800"/>
              <a:buFont typeface="Montserrat"/>
              <a:buNone/>
            </a:pPr>
            <a:r>
              <a:rPr lang="en" sz="800">
                <a:solidFill>
                  <a:srgbClr val="34D399"/>
                </a:solidFill>
                <a:latin typeface="Montserrat"/>
                <a:ea typeface="Montserrat"/>
                <a:cs typeface="Montserrat"/>
                <a:sym typeface="Montserrat"/>
              </a:rPr>
              <a:t>ngữ nghĩa thường gặp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4800600" y="1405890"/>
            <a:ext cx="3703320" cy="1508760"/>
          </a:xfrm>
          <a:prstGeom prst="roundRect">
            <a:avLst>
              <a:gd name="adj" fmla="val 3636"/>
            </a:avLst>
          </a:prstGeom>
          <a:solidFill>
            <a:srgbClr val="0A1D35"/>
          </a:solidFill>
          <a:ln w="12700" cap="flat" cmpd="sng">
            <a:solidFill>
              <a:srgbClr val="FB718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4992624" y="1817370"/>
            <a:ext cx="32918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7FF"/>
              </a:buClr>
              <a:buSzPts val="2100"/>
              <a:buFont typeface="Montserrat"/>
              <a:buNone/>
            </a:pPr>
            <a:r>
              <a:rPr lang="en" sz="2100" b="1">
                <a:solidFill>
                  <a:srgbClr val="F2F7FF"/>
                </a:solidFill>
                <a:latin typeface="Montserrat"/>
                <a:ea typeface="Montserrat"/>
                <a:cs typeface="Montserrat"/>
                <a:sym typeface="Montserrat"/>
              </a:rPr>
              <a:t>“Người cắn con chó”</a:t>
            </a:r>
            <a:endParaRPr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5177790" y="2386584"/>
            <a:ext cx="26746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B7185"/>
              </a:buClr>
              <a:buSzPts val="800"/>
              <a:buFont typeface="Montserrat"/>
              <a:buNone/>
            </a:pPr>
            <a:r>
              <a:rPr lang="en" sz="800">
                <a:solidFill>
                  <a:srgbClr val="FB7185"/>
                </a:solidFill>
                <a:latin typeface="Montserrat"/>
                <a:ea typeface="Montserrat"/>
                <a:cs typeface="Montserrat"/>
                <a:sym typeface="Montserrat"/>
              </a:rPr>
              <a:t>cùng từ · khác thứ tự · khác nghĩa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84" name="Google Shape;284;p9"/>
          <p:cNvCxnSpPr/>
          <p:nvPr/>
        </p:nvCxnSpPr>
        <p:spPr>
          <a:xfrm>
            <a:off x="4354830" y="2160270"/>
            <a:ext cx="411480" cy="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85" name="Google Shape;285;p9"/>
          <p:cNvSpPr/>
          <p:nvPr/>
        </p:nvSpPr>
        <p:spPr>
          <a:xfrm>
            <a:off x="960120" y="3840480"/>
            <a:ext cx="720090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1000"/>
              <a:buFont typeface="Montserrat"/>
              <a:buNone/>
            </a:pPr>
            <a:r>
              <a:rPr lang="en" sz="1000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RNN được thiết kế để xử lý dữ liệu theo trình tự, nơi thông tin ở bước trước ảnh hưởng đến cách hiểu bước sau.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1" name="Google Shape;291;p10"/>
          <p:cNvCxnSpPr/>
          <p:nvPr/>
        </p:nvCxnSpPr>
        <p:spPr>
          <a:xfrm>
            <a:off x="0" y="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2" name="Google Shape;292;p10"/>
          <p:cNvCxnSpPr/>
          <p:nvPr/>
        </p:nvCxnSpPr>
        <p:spPr>
          <a:xfrm>
            <a:off x="0" y="65151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3" name="Google Shape;293;p10"/>
          <p:cNvCxnSpPr/>
          <p:nvPr/>
        </p:nvCxnSpPr>
        <p:spPr>
          <a:xfrm>
            <a:off x="0" y="130302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4" name="Google Shape;294;p10"/>
          <p:cNvCxnSpPr/>
          <p:nvPr/>
        </p:nvCxnSpPr>
        <p:spPr>
          <a:xfrm>
            <a:off x="0" y="195453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5" name="Google Shape;295;p10"/>
          <p:cNvCxnSpPr/>
          <p:nvPr/>
        </p:nvCxnSpPr>
        <p:spPr>
          <a:xfrm>
            <a:off x="0" y="260604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6" name="Google Shape;296;p10"/>
          <p:cNvCxnSpPr/>
          <p:nvPr/>
        </p:nvCxnSpPr>
        <p:spPr>
          <a:xfrm>
            <a:off x="0" y="325755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7" name="Google Shape;297;p10"/>
          <p:cNvCxnSpPr/>
          <p:nvPr/>
        </p:nvCxnSpPr>
        <p:spPr>
          <a:xfrm>
            <a:off x="0" y="390906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8" name="Google Shape;298;p10"/>
          <p:cNvCxnSpPr/>
          <p:nvPr/>
        </p:nvCxnSpPr>
        <p:spPr>
          <a:xfrm>
            <a:off x="0" y="456057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9" name="Google Shape;299;p10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0" name="Google Shape;300;p10"/>
          <p:cNvCxnSpPr/>
          <p:nvPr/>
        </p:nvCxnSpPr>
        <p:spPr>
          <a:xfrm>
            <a:off x="7886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1" name="Google Shape;301;p10"/>
          <p:cNvCxnSpPr/>
          <p:nvPr/>
        </p:nvCxnSpPr>
        <p:spPr>
          <a:xfrm>
            <a:off x="157734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2" name="Google Shape;302;p10"/>
          <p:cNvCxnSpPr/>
          <p:nvPr/>
        </p:nvCxnSpPr>
        <p:spPr>
          <a:xfrm>
            <a:off x="236601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3" name="Google Shape;303;p10"/>
          <p:cNvCxnSpPr/>
          <p:nvPr/>
        </p:nvCxnSpPr>
        <p:spPr>
          <a:xfrm>
            <a:off x="315468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4" name="Google Shape;304;p10"/>
          <p:cNvCxnSpPr/>
          <p:nvPr/>
        </p:nvCxnSpPr>
        <p:spPr>
          <a:xfrm>
            <a:off x="394335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5" name="Google Shape;305;p10"/>
          <p:cNvCxnSpPr/>
          <p:nvPr/>
        </p:nvCxnSpPr>
        <p:spPr>
          <a:xfrm>
            <a:off x="473202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6" name="Google Shape;306;p10"/>
          <p:cNvCxnSpPr/>
          <p:nvPr/>
        </p:nvCxnSpPr>
        <p:spPr>
          <a:xfrm>
            <a:off x="552069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7" name="Google Shape;307;p10"/>
          <p:cNvCxnSpPr/>
          <p:nvPr/>
        </p:nvCxnSpPr>
        <p:spPr>
          <a:xfrm>
            <a:off x="630936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8" name="Google Shape;308;p10"/>
          <p:cNvCxnSpPr/>
          <p:nvPr/>
        </p:nvCxnSpPr>
        <p:spPr>
          <a:xfrm>
            <a:off x="709803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9" name="Google Shape;309;p10"/>
          <p:cNvCxnSpPr/>
          <p:nvPr/>
        </p:nvCxnSpPr>
        <p:spPr>
          <a:xfrm>
            <a:off x="788670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0" name="Google Shape;310;p10"/>
          <p:cNvCxnSpPr/>
          <p:nvPr/>
        </p:nvCxnSpPr>
        <p:spPr>
          <a:xfrm>
            <a:off x="86753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1" name="Google Shape;311;p10"/>
          <p:cNvSpPr/>
          <p:nvPr/>
        </p:nvSpPr>
        <p:spPr>
          <a:xfrm>
            <a:off x="0" y="0"/>
            <a:ext cx="9143771" cy="246888"/>
          </a:xfrm>
          <a:prstGeom prst="rect">
            <a:avLst/>
          </a:prstGeom>
          <a:solidFill>
            <a:srgbClr val="04101F"/>
          </a:solidFill>
          <a:ln w="12700" cap="flat" cmpd="sng">
            <a:solidFill>
              <a:srgbClr val="0410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260604" y="68580"/>
            <a:ext cx="322326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RNN · PHÁT TRIỂN HỆ THỐNG THÔNG MINH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3531870" y="61722"/>
            <a:ext cx="3429000" cy="123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D9E5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14D9E5"/>
                </a:solidFill>
                <a:latin typeface="Montserrat"/>
                <a:ea typeface="Montserrat"/>
                <a:cs typeface="Montserrat"/>
                <a:sym typeface="Montserrat"/>
              </a:rPr>
              <a:t>PHẦN 1 · NỀN TẢNG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425195" y="493776"/>
            <a:ext cx="5884163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7FF"/>
              </a:buClr>
              <a:buSzPts val="2000"/>
              <a:buFont typeface="Montserrat"/>
              <a:buNone/>
            </a:pPr>
            <a:r>
              <a:rPr lang="en" sz="2000" b="1" dirty="0">
                <a:solidFill>
                  <a:srgbClr val="F2F7FF"/>
                </a:solidFill>
                <a:latin typeface="Montserrat"/>
                <a:ea typeface="Montserrat"/>
                <a:cs typeface="Montserrat"/>
                <a:sym typeface="Montserrat"/>
              </a:rPr>
              <a:t>Hạn chế của Feedforward Neural Network</a:t>
            </a:r>
            <a:endParaRPr sz="2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425196" y="922400"/>
            <a:ext cx="5486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700"/>
              <a:buFont typeface="Montserrat"/>
              <a:buNone/>
            </a:pPr>
            <a:r>
              <a:rPr lang="en" sz="700" dirty="0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Mỗi input được xử lý độc lập, không có bộ nhớ tuần tự</a:t>
            </a:r>
            <a:endParaRPr sz="7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548640" y="1371600"/>
            <a:ext cx="3497580" cy="2331720"/>
          </a:xfrm>
          <a:prstGeom prst="roundRect">
            <a:avLst>
              <a:gd name="adj" fmla="val 2353"/>
            </a:avLst>
          </a:prstGeom>
          <a:solidFill>
            <a:srgbClr val="0A1D35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720090" y="1543050"/>
            <a:ext cx="192024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200"/>
              <a:buFont typeface="Montserrat"/>
              <a:buNone/>
            </a:pPr>
            <a:r>
              <a:rPr lang="en" sz="1200" b="1">
                <a:solidFill>
                  <a:srgbClr val="A78BFA"/>
                </a:solidFill>
                <a:latin typeface="Montserrat"/>
                <a:ea typeface="Montserrat"/>
                <a:cs typeface="Montserrat"/>
                <a:sym typeface="Montserrat"/>
              </a:rPr>
              <a:t>Feedforward NN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822960" y="2640330"/>
            <a:ext cx="308610" cy="308610"/>
          </a:xfrm>
          <a:prstGeom prst="ellipse">
            <a:avLst/>
          </a:prstGeom>
          <a:solidFill>
            <a:srgbClr val="A78BFA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9" name="Google Shape;319;p10"/>
          <p:cNvSpPr/>
          <p:nvPr/>
        </p:nvSpPr>
        <p:spPr>
          <a:xfrm>
            <a:off x="836676" y="2723655"/>
            <a:ext cx="281178" cy="104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x1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822960" y="1954530"/>
            <a:ext cx="308610" cy="308610"/>
          </a:xfrm>
          <a:prstGeom prst="ellipse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836676" y="2037855"/>
            <a:ext cx="281178" cy="104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y1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22" name="Google Shape;322;p10"/>
          <p:cNvCxnSpPr/>
          <p:nvPr/>
        </p:nvCxnSpPr>
        <p:spPr>
          <a:xfrm>
            <a:off x="980694" y="2640330"/>
            <a:ext cx="0" cy="0"/>
          </a:xfrm>
          <a:prstGeom prst="straightConnector1">
            <a:avLst/>
          </a:prstGeom>
          <a:noFill/>
          <a:ln w="12700" cap="flat" cmpd="sng">
            <a:solidFill>
              <a:srgbClr val="9EB3C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23" name="Google Shape;323;p10"/>
          <p:cNvSpPr/>
          <p:nvPr/>
        </p:nvSpPr>
        <p:spPr>
          <a:xfrm>
            <a:off x="1680210" y="2640330"/>
            <a:ext cx="308610" cy="308610"/>
          </a:xfrm>
          <a:prstGeom prst="ellipse">
            <a:avLst/>
          </a:prstGeom>
          <a:solidFill>
            <a:srgbClr val="A78BFA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1693926" y="2723655"/>
            <a:ext cx="281178" cy="104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x2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5" name="Google Shape;325;p10"/>
          <p:cNvSpPr/>
          <p:nvPr/>
        </p:nvSpPr>
        <p:spPr>
          <a:xfrm>
            <a:off x="1680210" y="1954530"/>
            <a:ext cx="308610" cy="308610"/>
          </a:xfrm>
          <a:prstGeom prst="ellipse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6" name="Google Shape;326;p10"/>
          <p:cNvSpPr/>
          <p:nvPr/>
        </p:nvSpPr>
        <p:spPr>
          <a:xfrm>
            <a:off x="1693926" y="2037855"/>
            <a:ext cx="281178" cy="104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y2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27" name="Google Shape;327;p10"/>
          <p:cNvCxnSpPr/>
          <p:nvPr/>
        </p:nvCxnSpPr>
        <p:spPr>
          <a:xfrm>
            <a:off x="1837944" y="2640330"/>
            <a:ext cx="0" cy="0"/>
          </a:xfrm>
          <a:prstGeom prst="straightConnector1">
            <a:avLst/>
          </a:prstGeom>
          <a:noFill/>
          <a:ln w="12700" cap="flat" cmpd="sng">
            <a:solidFill>
              <a:srgbClr val="9EB3C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28" name="Google Shape;328;p10"/>
          <p:cNvSpPr/>
          <p:nvPr/>
        </p:nvSpPr>
        <p:spPr>
          <a:xfrm>
            <a:off x="2537460" y="2640330"/>
            <a:ext cx="308610" cy="308610"/>
          </a:xfrm>
          <a:prstGeom prst="ellipse">
            <a:avLst/>
          </a:prstGeom>
          <a:solidFill>
            <a:srgbClr val="A78BFA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2551176" y="2723655"/>
            <a:ext cx="281178" cy="104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x3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2537460" y="1954530"/>
            <a:ext cx="308610" cy="308610"/>
          </a:xfrm>
          <a:prstGeom prst="ellipse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1" name="Google Shape;331;p10"/>
          <p:cNvSpPr/>
          <p:nvPr/>
        </p:nvSpPr>
        <p:spPr>
          <a:xfrm>
            <a:off x="2551176" y="2037855"/>
            <a:ext cx="281178" cy="104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y3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32" name="Google Shape;332;p10"/>
          <p:cNvCxnSpPr/>
          <p:nvPr/>
        </p:nvCxnSpPr>
        <p:spPr>
          <a:xfrm>
            <a:off x="2695194" y="2640330"/>
            <a:ext cx="0" cy="0"/>
          </a:xfrm>
          <a:prstGeom prst="straightConnector1">
            <a:avLst/>
          </a:prstGeom>
          <a:noFill/>
          <a:ln w="12700" cap="flat" cmpd="sng">
            <a:solidFill>
              <a:srgbClr val="9EB3C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33" name="Google Shape;333;p10"/>
          <p:cNvSpPr/>
          <p:nvPr/>
        </p:nvSpPr>
        <p:spPr>
          <a:xfrm>
            <a:off x="685799" y="3223259"/>
            <a:ext cx="3188969" cy="308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Mỗi input được xử lý độc lập, không có trạng thái truyền giữa các bước.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4800600" y="1371600"/>
            <a:ext cx="3497580" cy="2331720"/>
          </a:xfrm>
          <a:prstGeom prst="roundRect">
            <a:avLst>
              <a:gd name="adj" fmla="val 2353"/>
            </a:avLst>
          </a:prstGeom>
          <a:solidFill>
            <a:srgbClr val="0A1D35"/>
          </a:solidFill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4972050" y="1543050"/>
            <a:ext cx="192024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D9E5"/>
              </a:buClr>
              <a:buSzPts val="1200"/>
              <a:buFont typeface="Montserrat"/>
              <a:buNone/>
            </a:pPr>
            <a:r>
              <a:rPr lang="en" sz="1200" b="1">
                <a:solidFill>
                  <a:srgbClr val="14D9E5"/>
                </a:solidFill>
                <a:latin typeface="Montserrat"/>
                <a:ea typeface="Montserrat"/>
                <a:cs typeface="Montserrat"/>
                <a:sym typeface="Montserrat"/>
              </a:rPr>
              <a:t>RNN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4972050" y="2640330"/>
            <a:ext cx="308610" cy="308610"/>
          </a:xfrm>
          <a:prstGeom prst="ellipse">
            <a:avLst/>
          </a:prstGeom>
          <a:solidFill>
            <a:srgbClr val="A78BFA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4985766" y="2723655"/>
            <a:ext cx="281178" cy="104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x1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4972050" y="2023110"/>
            <a:ext cx="342900" cy="342900"/>
          </a:xfrm>
          <a:prstGeom prst="ellipse">
            <a:avLst/>
          </a:prstGeom>
          <a:solidFill>
            <a:srgbClr val="14D9E5"/>
          </a:solidFill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4985766" y="2115693"/>
            <a:ext cx="315468" cy="116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h1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40" name="Google Shape;340;p10"/>
          <p:cNvCxnSpPr/>
          <p:nvPr/>
        </p:nvCxnSpPr>
        <p:spPr>
          <a:xfrm>
            <a:off x="5129784" y="2640330"/>
            <a:ext cx="13716" cy="0"/>
          </a:xfrm>
          <a:prstGeom prst="straightConnector1">
            <a:avLst/>
          </a:prstGeom>
          <a:noFill/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41" name="Google Shape;341;p10"/>
          <p:cNvSpPr/>
          <p:nvPr/>
        </p:nvSpPr>
        <p:spPr>
          <a:xfrm>
            <a:off x="5829300" y="2640330"/>
            <a:ext cx="308610" cy="308610"/>
          </a:xfrm>
          <a:prstGeom prst="ellipse">
            <a:avLst/>
          </a:prstGeom>
          <a:solidFill>
            <a:srgbClr val="A78BFA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5843016" y="2723655"/>
            <a:ext cx="281178" cy="104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x2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3" name="Google Shape;343;p10"/>
          <p:cNvSpPr/>
          <p:nvPr/>
        </p:nvSpPr>
        <p:spPr>
          <a:xfrm>
            <a:off x="5829300" y="2023110"/>
            <a:ext cx="342900" cy="342900"/>
          </a:xfrm>
          <a:prstGeom prst="ellipse">
            <a:avLst/>
          </a:prstGeom>
          <a:solidFill>
            <a:srgbClr val="14D9E5"/>
          </a:solidFill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4" name="Google Shape;344;p10"/>
          <p:cNvSpPr/>
          <p:nvPr/>
        </p:nvSpPr>
        <p:spPr>
          <a:xfrm>
            <a:off x="5843016" y="2115693"/>
            <a:ext cx="315468" cy="116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h2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45" name="Google Shape;345;p10"/>
          <p:cNvCxnSpPr/>
          <p:nvPr/>
        </p:nvCxnSpPr>
        <p:spPr>
          <a:xfrm>
            <a:off x="5987034" y="2640330"/>
            <a:ext cx="13716" cy="0"/>
          </a:xfrm>
          <a:prstGeom prst="straightConnector1">
            <a:avLst/>
          </a:prstGeom>
          <a:noFill/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46" name="Google Shape;346;p10"/>
          <p:cNvCxnSpPr/>
          <p:nvPr/>
        </p:nvCxnSpPr>
        <p:spPr>
          <a:xfrm>
            <a:off x="5314950" y="2194560"/>
            <a:ext cx="514350" cy="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47" name="Google Shape;347;p10"/>
          <p:cNvSpPr/>
          <p:nvPr/>
        </p:nvSpPr>
        <p:spPr>
          <a:xfrm>
            <a:off x="6686550" y="2640330"/>
            <a:ext cx="308610" cy="308610"/>
          </a:xfrm>
          <a:prstGeom prst="ellipse">
            <a:avLst/>
          </a:prstGeom>
          <a:solidFill>
            <a:srgbClr val="A78BFA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6700266" y="2723655"/>
            <a:ext cx="281178" cy="104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x3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6686550" y="2023110"/>
            <a:ext cx="342900" cy="342900"/>
          </a:xfrm>
          <a:prstGeom prst="ellipse">
            <a:avLst/>
          </a:prstGeom>
          <a:solidFill>
            <a:srgbClr val="14D9E5"/>
          </a:solidFill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6700266" y="2115693"/>
            <a:ext cx="315468" cy="116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h3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51" name="Google Shape;351;p10"/>
          <p:cNvCxnSpPr/>
          <p:nvPr/>
        </p:nvCxnSpPr>
        <p:spPr>
          <a:xfrm>
            <a:off x="6844284" y="2640330"/>
            <a:ext cx="13716" cy="0"/>
          </a:xfrm>
          <a:prstGeom prst="straightConnector1">
            <a:avLst/>
          </a:prstGeom>
          <a:noFill/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52" name="Google Shape;352;p10"/>
          <p:cNvCxnSpPr/>
          <p:nvPr/>
        </p:nvCxnSpPr>
        <p:spPr>
          <a:xfrm>
            <a:off x="6172200" y="2194560"/>
            <a:ext cx="514350" cy="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53" name="Google Shape;353;p10"/>
          <p:cNvSpPr/>
          <p:nvPr/>
        </p:nvSpPr>
        <p:spPr>
          <a:xfrm>
            <a:off x="5074920" y="3223260"/>
            <a:ext cx="2846070" cy="308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Hidden state được truyền từ bước trước sang bước sau.</a:t>
            </a:r>
            <a:endParaRPr sz="1100"/>
          </a:p>
        </p:txBody>
      </p:sp>
      <p:cxnSp>
        <p:nvCxnSpPr>
          <p:cNvPr id="354" name="Google Shape;354;p10"/>
          <p:cNvCxnSpPr>
            <a:stCxn id="318" idx="0"/>
            <a:endCxn id="320" idx="4"/>
          </p:cNvCxnSpPr>
          <p:nvPr/>
        </p:nvCxnSpPr>
        <p:spPr>
          <a:xfrm rot="10800000">
            <a:off x="977265" y="2263230"/>
            <a:ext cx="0" cy="3771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355" name="Google Shape;355;p10"/>
          <p:cNvCxnSpPr>
            <a:stCxn id="323" idx="0"/>
            <a:endCxn id="325" idx="4"/>
          </p:cNvCxnSpPr>
          <p:nvPr/>
        </p:nvCxnSpPr>
        <p:spPr>
          <a:xfrm rot="10800000">
            <a:off x="1834515" y="2263230"/>
            <a:ext cx="0" cy="3771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356" name="Google Shape;356;p10"/>
          <p:cNvCxnSpPr>
            <a:stCxn id="328" idx="0"/>
            <a:endCxn id="330" idx="4"/>
          </p:cNvCxnSpPr>
          <p:nvPr/>
        </p:nvCxnSpPr>
        <p:spPr>
          <a:xfrm rot="10800000">
            <a:off x="2691765" y="2263230"/>
            <a:ext cx="0" cy="3771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357" name="Google Shape;357;p10"/>
          <p:cNvCxnSpPr>
            <a:stCxn id="336" idx="0"/>
          </p:cNvCxnSpPr>
          <p:nvPr/>
        </p:nvCxnSpPr>
        <p:spPr>
          <a:xfrm rot="10800000" flipH="1">
            <a:off x="5126355" y="2366130"/>
            <a:ext cx="10500" cy="274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358" name="Google Shape;358;p10"/>
          <p:cNvCxnSpPr>
            <a:stCxn id="341" idx="0"/>
            <a:endCxn id="343" idx="4"/>
          </p:cNvCxnSpPr>
          <p:nvPr/>
        </p:nvCxnSpPr>
        <p:spPr>
          <a:xfrm rot="10800000" flipH="1">
            <a:off x="5983605" y="2366130"/>
            <a:ext cx="17100" cy="274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359" name="Google Shape;359;p10"/>
          <p:cNvCxnSpPr>
            <a:stCxn id="351" idx="0"/>
            <a:endCxn id="349" idx="4"/>
          </p:cNvCxnSpPr>
          <p:nvPr/>
        </p:nvCxnSpPr>
        <p:spPr>
          <a:xfrm rot="10800000" flipH="1">
            <a:off x="6844200" y="2366010"/>
            <a:ext cx="13800" cy="274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5" name="Google Shape;365;p11"/>
          <p:cNvCxnSpPr/>
          <p:nvPr/>
        </p:nvCxnSpPr>
        <p:spPr>
          <a:xfrm>
            <a:off x="0" y="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6" name="Google Shape;366;p11"/>
          <p:cNvCxnSpPr/>
          <p:nvPr/>
        </p:nvCxnSpPr>
        <p:spPr>
          <a:xfrm>
            <a:off x="0" y="65151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7" name="Google Shape;367;p11"/>
          <p:cNvCxnSpPr/>
          <p:nvPr/>
        </p:nvCxnSpPr>
        <p:spPr>
          <a:xfrm>
            <a:off x="1826020" y="257175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8" name="Google Shape;368;p11"/>
          <p:cNvCxnSpPr/>
          <p:nvPr/>
        </p:nvCxnSpPr>
        <p:spPr>
          <a:xfrm>
            <a:off x="0" y="195453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9" name="Google Shape;369;p11"/>
          <p:cNvCxnSpPr/>
          <p:nvPr/>
        </p:nvCxnSpPr>
        <p:spPr>
          <a:xfrm>
            <a:off x="0" y="260604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0" name="Google Shape;370;p11"/>
          <p:cNvCxnSpPr/>
          <p:nvPr/>
        </p:nvCxnSpPr>
        <p:spPr>
          <a:xfrm>
            <a:off x="3154680" y="4409428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1" name="Google Shape;371;p11"/>
          <p:cNvCxnSpPr/>
          <p:nvPr/>
        </p:nvCxnSpPr>
        <p:spPr>
          <a:xfrm>
            <a:off x="0" y="390906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2" name="Google Shape;372;p11"/>
          <p:cNvCxnSpPr/>
          <p:nvPr/>
        </p:nvCxnSpPr>
        <p:spPr>
          <a:xfrm>
            <a:off x="0" y="456057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3" name="Google Shape;373;p11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4" name="Google Shape;374;p11"/>
          <p:cNvCxnSpPr/>
          <p:nvPr/>
        </p:nvCxnSpPr>
        <p:spPr>
          <a:xfrm>
            <a:off x="7886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5" name="Google Shape;375;p11"/>
          <p:cNvCxnSpPr/>
          <p:nvPr/>
        </p:nvCxnSpPr>
        <p:spPr>
          <a:xfrm>
            <a:off x="157734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6" name="Google Shape;376;p11"/>
          <p:cNvCxnSpPr/>
          <p:nvPr/>
        </p:nvCxnSpPr>
        <p:spPr>
          <a:xfrm>
            <a:off x="236601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7" name="Google Shape;377;p11"/>
          <p:cNvCxnSpPr/>
          <p:nvPr/>
        </p:nvCxnSpPr>
        <p:spPr>
          <a:xfrm>
            <a:off x="315468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8" name="Google Shape;378;p11"/>
          <p:cNvCxnSpPr/>
          <p:nvPr/>
        </p:nvCxnSpPr>
        <p:spPr>
          <a:xfrm>
            <a:off x="394335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9" name="Google Shape;379;p11"/>
          <p:cNvCxnSpPr/>
          <p:nvPr/>
        </p:nvCxnSpPr>
        <p:spPr>
          <a:xfrm>
            <a:off x="473202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0" name="Google Shape;380;p11"/>
          <p:cNvCxnSpPr/>
          <p:nvPr/>
        </p:nvCxnSpPr>
        <p:spPr>
          <a:xfrm>
            <a:off x="552069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1" name="Google Shape;381;p11"/>
          <p:cNvCxnSpPr/>
          <p:nvPr/>
        </p:nvCxnSpPr>
        <p:spPr>
          <a:xfrm>
            <a:off x="630936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2" name="Google Shape;382;p11"/>
          <p:cNvCxnSpPr/>
          <p:nvPr/>
        </p:nvCxnSpPr>
        <p:spPr>
          <a:xfrm>
            <a:off x="709803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3" name="Google Shape;383;p11"/>
          <p:cNvCxnSpPr/>
          <p:nvPr/>
        </p:nvCxnSpPr>
        <p:spPr>
          <a:xfrm>
            <a:off x="788670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4" name="Google Shape;384;p11"/>
          <p:cNvCxnSpPr/>
          <p:nvPr/>
        </p:nvCxnSpPr>
        <p:spPr>
          <a:xfrm>
            <a:off x="86753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5" name="Google Shape;385;p11"/>
          <p:cNvSpPr/>
          <p:nvPr/>
        </p:nvSpPr>
        <p:spPr>
          <a:xfrm>
            <a:off x="0" y="0"/>
            <a:ext cx="9143771" cy="246888"/>
          </a:xfrm>
          <a:prstGeom prst="rect">
            <a:avLst/>
          </a:prstGeom>
          <a:solidFill>
            <a:srgbClr val="04101F"/>
          </a:solidFill>
          <a:ln w="12700" cap="flat" cmpd="sng">
            <a:solidFill>
              <a:srgbClr val="0410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6" name="Google Shape;386;p11"/>
          <p:cNvSpPr/>
          <p:nvPr/>
        </p:nvSpPr>
        <p:spPr>
          <a:xfrm>
            <a:off x="260604" y="68580"/>
            <a:ext cx="322326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RNN · PHÁT TRIỂN HỆ THỐNG THÔNG MINH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7" name="Google Shape;387;p11"/>
          <p:cNvSpPr/>
          <p:nvPr/>
        </p:nvSpPr>
        <p:spPr>
          <a:xfrm>
            <a:off x="3531870" y="61722"/>
            <a:ext cx="3429000" cy="123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D9E5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14D9E5"/>
                </a:solidFill>
                <a:latin typeface="Montserrat"/>
                <a:ea typeface="Montserrat"/>
                <a:cs typeface="Montserrat"/>
                <a:sym typeface="Montserrat"/>
              </a:rPr>
              <a:t>PHẦN 1 · NỀN TẢNG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8" name="Google Shape;388;p11"/>
          <p:cNvSpPr/>
          <p:nvPr/>
        </p:nvSpPr>
        <p:spPr>
          <a:xfrm>
            <a:off x="425196" y="493776"/>
            <a:ext cx="507492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7FF"/>
              </a:buClr>
              <a:buSzPts val="2000"/>
              <a:buFont typeface="Montserrat"/>
              <a:buNone/>
            </a:pPr>
            <a:r>
              <a:rPr lang="en" sz="2000" b="1">
                <a:solidFill>
                  <a:srgbClr val="F2F7FF"/>
                </a:solidFill>
                <a:latin typeface="Montserrat"/>
                <a:ea typeface="Montserrat"/>
                <a:cs typeface="Montserrat"/>
                <a:sym typeface="Montserrat"/>
              </a:rPr>
              <a:t>Ý tưởng và kiến trúc của RNN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9" name="Google Shape;389;p11"/>
          <p:cNvSpPr/>
          <p:nvPr/>
        </p:nvSpPr>
        <p:spPr>
          <a:xfrm>
            <a:off x="438912" y="850392"/>
            <a:ext cx="5486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None/>
            </a:pP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0" name="Google Shape;390;p11"/>
          <p:cNvSpPr/>
          <p:nvPr/>
        </p:nvSpPr>
        <p:spPr>
          <a:xfrm>
            <a:off x="1380172" y="2125980"/>
            <a:ext cx="617220" cy="617220"/>
          </a:xfrm>
          <a:prstGeom prst="ellipse">
            <a:avLst/>
          </a:prstGeom>
          <a:solidFill>
            <a:srgbClr val="A78BFA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1" name="Google Shape;391;p11"/>
          <p:cNvSpPr/>
          <p:nvPr/>
        </p:nvSpPr>
        <p:spPr>
          <a:xfrm>
            <a:off x="1393889" y="2292629"/>
            <a:ext cx="589788" cy="209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</a:pPr>
            <a:r>
              <a:rPr lang="en" sz="9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x(t)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2" name="Google Shape;392;p11"/>
          <p:cNvSpPr/>
          <p:nvPr/>
        </p:nvSpPr>
        <p:spPr>
          <a:xfrm>
            <a:off x="3223260" y="1885950"/>
            <a:ext cx="1885950" cy="1071563"/>
          </a:xfrm>
          <a:prstGeom prst="roundRect">
            <a:avLst>
              <a:gd name="adj" fmla="val 5120"/>
            </a:avLst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3" name="Google Shape;393;p11"/>
          <p:cNvSpPr/>
          <p:nvPr/>
        </p:nvSpPr>
        <p:spPr>
          <a:xfrm>
            <a:off x="3250692" y="1981962"/>
            <a:ext cx="1831086" cy="894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lang="en" sz="12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RNN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lang="en" sz="12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Cell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4" name="Google Shape;394;p11"/>
          <p:cNvSpPr/>
          <p:nvPr/>
        </p:nvSpPr>
        <p:spPr>
          <a:xfrm>
            <a:off x="5880735" y="2125980"/>
            <a:ext cx="617220" cy="617220"/>
          </a:xfrm>
          <a:prstGeom prst="ellipse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5" name="Google Shape;395;p11"/>
          <p:cNvSpPr/>
          <p:nvPr/>
        </p:nvSpPr>
        <p:spPr>
          <a:xfrm>
            <a:off x="5894451" y="2292629"/>
            <a:ext cx="589788" cy="209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</a:pPr>
            <a:r>
              <a:rPr lang="en" sz="9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y(t)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6" name="Google Shape;396;p11"/>
          <p:cNvSpPr/>
          <p:nvPr/>
        </p:nvSpPr>
        <p:spPr>
          <a:xfrm>
            <a:off x="3266123" y="814388"/>
            <a:ext cx="617220" cy="617220"/>
          </a:xfrm>
          <a:prstGeom prst="ellipse">
            <a:avLst/>
          </a:prstGeom>
          <a:solidFill>
            <a:srgbClr val="F472B6"/>
          </a:solidFill>
          <a:ln w="12700" cap="flat" cmpd="sng">
            <a:solidFill>
              <a:srgbClr val="F472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7" name="Google Shape;397;p11"/>
          <p:cNvSpPr/>
          <p:nvPr/>
        </p:nvSpPr>
        <p:spPr>
          <a:xfrm>
            <a:off x="3279839" y="981037"/>
            <a:ext cx="589788" cy="209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ontserrat"/>
              <a:buNone/>
            </a:pPr>
            <a:r>
              <a:rPr lang="en" sz="8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h(t−1)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8" name="Google Shape;398;p11"/>
          <p:cNvSpPr/>
          <p:nvPr/>
        </p:nvSpPr>
        <p:spPr>
          <a:xfrm>
            <a:off x="4551998" y="814388"/>
            <a:ext cx="617220" cy="617220"/>
          </a:xfrm>
          <a:prstGeom prst="ellipse">
            <a:avLst/>
          </a:prstGeom>
          <a:solidFill>
            <a:srgbClr val="14D9E5"/>
          </a:solidFill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9" name="Google Shape;399;p11"/>
          <p:cNvSpPr/>
          <p:nvPr/>
        </p:nvSpPr>
        <p:spPr>
          <a:xfrm>
            <a:off x="4565714" y="981036"/>
            <a:ext cx="589788" cy="232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</a:pPr>
            <a:r>
              <a:rPr lang="en" sz="9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h(t)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00" name="Google Shape;400;p11"/>
          <p:cNvCxnSpPr/>
          <p:nvPr/>
        </p:nvCxnSpPr>
        <p:spPr>
          <a:xfrm>
            <a:off x="1997393" y="2434590"/>
            <a:ext cx="1225868" cy="0"/>
          </a:xfrm>
          <a:prstGeom prst="straightConnector1">
            <a:avLst/>
          </a:prstGeom>
          <a:noFill/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01" name="Google Shape;401;p11"/>
          <p:cNvCxnSpPr/>
          <p:nvPr/>
        </p:nvCxnSpPr>
        <p:spPr>
          <a:xfrm>
            <a:off x="5109210" y="2434590"/>
            <a:ext cx="771525" cy="0"/>
          </a:xfrm>
          <a:prstGeom prst="straightConnector1">
            <a:avLst/>
          </a:prstGeom>
          <a:noFill/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02" name="Google Shape;402;p11"/>
          <p:cNvCxnSpPr/>
          <p:nvPr/>
        </p:nvCxnSpPr>
        <p:spPr>
          <a:xfrm>
            <a:off x="4860608" y="1885950"/>
            <a:ext cx="0" cy="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03" name="Google Shape;403;p11"/>
          <p:cNvCxnSpPr/>
          <p:nvPr/>
        </p:nvCxnSpPr>
        <p:spPr>
          <a:xfrm>
            <a:off x="5206278" y="1043273"/>
            <a:ext cx="2323787" cy="17144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04" name="Google Shape;404;p11"/>
          <p:cNvSpPr/>
          <p:nvPr/>
        </p:nvSpPr>
        <p:spPr>
          <a:xfrm>
            <a:off x="1037272" y="2803207"/>
            <a:ext cx="1328738" cy="123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600"/>
              <a:buFont typeface="Montserrat"/>
              <a:buNone/>
            </a:pPr>
            <a:r>
              <a:rPr lang="en" sz="600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input hiện tại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5" name="Google Shape;405;p11"/>
          <p:cNvSpPr/>
          <p:nvPr/>
        </p:nvSpPr>
        <p:spPr>
          <a:xfrm>
            <a:off x="5666423" y="2803207"/>
            <a:ext cx="1028700" cy="123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600"/>
              <a:buFont typeface="Montserrat"/>
              <a:buNone/>
            </a:pPr>
            <a:r>
              <a:rPr lang="en" sz="600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output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6" name="Google Shape;406;p11"/>
          <p:cNvSpPr/>
          <p:nvPr/>
        </p:nvSpPr>
        <p:spPr>
          <a:xfrm>
            <a:off x="5297527" y="921430"/>
            <a:ext cx="1990904" cy="140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Montserrat"/>
              <a:buNone/>
            </a:pPr>
            <a:r>
              <a:rPr lang="en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hidden state truyền sang bước t+1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7" name="Google Shape;407;p11"/>
          <p:cNvSpPr/>
          <p:nvPr/>
        </p:nvSpPr>
        <p:spPr>
          <a:xfrm>
            <a:off x="741521" y="1882685"/>
            <a:ext cx="1465897" cy="1209416"/>
          </a:xfrm>
          <a:prstGeom prst="roundRect">
            <a:avLst>
              <a:gd name="adj" fmla="val 3077"/>
            </a:avLst>
          </a:prstGeom>
          <a:solidFill>
            <a:srgbClr val="0A1D35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8" name="Google Shape;408;p11"/>
          <p:cNvSpPr/>
          <p:nvPr/>
        </p:nvSpPr>
        <p:spPr>
          <a:xfrm>
            <a:off x="786956" y="2021057"/>
            <a:ext cx="137160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700"/>
              <a:buFont typeface="Montserrat"/>
              <a:buNone/>
            </a:pPr>
            <a:r>
              <a:rPr lang="en" sz="1700" b="1">
                <a:solidFill>
                  <a:srgbClr val="A78BFA"/>
                </a:solidFill>
                <a:latin typeface="Montserrat"/>
                <a:ea typeface="Montserrat"/>
                <a:cs typeface="Montserrat"/>
                <a:sym typeface="Montserrat"/>
              </a:rPr>
              <a:t>x(t)</a:t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9" name="Google Shape;409;p11"/>
          <p:cNvSpPr/>
          <p:nvPr/>
        </p:nvSpPr>
        <p:spPr>
          <a:xfrm>
            <a:off x="754380" y="2263140"/>
            <a:ext cx="14401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800"/>
              <a:buFont typeface="Montserrat"/>
              <a:buNone/>
            </a:pPr>
            <a:r>
              <a:rPr lang="en" sz="800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input hiện tại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800"/>
              <a:buFont typeface="Montserrat"/>
              <a:buNone/>
            </a:pPr>
            <a:r>
              <a:rPr lang="en" sz="800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(token, vector đặc trưng, tín hiệu...)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10" name="Google Shape;410;p11"/>
          <p:cNvCxnSpPr/>
          <p:nvPr/>
        </p:nvCxnSpPr>
        <p:spPr>
          <a:xfrm>
            <a:off x="3669032" y="1431607"/>
            <a:ext cx="0" cy="481775"/>
          </a:xfrm>
          <a:prstGeom prst="straightConnector1">
            <a:avLst/>
          </a:prstGeom>
          <a:noFill/>
          <a:ln w="12700" cap="flat" cmpd="sng">
            <a:solidFill>
              <a:srgbClr val="F472B6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11" name="Google Shape;411;p11"/>
          <p:cNvCxnSpPr/>
          <p:nvPr/>
        </p:nvCxnSpPr>
        <p:spPr>
          <a:xfrm rot="10800000">
            <a:off x="4860598" y="1419605"/>
            <a:ext cx="2" cy="481774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12" name="Google Shape;412;p11"/>
          <p:cNvSpPr txBox="1"/>
          <p:nvPr/>
        </p:nvSpPr>
        <p:spPr>
          <a:xfrm>
            <a:off x="786956" y="3478493"/>
            <a:ext cx="3699999" cy="1315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x(t)</a:t>
            </a:r>
            <a:r>
              <a:rPr lang="en"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: input tại time step t 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h(t−1)</a:t>
            </a:r>
            <a:r>
              <a:rPr lang="en"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: hidden state từ bước trước 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h(t)</a:t>
            </a:r>
            <a:r>
              <a:rPr lang="en"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: hidden state mới tại bước t 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y(t)</a:t>
            </a:r>
            <a:r>
              <a:rPr lang="en"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: output tại bước t 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RNN Cell</a:t>
            </a:r>
            <a:r>
              <a:rPr lang="en"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: khối xử lý kết hợp x(t) và h(t−1)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13" name="Google Shape;413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73909" y="3067624"/>
            <a:ext cx="3523865" cy="17597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9" name="Google Shape;419;p12"/>
          <p:cNvCxnSpPr/>
          <p:nvPr/>
        </p:nvCxnSpPr>
        <p:spPr>
          <a:xfrm>
            <a:off x="0" y="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0" name="Google Shape;420;p12"/>
          <p:cNvCxnSpPr/>
          <p:nvPr/>
        </p:nvCxnSpPr>
        <p:spPr>
          <a:xfrm>
            <a:off x="0" y="65151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1" name="Google Shape;421;p12"/>
          <p:cNvCxnSpPr/>
          <p:nvPr/>
        </p:nvCxnSpPr>
        <p:spPr>
          <a:xfrm>
            <a:off x="0" y="130302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2" name="Google Shape;422;p12"/>
          <p:cNvCxnSpPr/>
          <p:nvPr/>
        </p:nvCxnSpPr>
        <p:spPr>
          <a:xfrm>
            <a:off x="0" y="195453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3" name="Google Shape;423;p12"/>
          <p:cNvCxnSpPr/>
          <p:nvPr/>
        </p:nvCxnSpPr>
        <p:spPr>
          <a:xfrm>
            <a:off x="0" y="260604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4" name="Google Shape;424;p12"/>
          <p:cNvCxnSpPr/>
          <p:nvPr/>
        </p:nvCxnSpPr>
        <p:spPr>
          <a:xfrm>
            <a:off x="0" y="325755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5" name="Google Shape;425;p12"/>
          <p:cNvCxnSpPr/>
          <p:nvPr/>
        </p:nvCxnSpPr>
        <p:spPr>
          <a:xfrm>
            <a:off x="0" y="390906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6" name="Google Shape;426;p12"/>
          <p:cNvCxnSpPr/>
          <p:nvPr/>
        </p:nvCxnSpPr>
        <p:spPr>
          <a:xfrm>
            <a:off x="0" y="456057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7" name="Google Shape;427;p12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8" name="Google Shape;428;p12"/>
          <p:cNvCxnSpPr/>
          <p:nvPr/>
        </p:nvCxnSpPr>
        <p:spPr>
          <a:xfrm>
            <a:off x="7886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9" name="Google Shape;429;p12"/>
          <p:cNvCxnSpPr/>
          <p:nvPr/>
        </p:nvCxnSpPr>
        <p:spPr>
          <a:xfrm>
            <a:off x="157734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0" name="Google Shape;430;p12"/>
          <p:cNvCxnSpPr/>
          <p:nvPr/>
        </p:nvCxnSpPr>
        <p:spPr>
          <a:xfrm>
            <a:off x="236601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1" name="Google Shape;431;p12"/>
          <p:cNvCxnSpPr/>
          <p:nvPr/>
        </p:nvCxnSpPr>
        <p:spPr>
          <a:xfrm>
            <a:off x="315468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2" name="Google Shape;432;p12"/>
          <p:cNvCxnSpPr/>
          <p:nvPr/>
        </p:nvCxnSpPr>
        <p:spPr>
          <a:xfrm>
            <a:off x="394335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3" name="Google Shape;433;p12"/>
          <p:cNvCxnSpPr/>
          <p:nvPr/>
        </p:nvCxnSpPr>
        <p:spPr>
          <a:xfrm>
            <a:off x="473202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4" name="Google Shape;434;p12"/>
          <p:cNvCxnSpPr/>
          <p:nvPr/>
        </p:nvCxnSpPr>
        <p:spPr>
          <a:xfrm>
            <a:off x="552069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5" name="Google Shape;435;p12"/>
          <p:cNvCxnSpPr/>
          <p:nvPr/>
        </p:nvCxnSpPr>
        <p:spPr>
          <a:xfrm>
            <a:off x="630936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6" name="Google Shape;436;p12"/>
          <p:cNvCxnSpPr/>
          <p:nvPr/>
        </p:nvCxnSpPr>
        <p:spPr>
          <a:xfrm>
            <a:off x="709803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7" name="Google Shape;437;p12"/>
          <p:cNvCxnSpPr/>
          <p:nvPr/>
        </p:nvCxnSpPr>
        <p:spPr>
          <a:xfrm>
            <a:off x="788670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8" name="Google Shape;438;p12"/>
          <p:cNvCxnSpPr/>
          <p:nvPr/>
        </p:nvCxnSpPr>
        <p:spPr>
          <a:xfrm>
            <a:off x="86753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9" name="Google Shape;439;p12"/>
          <p:cNvSpPr/>
          <p:nvPr/>
        </p:nvSpPr>
        <p:spPr>
          <a:xfrm>
            <a:off x="0" y="0"/>
            <a:ext cx="9143771" cy="246888"/>
          </a:xfrm>
          <a:prstGeom prst="rect">
            <a:avLst/>
          </a:prstGeom>
          <a:solidFill>
            <a:srgbClr val="04101F"/>
          </a:solidFill>
          <a:ln w="12700" cap="flat" cmpd="sng">
            <a:solidFill>
              <a:srgbClr val="0410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0" name="Google Shape;440;p12"/>
          <p:cNvSpPr/>
          <p:nvPr/>
        </p:nvSpPr>
        <p:spPr>
          <a:xfrm>
            <a:off x="260604" y="68580"/>
            <a:ext cx="322326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RNN · PHÁT TRIỂN HỆ THỐNG THÔNG MINH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1" name="Google Shape;441;p12"/>
          <p:cNvSpPr/>
          <p:nvPr/>
        </p:nvSpPr>
        <p:spPr>
          <a:xfrm>
            <a:off x="3531870" y="61722"/>
            <a:ext cx="3429000" cy="123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D9E5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14D9E5"/>
                </a:solidFill>
                <a:latin typeface="Montserrat"/>
                <a:ea typeface="Montserrat"/>
                <a:cs typeface="Montserrat"/>
                <a:sym typeface="Montserrat"/>
              </a:rPr>
              <a:t>PHẦN 2 · KIẾN TRÚC RNN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2" name="Google Shape;442;p12"/>
          <p:cNvSpPr/>
          <p:nvPr/>
        </p:nvSpPr>
        <p:spPr>
          <a:xfrm>
            <a:off x="425196" y="493776"/>
            <a:ext cx="507492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7FF"/>
              </a:buClr>
              <a:buSzPts val="2000"/>
              <a:buFont typeface="Montserrat"/>
              <a:buNone/>
            </a:pPr>
            <a:r>
              <a:rPr lang="en" sz="2000" b="1">
                <a:solidFill>
                  <a:srgbClr val="F2F7FF"/>
                </a:solidFill>
                <a:latin typeface="Montserrat"/>
                <a:ea typeface="Montserrat"/>
                <a:cs typeface="Montserrat"/>
                <a:sym typeface="Montserrat"/>
              </a:rPr>
              <a:t>Hidden State là gì?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3" name="Google Shape;443;p12"/>
          <p:cNvSpPr/>
          <p:nvPr/>
        </p:nvSpPr>
        <p:spPr>
          <a:xfrm>
            <a:off x="438912" y="850392"/>
            <a:ext cx="5486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700"/>
              <a:buFont typeface="Montserrat"/>
              <a:buNone/>
            </a:pPr>
            <a:r>
              <a:rPr lang="en" sz="700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Một vector “bộ nhớ ngắn hạn” tóm tắt ngữ cảnh đã đi qua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4" name="Google Shape;444;p12"/>
          <p:cNvSpPr/>
          <p:nvPr/>
        </p:nvSpPr>
        <p:spPr>
          <a:xfrm>
            <a:off x="548640" y="1405890"/>
            <a:ext cx="2263140" cy="2228850"/>
          </a:xfrm>
          <a:prstGeom prst="roundRect">
            <a:avLst>
              <a:gd name="adj" fmla="val 2462"/>
            </a:avLst>
          </a:prstGeom>
          <a:solidFill>
            <a:srgbClr val="0A1D35"/>
          </a:solidFill>
          <a:ln w="12700" cap="flat" cmpd="sng">
            <a:solidFill>
              <a:srgbClr val="F472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5" name="Google Shape;445;p12"/>
          <p:cNvSpPr/>
          <p:nvPr/>
        </p:nvSpPr>
        <p:spPr>
          <a:xfrm>
            <a:off x="685800" y="1577340"/>
            <a:ext cx="188595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900"/>
              <a:buFont typeface="Montserrat"/>
              <a:buNone/>
            </a:pPr>
            <a:r>
              <a:rPr lang="en" sz="1900" b="1">
                <a:solidFill>
                  <a:srgbClr val="F472B6"/>
                </a:solidFill>
                <a:latin typeface="Montserrat"/>
                <a:ea typeface="Montserrat"/>
                <a:cs typeface="Montserrat"/>
                <a:sym typeface="Montserrat"/>
              </a:rPr>
              <a:t>h(t−1)</a:t>
            </a:r>
            <a:endParaRPr sz="1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6" name="Google Shape;446;p12"/>
          <p:cNvSpPr/>
          <p:nvPr/>
        </p:nvSpPr>
        <p:spPr>
          <a:xfrm>
            <a:off x="822960" y="2091690"/>
            <a:ext cx="161163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1000"/>
              <a:buFont typeface="Montserrat"/>
              <a:buNone/>
            </a:pPr>
            <a:r>
              <a:rPr lang="en" sz="1000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Ngữ cảnh quá khứ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7" name="Google Shape;447;p12"/>
          <p:cNvSpPr/>
          <p:nvPr/>
        </p:nvSpPr>
        <p:spPr>
          <a:xfrm>
            <a:off x="3429000" y="1405890"/>
            <a:ext cx="2263140" cy="2228850"/>
          </a:xfrm>
          <a:prstGeom prst="roundRect">
            <a:avLst>
              <a:gd name="adj" fmla="val 2462"/>
            </a:avLst>
          </a:prstGeom>
          <a:solidFill>
            <a:srgbClr val="0A1D35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8" name="Google Shape;448;p12"/>
          <p:cNvSpPr/>
          <p:nvPr/>
        </p:nvSpPr>
        <p:spPr>
          <a:xfrm>
            <a:off x="3566160" y="1577340"/>
            <a:ext cx="188595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900"/>
              <a:buFont typeface="Montserrat"/>
              <a:buNone/>
            </a:pPr>
            <a:r>
              <a:rPr lang="en" sz="1900" b="1">
                <a:solidFill>
                  <a:srgbClr val="A78BFA"/>
                </a:solidFill>
                <a:latin typeface="Montserrat"/>
                <a:ea typeface="Montserrat"/>
                <a:cs typeface="Montserrat"/>
                <a:sym typeface="Montserrat"/>
              </a:rPr>
              <a:t>x(t)</a:t>
            </a:r>
            <a:endParaRPr sz="1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9" name="Google Shape;449;p12"/>
          <p:cNvSpPr/>
          <p:nvPr/>
        </p:nvSpPr>
        <p:spPr>
          <a:xfrm>
            <a:off x="3717036" y="2091690"/>
            <a:ext cx="15430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1000"/>
              <a:buFont typeface="Montserrat"/>
              <a:buNone/>
            </a:pPr>
            <a:r>
              <a:rPr lang="en" sz="1000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Thông tin hiện tại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0" name="Google Shape;450;p12"/>
          <p:cNvSpPr/>
          <p:nvPr/>
        </p:nvSpPr>
        <p:spPr>
          <a:xfrm>
            <a:off x="6309360" y="1405890"/>
            <a:ext cx="2263140" cy="2228850"/>
          </a:xfrm>
          <a:prstGeom prst="roundRect">
            <a:avLst>
              <a:gd name="adj" fmla="val 2462"/>
            </a:avLst>
          </a:prstGeom>
          <a:solidFill>
            <a:srgbClr val="0A1D35"/>
          </a:solidFill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1" name="Google Shape;451;p12"/>
          <p:cNvSpPr/>
          <p:nvPr/>
        </p:nvSpPr>
        <p:spPr>
          <a:xfrm>
            <a:off x="6446520" y="1577340"/>
            <a:ext cx="188595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4D9E5"/>
              </a:buClr>
              <a:buSzPts val="1900"/>
              <a:buFont typeface="Montserrat"/>
              <a:buNone/>
            </a:pPr>
            <a:r>
              <a:rPr lang="en" sz="1900" b="1">
                <a:solidFill>
                  <a:srgbClr val="14D9E5"/>
                </a:solidFill>
                <a:latin typeface="Montserrat"/>
                <a:ea typeface="Montserrat"/>
                <a:cs typeface="Montserrat"/>
                <a:sym typeface="Montserrat"/>
              </a:rPr>
              <a:t>h(t)</a:t>
            </a:r>
            <a:endParaRPr sz="1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2" name="Google Shape;452;p12"/>
          <p:cNvSpPr/>
          <p:nvPr/>
        </p:nvSpPr>
        <p:spPr>
          <a:xfrm>
            <a:off x="6412230" y="2091690"/>
            <a:ext cx="168021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1000"/>
              <a:buFont typeface="Montserrat"/>
              <a:buNone/>
            </a:pPr>
            <a:r>
              <a:rPr lang="en" sz="1000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Ngữ cảnh mới sau khi cập nhật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53" name="Google Shape;453;p12"/>
          <p:cNvCxnSpPr/>
          <p:nvPr/>
        </p:nvCxnSpPr>
        <p:spPr>
          <a:xfrm>
            <a:off x="2825496" y="2125980"/>
            <a:ext cx="569214" cy="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54" name="Google Shape;454;p12"/>
          <p:cNvCxnSpPr/>
          <p:nvPr/>
        </p:nvCxnSpPr>
        <p:spPr>
          <a:xfrm>
            <a:off x="5705856" y="2125980"/>
            <a:ext cx="569214" cy="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55" name="Google Shape;455;p12"/>
          <p:cNvSpPr/>
          <p:nvPr/>
        </p:nvSpPr>
        <p:spPr>
          <a:xfrm>
            <a:off x="891540" y="3943350"/>
            <a:ext cx="733806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D9E5"/>
              </a:buClr>
              <a:buSzPts val="1000"/>
              <a:buFont typeface="Montserrat"/>
              <a:buNone/>
            </a:pPr>
            <a:r>
              <a:rPr lang="en" sz="1000" b="1">
                <a:solidFill>
                  <a:srgbClr val="14D9E5"/>
                </a:solidFill>
                <a:latin typeface="Montserrat"/>
                <a:ea typeface="Montserrat"/>
                <a:cs typeface="Montserrat"/>
                <a:sym typeface="Montserrat"/>
              </a:rPr>
              <a:t>Hidden state không lưu nguyên dữ liệu cũ; nó là một biểu diễn số học được cập nhật sau mỗi bước.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1" name="Google Shape;461;p13"/>
          <p:cNvCxnSpPr/>
          <p:nvPr/>
        </p:nvCxnSpPr>
        <p:spPr>
          <a:xfrm>
            <a:off x="0" y="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62" name="Google Shape;462;p13"/>
          <p:cNvCxnSpPr/>
          <p:nvPr/>
        </p:nvCxnSpPr>
        <p:spPr>
          <a:xfrm>
            <a:off x="0" y="65151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63" name="Google Shape;463;p13"/>
          <p:cNvCxnSpPr/>
          <p:nvPr/>
        </p:nvCxnSpPr>
        <p:spPr>
          <a:xfrm>
            <a:off x="0" y="130302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64" name="Google Shape;464;p13"/>
          <p:cNvCxnSpPr/>
          <p:nvPr/>
        </p:nvCxnSpPr>
        <p:spPr>
          <a:xfrm>
            <a:off x="0" y="195453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65" name="Google Shape;465;p13"/>
          <p:cNvCxnSpPr/>
          <p:nvPr/>
        </p:nvCxnSpPr>
        <p:spPr>
          <a:xfrm>
            <a:off x="0" y="260604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66" name="Google Shape;466;p13"/>
          <p:cNvCxnSpPr/>
          <p:nvPr/>
        </p:nvCxnSpPr>
        <p:spPr>
          <a:xfrm>
            <a:off x="0" y="325755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67" name="Google Shape;467;p13"/>
          <p:cNvCxnSpPr/>
          <p:nvPr/>
        </p:nvCxnSpPr>
        <p:spPr>
          <a:xfrm>
            <a:off x="0" y="390906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68" name="Google Shape;468;p13"/>
          <p:cNvCxnSpPr/>
          <p:nvPr/>
        </p:nvCxnSpPr>
        <p:spPr>
          <a:xfrm>
            <a:off x="0" y="456057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69" name="Google Shape;469;p13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70" name="Google Shape;470;p13"/>
          <p:cNvCxnSpPr/>
          <p:nvPr/>
        </p:nvCxnSpPr>
        <p:spPr>
          <a:xfrm>
            <a:off x="7886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71" name="Google Shape;471;p13"/>
          <p:cNvCxnSpPr/>
          <p:nvPr/>
        </p:nvCxnSpPr>
        <p:spPr>
          <a:xfrm>
            <a:off x="157734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72" name="Google Shape;472;p13"/>
          <p:cNvCxnSpPr/>
          <p:nvPr/>
        </p:nvCxnSpPr>
        <p:spPr>
          <a:xfrm>
            <a:off x="236601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73" name="Google Shape;473;p13"/>
          <p:cNvCxnSpPr/>
          <p:nvPr/>
        </p:nvCxnSpPr>
        <p:spPr>
          <a:xfrm>
            <a:off x="315468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74" name="Google Shape;474;p13"/>
          <p:cNvCxnSpPr/>
          <p:nvPr/>
        </p:nvCxnSpPr>
        <p:spPr>
          <a:xfrm>
            <a:off x="394335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75" name="Google Shape;475;p13"/>
          <p:cNvCxnSpPr/>
          <p:nvPr/>
        </p:nvCxnSpPr>
        <p:spPr>
          <a:xfrm>
            <a:off x="473202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76" name="Google Shape;476;p13"/>
          <p:cNvCxnSpPr/>
          <p:nvPr/>
        </p:nvCxnSpPr>
        <p:spPr>
          <a:xfrm>
            <a:off x="552069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77" name="Google Shape;477;p13"/>
          <p:cNvCxnSpPr/>
          <p:nvPr/>
        </p:nvCxnSpPr>
        <p:spPr>
          <a:xfrm>
            <a:off x="630936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78" name="Google Shape;478;p13"/>
          <p:cNvCxnSpPr/>
          <p:nvPr/>
        </p:nvCxnSpPr>
        <p:spPr>
          <a:xfrm>
            <a:off x="709803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79" name="Google Shape;479;p13"/>
          <p:cNvCxnSpPr/>
          <p:nvPr/>
        </p:nvCxnSpPr>
        <p:spPr>
          <a:xfrm>
            <a:off x="788670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80" name="Google Shape;480;p13"/>
          <p:cNvCxnSpPr/>
          <p:nvPr/>
        </p:nvCxnSpPr>
        <p:spPr>
          <a:xfrm>
            <a:off x="86753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1" name="Google Shape;481;p13"/>
          <p:cNvSpPr/>
          <p:nvPr/>
        </p:nvSpPr>
        <p:spPr>
          <a:xfrm>
            <a:off x="0" y="0"/>
            <a:ext cx="9143771" cy="246888"/>
          </a:xfrm>
          <a:prstGeom prst="rect">
            <a:avLst/>
          </a:prstGeom>
          <a:solidFill>
            <a:srgbClr val="04101F"/>
          </a:solidFill>
          <a:ln w="12700" cap="flat" cmpd="sng">
            <a:solidFill>
              <a:srgbClr val="0410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2" name="Google Shape;482;p13"/>
          <p:cNvSpPr/>
          <p:nvPr/>
        </p:nvSpPr>
        <p:spPr>
          <a:xfrm>
            <a:off x="260604" y="68580"/>
            <a:ext cx="322326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RNN · PHÁT TRIỂN HỆ THỐNG THÔNG MINH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3" name="Google Shape;483;p13"/>
          <p:cNvSpPr/>
          <p:nvPr/>
        </p:nvSpPr>
        <p:spPr>
          <a:xfrm>
            <a:off x="3531870" y="61722"/>
            <a:ext cx="3429000" cy="123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D9E5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14D9E5"/>
                </a:solidFill>
                <a:latin typeface="Montserrat"/>
                <a:ea typeface="Montserrat"/>
                <a:cs typeface="Montserrat"/>
                <a:sym typeface="Montserrat"/>
              </a:rPr>
              <a:t>PHẦN 2 · KIẾN TRÚC RNN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4" name="Google Shape;484;p13"/>
          <p:cNvSpPr/>
          <p:nvPr/>
        </p:nvSpPr>
        <p:spPr>
          <a:xfrm>
            <a:off x="425196" y="493776"/>
            <a:ext cx="507492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7FF"/>
              </a:buClr>
              <a:buSzPts val="2000"/>
              <a:buFont typeface="Montserrat"/>
              <a:buNone/>
            </a:pPr>
            <a:r>
              <a:rPr lang="en" sz="2000" b="1">
                <a:solidFill>
                  <a:srgbClr val="F2F7FF"/>
                </a:solidFill>
                <a:latin typeface="Montserrat"/>
                <a:ea typeface="Montserrat"/>
                <a:cs typeface="Montserrat"/>
                <a:sym typeface="Montserrat"/>
              </a:rPr>
              <a:t>RNN xử lý một chuỗi như thế nào?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5" name="Google Shape;485;p13"/>
          <p:cNvSpPr/>
          <p:nvPr/>
        </p:nvSpPr>
        <p:spPr>
          <a:xfrm>
            <a:off x="438912" y="850392"/>
            <a:ext cx="5486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700"/>
              <a:buFont typeface="Montserrat"/>
              <a:buNone/>
            </a:pPr>
            <a:r>
              <a:rPr lang="en" sz="700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Hidden state được truyền liên tục qua từng bước thời gian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6" name="Google Shape;486;p13"/>
          <p:cNvSpPr/>
          <p:nvPr/>
        </p:nvSpPr>
        <p:spPr>
          <a:xfrm>
            <a:off x="822960" y="2057400"/>
            <a:ext cx="946404" cy="630936"/>
          </a:xfrm>
          <a:prstGeom prst="roundRect">
            <a:avLst>
              <a:gd name="adj" fmla="val 8696"/>
            </a:avLst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7" name="Google Shape;487;p13"/>
          <p:cNvSpPr/>
          <p:nvPr/>
        </p:nvSpPr>
        <p:spPr>
          <a:xfrm>
            <a:off x="850392" y="2153412"/>
            <a:ext cx="891540" cy="26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lang="en" sz="12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RNN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8" name="Google Shape;488;p13"/>
          <p:cNvSpPr/>
          <p:nvPr/>
        </p:nvSpPr>
        <p:spPr>
          <a:xfrm>
            <a:off x="1097280" y="2798064"/>
            <a:ext cx="397764" cy="397764"/>
          </a:xfrm>
          <a:prstGeom prst="ellipse">
            <a:avLst/>
          </a:prstGeom>
          <a:solidFill>
            <a:srgbClr val="A78BFA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9" name="Google Shape;489;p13"/>
          <p:cNvSpPr/>
          <p:nvPr/>
        </p:nvSpPr>
        <p:spPr>
          <a:xfrm>
            <a:off x="1110996" y="2905460"/>
            <a:ext cx="370332" cy="135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Montserrat"/>
              <a:buNone/>
            </a:pPr>
            <a:r>
              <a:rPr lang="en" sz="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x(1)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0" name="Google Shape;490;p13"/>
          <p:cNvSpPr/>
          <p:nvPr/>
        </p:nvSpPr>
        <p:spPr>
          <a:xfrm>
            <a:off x="1097280" y="1495044"/>
            <a:ext cx="397764" cy="397764"/>
          </a:xfrm>
          <a:prstGeom prst="ellipse">
            <a:avLst/>
          </a:prstGeom>
          <a:solidFill>
            <a:srgbClr val="14D9E5"/>
          </a:solidFill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1" name="Google Shape;491;p13"/>
          <p:cNvSpPr/>
          <p:nvPr/>
        </p:nvSpPr>
        <p:spPr>
          <a:xfrm>
            <a:off x="1110996" y="1602440"/>
            <a:ext cx="370332" cy="135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Montserrat"/>
              <a:buNone/>
            </a:pPr>
            <a:r>
              <a:rPr lang="en" sz="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h(1)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2" name="Google Shape;492;p13"/>
          <p:cNvSpPr/>
          <p:nvPr/>
        </p:nvSpPr>
        <p:spPr>
          <a:xfrm>
            <a:off x="192024" y="2173986"/>
            <a:ext cx="356616" cy="356616"/>
          </a:xfrm>
          <a:prstGeom prst="ellipse">
            <a:avLst/>
          </a:prstGeom>
          <a:solidFill>
            <a:srgbClr val="F472B6"/>
          </a:solidFill>
          <a:ln w="12700" cap="flat" cmpd="sng">
            <a:solidFill>
              <a:srgbClr val="F472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3" name="Google Shape;493;p13"/>
          <p:cNvSpPr/>
          <p:nvPr/>
        </p:nvSpPr>
        <p:spPr>
          <a:xfrm>
            <a:off x="205740" y="2270273"/>
            <a:ext cx="329184" cy="121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h(0)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94" name="Google Shape;494;p13"/>
          <p:cNvCxnSpPr/>
          <p:nvPr/>
        </p:nvCxnSpPr>
        <p:spPr>
          <a:xfrm>
            <a:off x="548640" y="2352294"/>
            <a:ext cx="274320" cy="0"/>
          </a:xfrm>
          <a:prstGeom prst="straightConnector1">
            <a:avLst/>
          </a:prstGeom>
          <a:noFill/>
          <a:ln w="12700" cap="flat" cmpd="sng">
            <a:solidFill>
              <a:srgbClr val="F472B6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95" name="Google Shape;495;p13"/>
          <p:cNvSpPr/>
          <p:nvPr/>
        </p:nvSpPr>
        <p:spPr>
          <a:xfrm>
            <a:off x="2434590" y="2057400"/>
            <a:ext cx="946404" cy="630936"/>
          </a:xfrm>
          <a:prstGeom prst="roundRect">
            <a:avLst>
              <a:gd name="adj" fmla="val 8696"/>
            </a:avLst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6" name="Google Shape;496;p13"/>
          <p:cNvSpPr/>
          <p:nvPr/>
        </p:nvSpPr>
        <p:spPr>
          <a:xfrm>
            <a:off x="2462022" y="2153412"/>
            <a:ext cx="891540" cy="26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lang="en" sz="12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RNN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7" name="Google Shape;497;p13"/>
          <p:cNvSpPr/>
          <p:nvPr/>
        </p:nvSpPr>
        <p:spPr>
          <a:xfrm>
            <a:off x="2708910" y="2798064"/>
            <a:ext cx="397764" cy="397764"/>
          </a:xfrm>
          <a:prstGeom prst="ellipse">
            <a:avLst/>
          </a:prstGeom>
          <a:solidFill>
            <a:srgbClr val="A78BFA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8" name="Google Shape;498;p13"/>
          <p:cNvSpPr/>
          <p:nvPr/>
        </p:nvSpPr>
        <p:spPr>
          <a:xfrm>
            <a:off x="2722626" y="2905460"/>
            <a:ext cx="370332" cy="135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Montserrat"/>
              <a:buNone/>
            </a:pPr>
            <a:r>
              <a:rPr lang="en" sz="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x(2)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9" name="Google Shape;499;p13"/>
          <p:cNvSpPr/>
          <p:nvPr/>
        </p:nvSpPr>
        <p:spPr>
          <a:xfrm>
            <a:off x="2708910" y="1495044"/>
            <a:ext cx="397764" cy="397764"/>
          </a:xfrm>
          <a:prstGeom prst="ellipse">
            <a:avLst/>
          </a:prstGeom>
          <a:solidFill>
            <a:srgbClr val="14D9E5"/>
          </a:solidFill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0" name="Google Shape;500;p13"/>
          <p:cNvSpPr/>
          <p:nvPr/>
        </p:nvSpPr>
        <p:spPr>
          <a:xfrm>
            <a:off x="2722626" y="1602440"/>
            <a:ext cx="370332" cy="135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Montserrat"/>
              <a:buNone/>
            </a:pPr>
            <a:r>
              <a:rPr lang="en" sz="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h(2)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01" name="Google Shape;501;p13"/>
          <p:cNvCxnSpPr/>
          <p:nvPr/>
        </p:nvCxnSpPr>
        <p:spPr>
          <a:xfrm>
            <a:off x="1769364" y="2372868"/>
            <a:ext cx="665226" cy="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02" name="Google Shape;502;p13"/>
          <p:cNvSpPr/>
          <p:nvPr/>
        </p:nvSpPr>
        <p:spPr>
          <a:xfrm>
            <a:off x="4046220" y="2057400"/>
            <a:ext cx="946404" cy="630936"/>
          </a:xfrm>
          <a:prstGeom prst="roundRect">
            <a:avLst>
              <a:gd name="adj" fmla="val 8696"/>
            </a:avLst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3" name="Google Shape;503;p13"/>
          <p:cNvSpPr/>
          <p:nvPr/>
        </p:nvSpPr>
        <p:spPr>
          <a:xfrm>
            <a:off x="4073652" y="2153412"/>
            <a:ext cx="891540" cy="26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lang="en" sz="12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RNN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4" name="Google Shape;504;p13"/>
          <p:cNvSpPr/>
          <p:nvPr/>
        </p:nvSpPr>
        <p:spPr>
          <a:xfrm>
            <a:off x="4320540" y="2798064"/>
            <a:ext cx="397764" cy="397764"/>
          </a:xfrm>
          <a:prstGeom prst="ellipse">
            <a:avLst/>
          </a:prstGeom>
          <a:solidFill>
            <a:srgbClr val="A78BFA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5" name="Google Shape;505;p13"/>
          <p:cNvSpPr/>
          <p:nvPr/>
        </p:nvSpPr>
        <p:spPr>
          <a:xfrm>
            <a:off x="4334256" y="2905460"/>
            <a:ext cx="370332" cy="135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Montserrat"/>
              <a:buNone/>
            </a:pPr>
            <a:r>
              <a:rPr lang="en" sz="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x(3)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6" name="Google Shape;506;p13"/>
          <p:cNvSpPr/>
          <p:nvPr/>
        </p:nvSpPr>
        <p:spPr>
          <a:xfrm>
            <a:off x="4320540" y="1495044"/>
            <a:ext cx="397764" cy="397764"/>
          </a:xfrm>
          <a:prstGeom prst="ellipse">
            <a:avLst/>
          </a:prstGeom>
          <a:solidFill>
            <a:srgbClr val="14D9E5"/>
          </a:solidFill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7" name="Google Shape;507;p13"/>
          <p:cNvSpPr/>
          <p:nvPr/>
        </p:nvSpPr>
        <p:spPr>
          <a:xfrm>
            <a:off x="4334256" y="1602440"/>
            <a:ext cx="370332" cy="135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Montserrat"/>
              <a:buNone/>
            </a:pPr>
            <a:r>
              <a:rPr lang="en" sz="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h(3)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08" name="Google Shape;508;p13"/>
          <p:cNvCxnSpPr/>
          <p:nvPr/>
        </p:nvCxnSpPr>
        <p:spPr>
          <a:xfrm>
            <a:off x="3380994" y="2372868"/>
            <a:ext cx="665226" cy="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09" name="Google Shape;509;p13"/>
          <p:cNvSpPr/>
          <p:nvPr/>
        </p:nvSpPr>
        <p:spPr>
          <a:xfrm>
            <a:off x="5657850" y="2057400"/>
            <a:ext cx="946404" cy="630936"/>
          </a:xfrm>
          <a:prstGeom prst="roundRect">
            <a:avLst>
              <a:gd name="adj" fmla="val 8696"/>
            </a:avLst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0" name="Google Shape;510;p13"/>
          <p:cNvSpPr/>
          <p:nvPr/>
        </p:nvSpPr>
        <p:spPr>
          <a:xfrm>
            <a:off x="5685282" y="2153412"/>
            <a:ext cx="891540" cy="26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lang="en" sz="12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RNN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1" name="Google Shape;511;p13"/>
          <p:cNvSpPr/>
          <p:nvPr/>
        </p:nvSpPr>
        <p:spPr>
          <a:xfrm>
            <a:off x="5932170" y="2798064"/>
            <a:ext cx="397764" cy="397764"/>
          </a:xfrm>
          <a:prstGeom prst="ellipse">
            <a:avLst/>
          </a:prstGeom>
          <a:solidFill>
            <a:srgbClr val="A78BFA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2" name="Google Shape;512;p13"/>
          <p:cNvSpPr/>
          <p:nvPr/>
        </p:nvSpPr>
        <p:spPr>
          <a:xfrm>
            <a:off x="5945886" y="2905460"/>
            <a:ext cx="370332" cy="135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Montserrat"/>
              <a:buNone/>
            </a:pPr>
            <a:r>
              <a:rPr lang="en" sz="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x(4)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3" name="Google Shape;513;p13"/>
          <p:cNvSpPr/>
          <p:nvPr/>
        </p:nvSpPr>
        <p:spPr>
          <a:xfrm>
            <a:off x="5932170" y="1495044"/>
            <a:ext cx="397764" cy="397764"/>
          </a:xfrm>
          <a:prstGeom prst="ellipse">
            <a:avLst/>
          </a:prstGeom>
          <a:solidFill>
            <a:srgbClr val="14D9E5"/>
          </a:solidFill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4" name="Google Shape;514;p13"/>
          <p:cNvSpPr/>
          <p:nvPr/>
        </p:nvSpPr>
        <p:spPr>
          <a:xfrm>
            <a:off x="5945886" y="1602440"/>
            <a:ext cx="370332" cy="135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Montserrat"/>
              <a:buNone/>
            </a:pPr>
            <a:r>
              <a:rPr lang="en" sz="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h(4)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15" name="Google Shape;515;p13"/>
          <p:cNvCxnSpPr/>
          <p:nvPr/>
        </p:nvCxnSpPr>
        <p:spPr>
          <a:xfrm>
            <a:off x="4992624" y="2372868"/>
            <a:ext cx="665226" cy="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16" name="Google Shape;516;p13"/>
          <p:cNvSpPr/>
          <p:nvPr/>
        </p:nvSpPr>
        <p:spPr>
          <a:xfrm>
            <a:off x="514351" y="3806190"/>
            <a:ext cx="7989569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Tại mỗi time step, RNN kết hợp input hiện tại x(t) với hidden state trước đó h(t−1) để tạo hidden state mới h(t).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17" name="Google Shape;517;p13"/>
          <p:cNvCxnSpPr/>
          <p:nvPr/>
        </p:nvCxnSpPr>
        <p:spPr>
          <a:xfrm rot="10800000">
            <a:off x="1296162" y="2660905"/>
            <a:ext cx="0" cy="138581"/>
          </a:xfrm>
          <a:prstGeom prst="straightConnector1">
            <a:avLst/>
          </a:prstGeom>
          <a:noFill/>
          <a:ln w="12700" cap="flat" cmpd="sng">
            <a:solidFill>
              <a:srgbClr val="F472B6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18" name="Google Shape;518;p13"/>
          <p:cNvCxnSpPr/>
          <p:nvPr/>
        </p:nvCxnSpPr>
        <p:spPr>
          <a:xfrm rot="10800000">
            <a:off x="2899450" y="2660905"/>
            <a:ext cx="0" cy="138581"/>
          </a:xfrm>
          <a:prstGeom prst="straightConnector1">
            <a:avLst/>
          </a:prstGeom>
          <a:noFill/>
          <a:ln w="12700" cap="flat" cmpd="sng">
            <a:solidFill>
              <a:srgbClr val="F472B6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19" name="Google Shape;519;p13"/>
          <p:cNvCxnSpPr/>
          <p:nvPr/>
        </p:nvCxnSpPr>
        <p:spPr>
          <a:xfrm rot="10800000">
            <a:off x="4499651" y="2660905"/>
            <a:ext cx="0" cy="138581"/>
          </a:xfrm>
          <a:prstGeom prst="straightConnector1">
            <a:avLst/>
          </a:prstGeom>
          <a:noFill/>
          <a:ln w="12700" cap="flat" cmpd="sng">
            <a:solidFill>
              <a:srgbClr val="F472B6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20" name="Google Shape;520;p13"/>
          <p:cNvCxnSpPr/>
          <p:nvPr/>
        </p:nvCxnSpPr>
        <p:spPr>
          <a:xfrm rot="10800000">
            <a:off x="6130743" y="2677463"/>
            <a:ext cx="0" cy="138581"/>
          </a:xfrm>
          <a:prstGeom prst="straightConnector1">
            <a:avLst/>
          </a:prstGeom>
          <a:noFill/>
          <a:ln w="12700" cap="flat" cmpd="sng">
            <a:solidFill>
              <a:srgbClr val="F472B6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21" name="Google Shape;521;p13"/>
          <p:cNvCxnSpPr/>
          <p:nvPr/>
        </p:nvCxnSpPr>
        <p:spPr>
          <a:xfrm rot="10800000">
            <a:off x="1296162" y="1892807"/>
            <a:ext cx="0" cy="192022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22" name="Google Shape;522;p13"/>
          <p:cNvCxnSpPr/>
          <p:nvPr/>
        </p:nvCxnSpPr>
        <p:spPr>
          <a:xfrm rot="10800000">
            <a:off x="2899450" y="1876496"/>
            <a:ext cx="0" cy="192022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23" name="Google Shape;523;p13"/>
          <p:cNvCxnSpPr/>
          <p:nvPr/>
        </p:nvCxnSpPr>
        <p:spPr>
          <a:xfrm rot="10800000">
            <a:off x="4499651" y="1876496"/>
            <a:ext cx="0" cy="192022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24" name="Google Shape;524;p13"/>
          <p:cNvCxnSpPr/>
          <p:nvPr/>
        </p:nvCxnSpPr>
        <p:spPr>
          <a:xfrm rot="10800000">
            <a:off x="6130743" y="1882674"/>
            <a:ext cx="0" cy="192023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0" name="Google Shape;530;p14"/>
          <p:cNvCxnSpPr/>
          <p:nvPr/>
        </p:nvCxnSpPr>
        <p:spPr>
          <a:xfrm>
            <a:off x="0" y="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31" name="Google Shape;531;p14"/>
          <p:cNvCxnSpPr/>
          <p:nvPr/>
        </p:nvCxnSpPr>
        <p:spPr>
          <a:xfrm>
            <a:off x="0" y="65151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32" name="Google Shape;532;p14"/>
          <p:cNvCxnSpPr/>
          <p:nvPr/>
        </p:nvCxnSpPr>
        <p:spPr>
          <a:xfrm>
            <a:off x="0" y="130302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33" name="Google Shape;533;p14"/>
          <p:cNvCxnSpPr/>
          <p:nvPr/>
        </p:nvCxnSpPr>
        <p:spPr>
          <a:xfrm>
            <a:off x="438912" y="195453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34" name="Google Shape;534;p14"/>
          <p:cNvCxnSpPr/>
          <p:nvPr/>
        </p:nvCxnSpPr>
        <p:spPr>
          <a:xfrm>
            <a:off x="0" y="260604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35" name="Google Shape;535;p14"/>
          <p:cNvCxnSpPr/>
          <p:nvPr/>
        </p:nvCxnSpPr>
        <p:spPr>
          <a:xfrm>
            <a:off x="0" y="325755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36" name="Google Shape;536;p14"/>
          <p:cNvCxnSpPr/>
          <p:nvPr/>
        </p:nvCxnSpPr>
        <p:spPr>
          <a:xfrm>
            <a:off x="0" y="390906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37" name="Google Shape;537;p14"/>
          <p:cNvCxnSpPr/>
          <p:nvPr/>
        </p:nvCxnSpPr>
        <p:spPr>
          <a:xfrm>
            <a:off x="0" y="456057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38" name="Google Shape;538;p14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39" name="Google Shape;539;p14"/>
          <p:cNvCxnSpPr/>
          <p:nvPr/>
        </p:nvCxnSpPr>
        <p:spPr>
          <a:xfrm>
            <a:off x="7886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40" name="Google Shape;540;p14"/>
          <p:cNvCxnSpPr/>
          <p:nvPr/>
        </p:nvCxnSpPr>
        <p:spPr>
          <a:xfrm>
            <a:off x="157734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41" name="Google Shape;541;p14"/>
          <p:cNvCxnSpPr/>
          <p:nvPr/>
        </p:nvCxnSpPr>
        <p:spPr>
          <a:xfrm>
            <a:off x="236601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42" name="Google Shape;542;p14"/>
          <p:cNvCxnSpPr/>
          <p:nvPr/>
        </p:nvCxnSpPr>
        <p:spPr>
          <a:xfrm>
            <a:off x="315468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43" name="Google Shape;543;p14"/>
          <p:cNvCxnSpPr/>
          <p:nvPr/>
        </p:nvCxnSpPr>
        <p:spPr>
          <a:xfrm>
            <a:off x="394335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44" name="Google Shape;544;p14"/>
          <p:cNvCxnSpPr/>
          <p:nvPr/>
        </p:nvCxnSpPr>
        <p:spPr>
          <a:xfrm>
            <a:off x="473202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45" name="Google Shape;545;p14"/>
          <p:cNvCxnSpPr/>
          <p:nvPr/>
        </p:nvCxnSpPr>
        <p:spPr>
          <a:xfrm>
            <a:off x="552069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46" name="Google Shape;546;p14"/>
          <p:cNvCxnSpPr/>
          <p:nvPr/>
        </p:nvCxnSpPr>
        <p:spPr>
          <a:xfrm>
            <a:off x="630936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47" name="Google Shape;547;p14"/>
          <p:cNvCxnSpPr/>
          <p:nvPr/>
        </p:nvCxnSpPr>
        <p:spPr>
          <a:xfrm>
            <a:off x="709803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48" name="Google Shape;548;p14"/>
          <p:cNvCxnSpPr/>
          <p:nvPr/>
        </p:nvCxnSpPr>
        <p:spPr>
          <a:xfrm>
            <a:off x="788670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49" name="Google Shape;549;p14"/>
          <p:cNvCxnSpPr/>
          <p:nvPr/>
        </p:nvCxnSpPr>
        <p:spPr>
          <a:xfrm>
            <a:off x="86753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50" name="Google Shape;550;p14"/>
          <p:cNvSpPr/>
          <p:nvPr/>
        </p:nvSpPr>
        <p:spPr>
          <a:xfrm>
            <a:off x="0" y="0"/>
            <a:ext cx="9143771" cy="246888"/>
          </a:xfrm>
          <a:prstGeom prst="rect">
            <a:avLst/>
          </a:prstGeom>
          <a:solidFill>
            <a:srgbClr val="04101F"/>
          </a:solidFill>
          <a:ln w="12700" cap="flat" cmpd="sng">
            <a:solidFill>
              <a:srgbClr val="0410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1" name="Google Shape;551;p14"/>
          <p:cNvSpPr/>
          <p:nvPr/>
        </p:nvSpPr>
        <p:spPr>
          <a:xfrm>
            <a:off x="260604" y="68580"/>
            <a:ext cx="322326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RNN · PHÁT TRIỂN HỆ THỐNG THÔNG MINH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2" name="Google Shape;552;p14"/>
          <p:cNvSpPr/>
          <p:nvPr/>
        </p:nvSpPr>
        <p:spPr>
          <a:xfrm>
            <a:off x="3531870" y="61722"/>
            <a:ext cx="3429000" cy="123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D9E5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14D9E5"/>
                </a:solidFill>
                <a:latin typeface="Montserrat"/>
                <a:ea typeface="Montserrat"/>
                <a:cs typeface="Montserrat"/>
                <a:sym typeface="Montserrat"/>
              </a:rPr>
              <a:t>PHẦN 2 · KIẾN TRÚC RNN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3" name="Google Shape;553;p14"/>
          <p:cNvSpPr/>
          <p:nvPr/>
        </p:nvSpPr>
        <p:spPr>
          <a:xfrm>
            <a:off x="425196" y="493776"/>
            <a:ext cx="507492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7FF"/>
              </a:buClr>
              <a:buSzPts val="2000"/>
              <a:buFont typeface="Montserrat"/>
              <a:buNone/>
            </a:pPr>
            <a:r>
              <a:rPr lang="en" sz="2000" b="1">
                <a:solidFill>
                  <a:srgbClr val="F2F7FF"/>
                </a:solidFill>
                <a:latin typeface="Montserrat"/>
                <a:ea typeface="Montserrat"/>
                <a:cs typeface="Montserrat"/>
                <a:sym typeface="Montserrat"/>
              </a:rPr>
              <a:t>Unrolling RNN theo thời gian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4" name="Google Shape;554;p14"/>
          <p:cNvSpPr/>
          <p:nvPr/>
        </p:nvSpPr>
        <p:spPr>
          <a:xfrm>
            <a:off x="438912" y="850392"/>
            <a:ext cx="5486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700"/>
              <a:buFont typeface="Montserrat"/>
              <a:buNone/>
            </a:pPr>
            <a:r>
              <a:rPr lang="en" sz="700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Một cell có vòng lặp được mở thành chuỗi cell dùng chung trọng số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5" name="Google Shape;555;p14"/>
          <p:cNvSpPr/>
          <p:nvPr/>
        </p:nvSpPr>
        <p:spPr>
          <a:xfrm>
            <a:off x="720090" y="3874770"/>
            <a:ext cx="768096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Unrolling biểu diễn một RNN Cell lặp lại qua các time step; các cell dùng chung tham số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56" name="Google Shape;556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8670" y="1328592"/>
            <a:ext cx="7515070" cy="24693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2" name="Google Shape;562;p15"/>
          <p:cNvCxnSpPr/>
          <p:nvPr/>
        </p:nvCxnSpPr>
        <p:spPr>
          <a:xfrm>
            <a:off x="0" y="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63" name="Google Shape;563;p15"/>
          <p:cNvCxnSpPr/>
          <p:nvPr/>
        </p:nvCxnSpPr>
        <p:spPr>
          <a:xfrm>
            <a:off x="0" y="65151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64" name="Google Shape;564;p15"/>
          <p:cNvCxnSpPr/>
          <p:nvPr/>
        </p:nvCxnSpPr>
        <p:spPr>
          <a:xfrm>
            <a:off x="0" y="130302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65" name="Google Shape;565;p15"/>
          <p:cNvCxnSpPr/>
          <p:nvPr/>
        </p:nvCxnSpPr>
        <p:spPr>
          <a:xfrm>
            <a:off x="0" y="195453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66" name="Google Shape;566;p15"/>
          <p:cNvCxnSpPr/>
          <p:nvPr/>
        </p:nvCxnSpPr>
        <p:spPr>
          <a:xfrm>
            <a:off x="0" y="260604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67" name="Google Shape;567;p15"/>
          <p:cNvCxnSpPr/>
          <p:nvPr/>
        </p:nvCxnSpPr>
        <p:spPr>
          <a:xfrm>
            <a:off x="0" y="325755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68" name="Google Shape;568;p15"/>
          <p:cNvCxnSpPr/>
          <p:nvPr/>
        </p:nvCxnSpPr>
        <p:spPr>
          <a:xfrm>
            <a:off x="0" y="390906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69" name="Google Shape;569;p15"/>
          <p:cNvCxnSpPr/>
          <p:nvPr/>
        </p:nvCxnSpPr>
        <p:spPr>
          <a:xfrm>
            <a:off x="0" y="456057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0" name="Google Shape;570;p15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1" name="Google Shape;571;p15"/>
          <p:cNvCxnSpPr/>
          <p:nvPr/>
        </p:nvCxnSpPr>
        <p:spPr>
          <a:xfrm>
            <a:off x="7886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2" name="Google Shape;572;p15"/>
          <p:cNvCxnSpPr/>
          <p:nvPr/>
        </p:nvCxnSpPr>
        <p:spPr>
          <a:xfrm>
            <a:off x="157734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3" name="Google Shape;573;p15"/>
          <p:cNvCxnSpPr/>
          <p:nvPr/>
        </p:nvCxnSpPr>
        <p:spPr>
          <a:xfrm>
            <a:off x="236601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4" name="Google Shape;574;p15"/>
          <p:cNvCxnSpPr/>
          <p:nvPr/>
        </p:nvCxnSpPr>
        <p:spPr>
          <a:xfrm>
            <a:off x="315468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5" name="Google Shape;575;p15"/>
          <p:cNvCxnSpPr/>
          <p:nvPr/>
        </p:nvCxnSpPr>
        <p:spPr>
          <a:xfrm>
            <a:off x="394335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6" name="Google Shape;576;p15"/>
          <p:cNvCxnSpPr/>
          <p:nvPr/>
        </p:nvCxnSpPr>
        <p:spPr>
          <a:xfrm>
            <a:off x="473202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7" name="Google Shape;577;p15"/>
          <p:cNvCxnSpPr/>
          <p:nvPr/>
        </p:nvCxnSpPr>
        <p:spPr>
          <a:xfrm>
            <a:off x="552069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8" name="Google Shape;578;p15"/>
          <p:cNvCxnSpPr/>
          <p:nvPr/>
        </p:nvCxnSpPr>
        <p:spPr>
          <a:xfrm>
            <a:off x="630936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9" name="Google Shape;579;p15"/>
          <p:cNvCxnSpPr/>
          <p:nvPr/>
        </p:nvCxnSpPr>
        <p:spPr>
          <a:xfrm>
            <a:off x="709803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80" name="Google Shape;580;p15"/>
          <p:cNvCxnSpPr/>
          <p:nvPr/>
        </p:nvCxnSpPr>
        <p:spPr>
          <a:xfrm>
            <a:off x="788670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81" name="Google Shape;581;p15"/>
          <p:cNvCxnSpPr/>
          <p:nvPr/>
        </p:nvCxnSpPr>
        <p:spPr>
          <a:xfrm>
            <a:off x="86753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2" name="Google Shape;582;p15"/>
          <p:cNvSpPr/>
          <p:nvPr/>
        </p:nvSpPr>
        <p:spPr>
          <a:xfrm>
            <a:off x="0" y="0"/>
            <a:ext cx="9143771" cy="246888"/>
          </a:xfrm>
          <a:prstGeom prst="rect">
            <a:avLst/>
          </a:prstGeom>
          <a:solidFill>
            <a:srgbClr val="04101F"/>
          </a:solidFill>
          <a:ln w="12700" cap="flat" cmpd="sng">
            <a:solidFill>
              <a:srgbClr val="0410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3" name="Google Shape;583;p15"/>
          <p:cNvSpPr/>
          <p:nvPr/>
        </p:nvSpPr>
        <p:spPr>
          <a:xfrm>
            <a:off x="260604" y="68580"/>
            <a:ext cx="322326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RNN · PHÁT TRIỂN HỆ THỐNG THÔNG MINH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4" name="Google Shape;584;p15"/>
          <p:cNvSpPr/>
          <p:nvPr/>
        </p:nvSpPr>
        <p:spPr>
          <a:xfrm>
            <a:off x="3531870" y="61722"/>
            <a:ext cx="3429000" cy="123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D9E5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14D9E5"/>
                </a:solidFill>
                <a:latin typeface="Montserrat"/>
                <a:ea typeface="Montserrat"/>
                <a:cs typeface="Montserrat"/>
                <a:sym typeface="Montserrat"/>
              </a:rPr>
              <a:t>PHẦN 2 · KIẾN TRÚC RNN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5" name="Google Shape;585;p15"/>
          <p:cNvSpPr/>
          <p:nvPr/>
        </p:nvSpPr>
        <p:spPr>
          <a:xfrm>
            <a:off x="425196" y="493776"/>
            <a:ext cx="507492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7FF"/>
              </a:buClr>
              <a:buSzPts val="2000"/>
              <a:buFont typeface="Montserrat"/>
              <a:buNone/>
            </a:pPr>
            <a:r>
              <a:rPr lang="en" sz="2000" b="1">
                <a:solidFill>
                  <a:srgbClr val="F2F7FF"/>
                </a:solidFill>
                <a:latin typeface="Montserrat"/>
                <a:ea typeface="Montserrat"/>
                <a:cs typeface="Montserrat"/>
                <a:sym typeface="Montserrat"/>
              </a:rPr>
              <a:t>Weight Sharing trong RNN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6" name="Google Shape;586;p15"/>
          <p:cNvSpPr/>
          <p:nvPr/>
        </p:nvSpPr>
        <p:spPr>
          <a:xfrm>
            <a:off x="438912" y="850392"/>
            <a:ext cx="5486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700"/>
              <a:buFont typeface="Montserrat"/>
              <a:buNone/>
            </a:pPr>
            <a:r>
              <a:rPr lang="en" sz="700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Cùng một bộ trọng số được dùng tại mọi time step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7" name="Google Shape;587;p15"/>
          <p:cNvSpPr/>
          <p:nvPr/>
        </p:nvSpPr>
        <p:spPr>
          <a:xfrm>
            <a:off x="1062990" y="3874770"/>
            <a:ext cx="2091690" cy="377190"/>
          </a:xfrm>
          <a:prstGeom prst="roundRect">
            <a:avLst>
              <a:gd name="adj" fmla="val 14545"/>
            </a:avLst>
          </a:prstGeom>
          <a:solidFill>
            <a:srgbClr val="0A1D35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8" name="Google Shape;588;p15"/>
          <p:cNvSpPr/>
          <p:nvPr/>
        </p:nvSpPr>
        <p:spPr>
          <a:xfrm>
            <a:off x="1200150" y="3991356"/>
            <a:ext cx="1817370" cy="89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700"/>
              <a:buFont typeface="Montserrat"/>
              <a:buNone/>
            </a:pPr>
            <a:r>
              <a:rPr lang="en" sz="700" b="1">
                <a:solidFill>
                  <a:srgbClr val="A78BFA"/>
                </a:solidFill>
                <a:latin typeface="Montserrat"/>
                <a:ea typeface="Montserrat"/>
                <a:cs typeface="Montserrat"/>
                <a:sym typeface="Montserrat"/>
              </a:rPr>
              <a:t>Wxh  ·  input → hidden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9" name="Google Shape;589;p15"/>
          <p:cNvSpPr/>
          <p:nvPr/>
        </p:nvSpPr>
        <p:spPr>
          <a:xfrm>
            <a:off x="3566160" y="3874770"/>
            <a:ext cx="2091690" cy="377190"/>
          </a:xfrm>
          <a:prstGeom prst="roundRect">
            <a:avLst>
              <a:gd name="adj" fmla="val 14545"/>
            </a:avLst>
          </a:prstGeom>
          <a:solidFill>
            <a:srgbClr val="0A1D35"/>
          </a:solidFill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0" name="Google Shape;590;p15"/>
          <p:cNvSpPr/>
          <p:nvPr/>
        </p:nvSpPr>
        <p:spPr>
          <a:xfrm>
            <a:off x="3703320" y="3991356"/>
            <a:ext cx="1817370" cy="89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4D9E5"/>
              </a:buClr>
              <a:buSzPts val="700"/>
              <a:buFont typeface="Montserrat"/>
              <a:buNone/>
            </a:pPr>
            <a:r>
              <a:rPr lang="en" sz="700" b="1">
                <a:solidFill>
                  <a:srgbClr val="14D9E5"/>
                </a:solidFill>
                <a:latin typeface="Montserrat"/>
                <a:ea typeface="Montserrat"/>
                <a:cs typeface="Montserrat"/>
                <a:sym typeface="Montserrat"/>
              </a:rPr>
              <a:t>Whh  ·  hidden → hidden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1" name="Google Shape;591;p15"/>
          <p:cNvSpPr/>
          <p:nvPr/>
        </p:nvSpPr>
        <p:spPr>
          <a:xfrm>
            <a:off x="6069330" y="3874770"/>
            <a:ext cx="2091690" cy="377190"/>
          </a:xfrm>
          <a:prstGeom prst="roundRect">
            <a:avLst>
              <a:gd name="adj" fmla="val 14545"/>
            </a:avLst>
          </a:prstGeom>
          <a:solidFill>
            <a:srgbClr val="0A1D35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2" name="Google Shape;592;p15"/>
          <p:cNvSpPr/>
          <p:nvPr/>
        </p:nvSpPr>
        <p:spPr>
          <a:xfrm>
            <a:off x="6206490" y="3991356"/>
            <a:ext cx="1817370" cy="89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700"/>
              <a:buFont typeface="Montserrat"/>
              <a:buNone/>
            </a:pPr>
            <a:r>
              <a:rPr lang="en" sz="700" b="1">
                <a:solidFill>
                  <a:srgbClr val="34D399"/>
                </a:solidFill>
                <a:latin typeface="Montserrat"/>
                <a:ea typeface="Montserrat"/>
                <a:cs typeface="Montserrat"/>
                <a:sym typeface="Montserrat"/>
              </a:rPr>
              <a:t>Why  ·  hidden → output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3" name="Google Shape;593;p15"/>
          <p:cNvSpPr/>
          <p:nvPr/>
        </p:nvSpPr>
        <p:spPr>
          <a:xfrm>
            <a:off x="685800" y="4457700"/>
            <a:ext cx="781812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1100"/>
              <a:buFont typeface="Montserrat"/>
              <a:buNone/>
            </a:pPr>
            <a:r>
              <a:rPr lang="en" sz="1100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Chia sẻ trọng số giúp RNN áp dụng cùng một quy tắc xử lý cho mọi vị trí trong chuỗi.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94" name="Google Shape;594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45969" y="1154218"/>
            <a:ext cx="4841024" cy="2446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0" name="Google Shape;600;p16"/>
          <p:cNvCxnSpPr/>
          <p:nvPr/>
        </p:nvCxnSpPr>
        <p:spPr>
          <a:xfrm>
            <a:off x="0" y="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1" name="Google Shape;601;p16"/>
          <p:cNvCxnSpPr/>
          <p:nvPr/>
        </p:nvCxnSpPr>
        <p:spPr>
          <a:xfrm>
            <a:off x="0" y="65151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2" name="Google Shape;602;p16"/>
          <p:cNvCxnSpPr/>
          <p:nvPr/>
        </p:nvCxnSpPr>
        <p:spPr>
          <a:xfrm>
            <a:off x="0" y="130302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3" name="Google Shape;603;p16"/>
          <p:cNvCxnSpPr/>
          <p:nvPr/>
        </p:nvCxnSpPr>
        <p:spPr>
          <a:xfrm>
            <a:off x="0" y="195453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4" name="Google Shape;604;p16"/>
          <p:cNvCxnSpPr/>
          <p:nvPr/>
        </p:nvCxnSpPr>
        <p:spPr>
          <a:xfrm>
            <a:off x="0" y="260604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5" name="Google Shape;605;p16"/>
          <p:cNvCxnSpPr/>
          <p:nvPr/>
        </p:nvCxnSpPr>
        <p:spPr>
          <a:xfrm>
            <a:off x="0" y="325755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6" name="Google Shape;606;p16"/>
          <p:cNvCxnSpPr/>
          <p:nvPr/>
        </p:nvCxnSpPr>
        <p:spPr>
          <a:xfrm>
            <a:off x="0" y="390906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7" name="Google Shape;607;p16"/>
          <p:cNvCxnSpPr/>
          <p:nvPr/>
        </p:nvCxnSpPr>
        <p:spPr>
          <a:xfrm>
            <a:off x="0" y="456057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8" name="Google Shape;608;p16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9" name="Google Shape;609;p16"/>
          <p:cNvCxnSpPr/>
          <p:nvPr/>
        </p:nvCxnSpPr>
        <p:spPr>
          <a:xfrm>
            <a:off x="7886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10" name="Google Shape;610;p16"/>
          <p:cNvCxnSpPr/>
          <p:nvPr/>
        </p:nvCxnSpPr>
        <p:spPr>
          <a:xfrm>
            <a:off x="157734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11" name="Google Shape;611;p16"/>
          <p:cNvCxnSpPr/>
          <p:nvPr/>
        </p:nvCxnSpPr>
        <p:spPr>
          <a:xfrm>
            <a:off x="236601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12" name="Google Shape;612;p16"/>
          <p:cNvCxnSpPr/>
          <p:nvPr/>
        </p:nvCxnSpPr>
        <p:spPr>
          <a:xfrm>
            <a:off x="315468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13" name="Google Shape;613;p16"/>
          <p:cNvCxnSpPr/>
          <p:nvPr/>
        </p:nvCxnSpPr>
        <p:spPr>
          <a:xfrm>
            <a:off x="394335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14" name="Google Shape;614;p16"/>
          <p:cNvCxnSpPr/>
          <p:nvPr/>
        </p:nvCxnSpPr>
        <p:spPr>
          <a:xfrm>
            <a:off x="473202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15" name="Google Shape;615;p16"/>
          <p:cNvCxnSpPr/>
          <p:nvPr/>
        </p:nvCxnSpPr>
        <p:spPr>
          <a:xfrm>
            <a:off x="552069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16" name="Google Shape;616;p16"/>
          <p:cNvCxnSpPr/>
          <p:nvPr/>
        </p:nvCxnSpPr>
        <p:spPr>
          <a:xfrm>
            <a:off x="630936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17" name="Google Shape;617;p16"/>
          <p:cNvCxnSpPr/>
          <p:nvPr/>
        </p:nvCxnSpPr>
        <p:spPr>
          <a:xfrm>
            <a:off x="709803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18" name="Google Shape;618;p16"/>
          <p:cNvCxnSpPr/>
          <p:nvPr/>
        </p:nvCxnSpPr>
        <p:spPr>
          <a:xfrm>
            <a:off x="788670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19" name="Google Shape;619;p16"/>
          <p:cNvCxnSpPr/>
          <p:nvPr/>
        </p:nvCxnSpPr>
        <p:spPr>
          <a:xfrm>
            <a:off x="86753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0" name="Google Shape;620;p16"/>
          <p:cNvSpPr/>
          <p:nvPr/>
        </p:nvSpPr>
        <p:spPr>
          <a:xfrm>
            <a:off x="0" y="0"/>
            <a:ext cx="9143771" cy="246888"/>
          </a:xfrm>
          <a:prstGeom prst="rect">
            <a:avLst/>
          </a:prstGeom>
          <a:solidFill>
            <a:srgbClr val="04101F"/>
          </a:solidFill>
          <a:ln w="12700" cap="flat" cmpd="sng">
            <a:solidFill>
              <a:srgbClr val="0410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1" name="Google Shape;621;p16"/>
          <p:cNvSpPr/>
          <p:nvPr/>
        </p:nvSpPr>
        <p:spPr>
          <a:xfrm>
            <a:off x="260604" y="68580"/>
            <a:ext cx="322326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RNN · PHÁT TRIỂN HỆ THỐNG THÔNG MINH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2" name="Google Shape;622;p16"/>
          <p:cNvSpPr/>
          <p:nvPr/>
        </p:nvSpPr>
        <p:spPr>
          <a:xfrm>
            <a:off x="3531870" y="61722"/>
            <a:ext cx="3429000" cy="123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D9E5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14D9E5"/>
                </a:solidFill>
                <a:latin typeface="Montserrat"/>
                <a:ea typeface="Montserrat"/>
                <a:cs typeface="Montserrat"/>
                <a:sym typeface="Montserrat"/>
              </a:rPr>
              <a:t>PHẦN 3 · CÔNG THỨC &amp; TÍNH TOÁN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3" name="Google Shape;623;p16"/>
          <p:cNvSpPr/>
          <p:nvPr/>
        </p:nvSpPr>
        <p:spPr>
          <a:xfrm>
            <a:off x="425196" y="493776"/>
            <a:ext cx="507492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7FF"/>
              </a:buClr>
              <a:buSzPts val="2000"/>
              <a:buFont typeface="Montserrat"/>
              <a:buNone/>
            </a:pPr>
            <a:r>
              <a:rPr lang="en" sz="2000" b="1">
                <a:solidFill>
                  <a:srgbClr val="F2F7FF"/>
                </a:solidFill>
                <a:latin typeface="Montserrat"/>
                <a:ea typeface="Montserrat"/>
                <a:cs typeface="Montserrat"/>
                <a:sym typeface="Montserrat"/>
              </a:rPr>
              <a:t>Công thức Hidden State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4" name="Google Shape;624;p16"/>
          <p:cNvSpPr/>
          <p:nvPr/>
        </p:nvSpPr>
        <p:spPr>
          <a:xfrm>
            <a:off x="438912" y="850392"/>
            <a:ext cx="5486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700"/>
              <a:buFont typeface="Montserrat"/>
              <a:buNone/>
            </a:pPr>
            <a:r>
              <a:rPr lang="en" sz="700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Kết hợp thông tin hiện tại với ngữ cảnh quá khứ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5" name="Google Shape;625;p16"/>
          <p:cNvSpPr/>
          <p:nvPr/>
        </p:nvSpPr>
        <p:spPr>
          <a:xfrm>
            <a:off x="617220" y="1337310"/>
            <a:ext cx="7886700" cy="877824"/>
          </a:xfrm>
          <a:prstGeom prst="roundRect">
            <a:avLst>
              <a:gd name="adj" fmla="val 6250"/>
            </a:avLst>
          </a:prstGeom>
          <a:solidFill>
            <a:srgbClr val="0B1E38"/>
          </a:solidFill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6" name="Google Shape;626;p16"/>
          <p:cNvSpPr/>
          <p:nvPr/>
        </p:nvSpPr>
        <p:spPr>
          <a:xfrm>
            <a:off x="617220" y="1337310"/>
            <a:ext cx="54864" cy="877824"/>
          </a:xfrm>
          <a:prstGeom prst="rect">
            <a:avLst/>
          </a:prstGeom>
          <a:solidFill>
            <a:srgbClr val="14D9E5"/>
          </a:solidFill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7" name="Google Shape;627;p16"/>
          <p:cNvSpPr/>
          <p:nvPr/>
        </p:nvSpPr>
        <p:spPr>
          <a:xfrm>
            <a:off x="768096" y="1419606"/>
            <a:ext cx="7680960" cy="150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D9E5"/>
              </a:buClr>
              <a:buSzPts val="700"/>
              <a:buFont typeface="Montserrat"/>
              <a:buNone/>
            </a:pPr>
            <a:r>
              <a:rPr lang="en" sz="700" b="1">
                <a:solidFill>
                  <a:srgbClr val="14D9E5"/>
                </a:solidFill>
                <a:latin typeface="Montserrat"/>
                <a:ea typeface="Montserrat"/>
                <a:cs typeface="Montserrat"/>
                <a:sym typeface="Montserrat"/>
              </a:rPr>
              <a:t>Hidden state update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8" name="Google Shape;628;p16"/>
          <p:cNvSpPr/>
          <p:nvPr/>
        </p:nvSpPr>
        <p:spPr>
          <a:xfrm>
            <a:off x="768096" y="1666494"/>
            <a:ext cx="7646670" cy="48006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Montserrat"/>
                <a:ea typeface="Montserrat"/>
                <a:cs typeface="Montserrat"/>
                <a:sym typeface="Montserrat"/>
              </a:rPr>
              <a:t> </a:t>
            </a:r>
            <a:endParaRPr sz="1100"/>
          </a:p>
        </p:txBody>
      </p:sp>
      <p:sp>
        <p:nvSpPr>
          <p:cNvPr id="629" name="Google Shape;629;p16"/>
          <p:cNvSpPr/>
          <p:nvPr/>
        </p:nvSpPr>
        <p:spPr>
          <a:xfrm>
            <a:off x="617220" y="2777490"/>
            <a:ext cx="1817370" cy="788670"/>
          </a:xfrm>
          <a:prstGeom prst="roundRect">
            <a:avLst>
              <a:gd name="adj" fmla="val 6957"/>
            </a:avLst>
          </a:prstGeom>
          <a:solidFill>
            <a:srgbClr val="0A1D35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0" name="Google Shape;630;p16"/>
          <p:cNvSpPr/>
          <p:nvPr/>
        </p:nvSpPr>
        <p:spPr>
          <a:xfrm>
            <a:off x="713232" y="2914650"/>
            <a:ext cx="1611630" cy="15773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8825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Montserrat"/>
                <a:ea typeface="Montserrat"/>
                <a:cs typeface="Montserrat"/>
                <a:sym typeface="Montserrat"/>
              </a:rPr>
              <a:t> </a:t>
            </a:r>
            <a:endParaRPr sz="1100"/>
          </a:p>
        </p:txBody>
      </p:sp>
      <p:sp>
        <p:nvSpPr>
          <p:cNvPr id="631" name="Google Shape;631;p16"/>
          <p:cNvSpPr/>
          <p:nvPr/>
        </p:nvSpPr>
        <p:spPr>
          <a:xfrm>
            <a:off x="740664" y="3209544"/>
            <a:ext cx="154305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700"/>
              <a:buFont typeface="Montserrat"/>
              <a:buNone/>
            </a:pPr>
            <a:r>
              <a:rPr lang="en" sz="700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đóng góp từ input hiện tại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2" name="Google Shape;632;p16"/>
          <p:cNvSpPr/>
          <p:nvPr/>
        </p:nvSpPr>
        <p:spPr>
          <a:xfrm>
            <a:off x="2674620" y="2777490"/>
            <a:ext cx="1817370" cy="788670"/>
          </a:xfrm>
          <a:prstGeom prst="roundRect">
            <a:avLst>
              <a:gd name="adj" fmla="val 6957"/>
            </a:avLst>
          </a:prstGeom>
          <a:solidFill>
            <a:srgbClr val="0A1D35"/>
          </a:solidFill>
          <a:ln w="12700" cap="flat" cmpd="sng">
            <a:solidFill>
              <a:srgbClr val="F472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3" name="Google Shape;633;p16"/>
          <p:cNvSpPr/>
          <p:nvPr/>
        </p:nvSpPr>
        <p:spPr>
          <a:xfrm>
            <a:off x="2770632" y="2914650"/>
            <a:ext cx="1611630" cy="157734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8825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Montserrat"/>
                <a:ea typeface="Montserrat"/>
                <a:cs typeface="Montserrat"/>
                <a:sym typeface="Montserrat"/>
              </a:rPr>
              <a:t> </a:t>
            </a:r>
            <a:endParaRPr sz="1100"/>
          </a:p>
        </p:txBody>
      </p:sp>
      <p:sp>
        <p:nvSpPr>
          <p:cNvPr id="634" name="Google Shape;634;p16"/>
          <p:cNvSpPr/>
          <p:nvPr/>
        </p:nvSpPr>
        <p:spPr>
          <a:xfrm>
            <a:off x="2798064" y="3209544"/>
            <a:ext cx="154305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700"/>
              <a:buFont typeface="Montserrat"/>
              <a:buNone/>
            </a:pPr>
            <a:r>
              <a:rPr lang="en" sz="700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đóng góp từ quá khứ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5" name="Google Shape;635;p16"/>
          <p:cNvSpPr/>
          <p:nvPr/>
        </p:nvSpPr>
        <p:spPr>
          <a:xfrm>
            <a:off x="4732020" y="2777490"/>
            <a:ext cx="1817370" cy="788670"/>
          </a:xfrm>
          <a:prstGeom prst="roundRect">
            <a:avLst>
              <a:gd name="adj" fmla="val 6957"/>
            </a:avLst>
          </a:prstGeom>
          <a:solidFill>
            <a:srgbClr val="0A1D35"/>
          </a:solidFill>
          <a:ln w="12700" cap="flat" cmpd="sng">
            <a:solidFill>
              <a:srgbClr val="FACC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6" name="Google Shape;636;p16"/>
          <p:cNvSpPr/>
          <p:nvPr/>
        </p:nvSpPr>
        <p:spPr>
          <a:xfrm>
            <a:off x="4828032" y="2914650"/>
            <a:ext cx="1611630" cy="157734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941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Montserrat"/>
                <a:ea typeface="Montserrat"/>
                <a:cs typeface="Montserrat"/>
                <a:sym typeface="Montserrat"/>
              </a:rPr>
              <a:t> </a:t>
            </a:r>
            <a:endParaRPr sz="1100"/>
          </a:p>
        </p:txBody>
      </p:sp>
      <p:sp>
        <p:nvSpPr>
          <p:cNvPr id="637" name="Google Shape;637;p16"/>
          <p:cNvSpPr/>
          <p:nvPr/>
        </p:nvSpPr>
        <p:spPr>
          <a:xfrm>
            <a:off x="4855464" y="3209544"/>
            <a:ext cx="154305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700"/>
              <a:buFont typeface="Montserrat"/>
              <a:buNone/>
            </a:pPr>
            <a:r>
              <a:rPr lang="en" sz="700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tạo phi tuyến và giới hạn giá trị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8" name="Google Shape;638;p16"/>
          <p:cNvSpPr/>
          <p:nvPr/>
        </p:nvSpPr>
        <p:spPr>
          <a:xfrm>
            <a:off x="6789420" y="2777490"/>
            <a:ext cx="1817370" cy="788670"/>
          </a:xfrm>
          <a:prstGeom prst="roundRect">
            <a:avLst>
              <a:gd name="adj" fmla="val 6957"/>
            </a:avLst>
          </a:prstGeom>
          <a:solidFill>
            <a:srgbClr val="0A1D35"/>
          </a:solidFill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9" name="Google Shape;639;p16"/>
          <p:cNvSpPr/>
          <p:nvPr/>
        </p:nvSpPr>
        <p:spPr>
          <a:xfrm>
            <a:off x="6885432" y="2914650"/>
            <a:ext cx="1611630" cy="157734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941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Montserrat"/>
                <a:ea typeface="Montserrat"/>
                <a:cs typeface="Montserrat"/>
                <a:sym typeface="Montserrat"/>
              </a:rPr>
              <a:t> </a:t>
            </a:r>
            <a:endParaRPr sz="1100"/>
          </a:p>
        </p:txBody>
      </p:sp>
      <p:sp>
        <p:nvSpPr>
          <p:cNvPr id="640" name="Google Shape;640;p16"/>
          <p:cNvSpPr/>
          <p:nvPr/>
        </p:nvSpPr>
        <p:spPr>
          <a:xfrm>
            <a:off x="6912864" y="3209544"/>
            <a:ext cx="154305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700"/>
              <a:buFont typeface="Montserrat"/>
              <a:buNone/>
            </a:pPr>
            <a:r>
              <a:rPr lang="en" sz="700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trạng thái ẩn mới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6" name="Google Shape;646;p17"/>
          <p:cNvCxnSpPr/>
          <p:nvPr/>
        </p:nvCxnSpPr>
        <p:spPr>
          <a:xfrm>
            <a:off x="0" y="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7" name="Google Shape;647;p17"/>
          <p:cNvCxnSpPr/>
          <p:nvPr/>
        </p:nvCxnSpPr>
        <p:spPr>
          <a:xfrm>
            <a:off x="0" y="65151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8" name="Google Shape;648;p17"/>
          <p:cNvCxnSpPr/>
          <p:nvPr/>
        </p:nvCxnSpPr>
        <p:spPr>
          <a:xfrm>
            <a:off x="0" y="130302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9" name="Google Shape;649;p17"/>
          <p:cNvCxnSpPr/>
          <p:nvPr/>
        </p:nvCxnSpPr>
        <p:spPr>
          <a:xfrm>
            <a:off x="0" y="195453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50" name="Google Shape;650;p17"/>
          <p:cNvCxnSpPr/>
          <p:nvPr/>
        </p:nvCxnSpPr>
        <p:spPr>
          <a:xfrm>
            <a:off x="0" y="260604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51" name="Google Shape;651;p17"/>
          <p:cNvCxnSpPr/>
          <p:nvPr/>
        </p:nvCxnSpPr>
        <p:spPr>
          <a:xfrm>
            <a:off x="0" y="325755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52" name="Google Shape;652;p17"/>
          <p:cNvCxnSpPr/>
          <p:nvPr/>
        </p:nvCxnSpPr>
        <p:spPr>
          <a:xfrm>
            <a:off x="0" y="390906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53" name="Google Shape;653;p17"/>
          <p:cNvCxnSpPr/>
          <p:nvPr/>
        </p:nvCxnSpPr>
        <p:spPr>
          <a:xfrm>
            <a:off x="0" y="456057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54" name="Google Shape;654;p17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55" name="Google Shape;655;p17"/>
          <p:cNvCxnSpPr/>
          <p:nvPr/>
        </p:nvCxnSpPr>
        <p:spPr>
          <a:xfrm>
            <a:off x="7886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56" name="Google Shape;656;p17"/>
          <p:cNvCxnSpPr/>
          <p:nvPr/>
        </p:nvCxnSpPr>
        <p:spPr>
          <a:xfrm>
            <a:off x="157734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57" name="Google Shape;657;p17"/>
          <p:cNvCxnSpPr/>
          <p:nvPr/>
        </p:nvCxnSpPr>
        <p:spPr>
          <a:xfrm>
            <a:off x="236601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58" name="Google Shape;658;p17"/>
          <p:cNvCxnSpPr/>
          <p:nvPr/>
        </p:nvCxnSpPr>
        <p:spPr>
          <a:xfrm>
            <a:off x="315468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59" name="Google Shape;659;p17"/>
          <p:cNvCxnSpPr/>
          <p:nvPr/>
        </p:nvCxnSpPr>
        <p:spPr>
          <a:xfrm>
            <a:off x="394335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60" name="Google Shape;660;p17"/>
          <p:cNvCxnSpPr/>
          <p:nvPr/>
        </p:nvCxnSpPr>
        <p:spPr>
          <a:xfrm>
            <a:off x="473202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61" name="Google Shape;661;p17"/>
          <p:cNvCxnSpPr/>
          <p:nvPr/>
        </p:nvCxnSpPr>
        <p:spPr>
          <a:xfrm>
            <a:off x="552069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62" name="Google Shape;662;p17"/>
          <p:cNvCxnSpPr/>
          <p:nvPr/>
        </p:nvCxnSpPr>
        <p:spPr>
          <a:xfrm>
            <a:off x="630936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63" name="Google Shape;663;p17"/>
          <p:cNvCxnSpPr/>
          <p:nvPr/>
        </p:nvCxnSpPr>
        <p:spPr>
          <a:xfrm>
            <a:off x="709803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64" name="Google Shape;664;p17"/>
          <p:cNvCxnSpPr/>
          <p:nvPr/>
        </p:nvCxnSpPr>
        <p:spPr>
          <a:xfrm>
            <a:off x="788670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65" name="Google Shape;665;p17"/>
          <p:cNvCxnSpPr/>
          <p:nvPr/>
        </p:nvCxnSpPr>
        <p:spPr>
          <a:xfrm>
            <a:off x="86753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66" name="Google Shape;666;p17"/>
          <p:cNvSpPr/>
          <p:nvPr/>
        </p:nvSpPr>
        <p:spPr>
          <a:xfrm>
            <a:off x="0" y="0"/>
            <a:ext cx="9143771" cy="246888"/>
          </a:xfrm>
          <a:prstGeom prst="rect">
            <a:avLst/>
          </a:prstGeom>
          <a:solidFill>
            <a:srgbClr val="04101F"/>
          </a:solidFill>
          <a:ln w="12700" cap="flat" cmpd="sng">
            <a:solidFill>
              <a:srgbClr val="0410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7" name="Google Shape;667;p17"/>
          <p:cNvSpPr/>
          <p:nvPr/>
        </p:nvSpPr>
        <p:spPr>
          <a:xfrm>
            <a:off x="260604" y="68580"/>
            <a:ext cx="322326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RNN · PHÁT TRIỂN HỆ THỐNG THÔNG MINH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8" name="Google Shape;668;p17"/>
          <p:cNvSpPr/>
          <p:nvPr/>
        </p:nvSpPr>
        <p:spPr>
          <a:xfrm>
            <a:off x="3531870" y="61722"/>
            <a:ext cx="3429000" cy="123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D9E5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14D9E5"/>
                </a:solidFill>
                <a:latin typeface="Montserrat"/>
                <a:ea typeface="Montserrat"/>
                <a:cs typeface="Montserrat"/>
                <a:sym typeface="Montserrat"/>
              </a:rPr>
              <a:t>PHẦN 3 · CÔNG THỨC &amp; TÍNH TOÁN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9" name="Google Shape;669;p17"/>
          <p:cNvSpPr/>
          <p:nvPr/>
        </p:nvSpPr>
        <p:spPr>
          <a:xfrm>
            <a:off x="425196" y="493776"/>
            <a:ext cx="507492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7FF"/>
              </a:buClr>
              <a:buSzPts val="2000"/>
              <a:buFont typeface="Montserrat"/>
              <a:buNone/>
            </a:pPr>
            <a:r>
              <a:rPr lang="en" sz="2000" b="1">
                <a:solidFill>
                  <a:srgbClr val="F2F7FF"/>
                </a:solidFill>
                <a:latin typeface="Montserrat"/>
                <a:ea typeface="Montserrat"/>
                <a:cs typeface="Montserrat"/>
                <a:sym typeface="Montserrat"/>
              </a:rPr>
              <a:t>Công thức Output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0" name="Google Shape;670;p17"/>
          <p:cNvSpPr/>
          <p:nvPr/>
        </p:nvSpPr>
        <p:spPr>
          <a:xfrm>
            <a:off x="438912" y="850392"/>
            <a:ext cx="5486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700"/>
              <a:buFont typeface="Montserrat"/>
              <a:buNone/>
            </a:pPr>
            <a:r>
              <a:rPr lang="en" sz="700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Output được tạo từ hidden state hiện tại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1" name="Google Shape;671;p17"/>
          <p:cNvSpPr/>
          <p:nvPr/>
        </p:nvSpPr>
        <p:spPr>
          <a:xfrm>
            <a:off x="651510" y="1337310"/>
            <a:ext cx="4251960" cy="857250"/>
          </a:xfrm>
          <a:prstGeom prst="roundRect">
            <a:avLst>
              <a:gd name="adj" fmla="val 6400"/>
            </a:avLst>
          </a:prstGeom>
          <a:solidFill>
            <a:srgbClr val="0B1E38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2" name="Google Shape;672;p17"/>
          <p:cNvSpPr/>
          <p:nvPr/>
        </p:nvSpPr>
        <p:spPr>
          <a:xfrm>
            <a:off x="651510" y="1337310"/>
            <a:ext cx="54864" cy="857250"/>
          </a:xfrm>
          <a:prstGeom prst="rect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3" name="Google Shape;673;p17"/>
          <p:cNvSpPr/>
          <p:nvPr/>
        </p:nvSpPr>
        <p:spPr>
          <a:xfrm>
            <a:off x="802386" y="1419606"/>
            <a:ext cx="4046220" cy="150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700"/>
              <a:buFont typeface="Montserrat"/>
              <a:buNone/>
            </a:pPr>
            <a:r>
              <a:rPr lang="en" sz="700" b="1">
                <a:solidFill>
                  <a:srgbClr val="34D399"/>
                </a:solidFill>
                <a:latin typeface="Montserrat"/>
                <a:ea typeface="Montserrat"/>
                <a:cs typeface="Montserrat"/>
                <a:sym typeface="Montserrat"/>
              </a:rPr>
              <a:t>Output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4" name="Google Shape;674;p17"/>
          <p:cNvSpPr/>
          <p:nvPr/>
        </p:nvSpPr>
        <p:spPr>
          <a:xfrm>
            <a:off x="802386" y="1666494"/>
            <a:ext cx="4011930" cy="45948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Montserrat"/>
                <a:ea typeface="Montserrat"/>
                <a:cs typeface="Montserrat"/>
                <a:sym typeface="Montserrat"/>
              </a:rPr>
              <a:t> </a:t>
            </a:r>
            <a:endParaRPr sz="1100"/>
          </a:p>
        </p:txBody>
      </p:sp>
      <p:sp>
        <p:nvSpPr>
          <p:cNvPr id="675" name="Google Shape;675;p17"/>
          <p:cNvSpPr/>
          <p:nvPr/>
        </p:nvSpPr>
        <p:spPr>
          <a:xfrm>
            <a:off x="4378833" y="1904439"/>
            <a:ext cx="416966" cy="151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None/>
            </a:pP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6" name="Google Shape;676;p17"/>
          <p:cNvSpPr/>
          <p:nvPr/>
        </p:nvSpPr>
        <p:spPr>
          <a:xfrm>
            <a:off x="754379" y="2571749"/>
            <a:ext cx="4149088" cy="658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-y(t)</a:t>
            </a: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thường là </a:t>
            </a:r>
            <a:r>
              <a:rPr lang="en" sz="11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logits</a:t>
            </a:r>
            <a:endParaRPr sz="110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-Dùng </a:t>
            </a:r>
            <a:r>
              <a:rPr lang="en" sz="11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sigmoid</a:t>
            </a: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cho binary classification, </a:t>
            </a:r>
            <a:r>
              <a:rPr lang="en" sz="11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softmax</a:t>
            </a: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cho multi-class classification</a:t>
            </a:r>
            <a:endParaRPr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2" name="Google Shape;682;p18"/>
          <p:cNvCxnSpPr/>
          <p:nvPr/>
        </p:nvCxnSpPr>
        <p:spPr>
          <a:xfrm>
            <a:off x="0" y="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83" name="Google Shape;683;p18"/>
          <p:cNvCxnSpPr/>
          <p:nvPr/>
        </p:nvCxnSpPr>
        <p:spPr>
          <a:xfrm>
            <a:off x="0" y="65151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84" name="Google Shape;684;p18"/>
          <p:cNvCxnSpPr/>
          <p:nvPr/>
        </p:nvCxnSpPr>
        <p:spPr>
          <a:xfrm>
            <a:off x="0" y="130302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85" name="Google Shape;685;p18"/>
          <p:cNvCxnSpPr/>
          <p:nvPr/>
        </p:nvCxnSpPr>
        <p:spPr>
          <a:xfrm>
            <a:off x="0" y="195453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86" name="Google Shape;686;p18"/>
          <p:cNvCxnSpPr/>
          <p:nvPr/>
        </p:nvCxnSpPr>
        <p:spPr>
          <a:xfrm>
            <a:off x="0" y="260604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87" name="Google Shape;687;p18"/>
          <p:cNvCxnSpPr/>
          <p:nvPr/>
        </p:nvCxnSpPr>
        <p:spPr>
          <a:xfrm>
            <a:off x="0" y="325755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88" name="Google Shape;688;p18"/>
          <p:cNvCxnSpPr/>
          <p:nvPr/>
        </p:nvCxnSpPr>
        <p:spPr>
          <a:xfrm>
            <a:off x="0" y="390906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89" name="Google Shape;689;p18"/>
          <p:cNvCxnSpPr/>
          <p:nvPr/>
        </p:nvCxnSpPr>
        <p:spPr>
          <a:xfrm>
            <a:off x="0" y="456057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90" name="Google Shape;690;p18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91" name="Google Shape;691;p18"/>
          <p:cNvCxnSpPr/>
          <p:nvPr/>
        </p:nvCxnSpPr>
        <p:spPr>
          <a:xfrm>
            <a:off x="7886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92" name="Google Shape;692;p18"/>
          <p:cNvCxnSpPr/>
          <p:nvPr/>
        </p:nvCxnSpPr>
        <p:spPr>
          <a:xfrm>
            <a:off x="157734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93" name="Google Shape;693;p18"/>
          <p:cNvCxnSpPr/>
          <p:nvPr/>
        </p:nvCxnSpPr>
        <p:spPr>
          <a:xfrm>
            <a:off x="236601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94" name="Google Shape;694;p18"/>
          <p:cNvCxnSpPr/>
          <p:nvPr/>
        </p:nvCxnSpPr>
        <p:spPr>
          <a:xfrm>
            <a:off x="315468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95" name="Google Shape;695;p18"/>
          <p:cNvCxnSpPr/>
          <p:nvPr/>
        </p:nvCxnSpPr>
        <p:spPr>
          <a:xfrm>
            <a:off x="394335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96" name="Google Shape;696;p18"/>
          <p:cNvCxnSpPr/>
          <p:nvPr/>
        </p:nvCxnSpPr>
        <p:spPr>
          <a:xfrm>
            <a:off x="473202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97" name="Google Shape;697;p18"/>
          <p:cNvCxnSpPr/>
          <p:nvPr/>
        </p:nvCxnSpPr>
        <p:spPr>
          <a:xfrm>
            <a:off x="552069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98" name="Google Shape;698;p18"/>
          <p:cNvCxnSpPr/>
          <p:nvPr/>
        </p:nvCxnSpPr>
        <p:spPr>
          <a:xfrm>
            <a:off x="630936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99" name="Google Shape;699;p18"/>
          <p:cNvCxnSpPr/>
          <p:nvPr/>
        </p:nvCxnSpPr>
        <p:spPr>
          <a:xfrm>
            <a:off x="709803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00" name="Google Shape;700;p18"/>
          <p:cNvCxnSpPr/>
          <p:nvPr/>
        </p:nvCxnSpPr>
        <p:spPr>
          <a:xfrm>
            <a:off x="788670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01" name="Google Shape;701;p18"/>
          <p:cNvCxnSpPr/>
          <p:nvPr/>
        </p:nvCxnSpPr>
        <p:spPr>
          <a:xfrm>
            <a:off x="86753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02" name="Google Shape;702;p18"/>
          <p:cNvSpPr/>
          <p:nvPr/>
        </p:nvSpPr>
        <p:spPr>
          <a:xfrm>
            <a:off x="0" y="0"/>
            <a:ext cx="9143771" cy="246888"/>
          </a:xfrm>
          <a:prstGeom prst="rect">
            <a:avLst/>
          </a:prstGeom>
          <a:solidFill>
            <a:srgbClr val="04101F"/>
          </a:solidFill>
          <a:ln w="12700" cap="flat" cmpd="sng">
            <a:solidFill>
              <a:srgbClr val="0410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3" name="Google Shape;703;p18"/>
          <p:cNvSpPr/>
          <p:nvPr/>
        </p:nvSpPr>
        <p:spPr>
          <a:xfrm>
            <a:off x="260604" y="68580"/>
            <a:ext cx="322326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RNN · PHÁT TRIỂN HỆ THỐNG THÔNG MINH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4" name="Google Shape;704;p18"/>
          <p:cNvSpPr/>
          <p:nvPr/>
        </p:nvSpPr>
        <p:spPr>
          <a:xfrm>
            <a:off x="3531870" y="61722"/>
            <a:ext cx="3429000" cy="123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D9E5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14D9E5"/>
                </a:solidFill>
                <a:latin typeface="Montserrat"/>
                <a:ea typeface="Montserrat"/>
                <a:cs typeface="Montserrat"/>
                <a:sym typeface="Montserrat"/>
              </a:rPr>
              <a:t>PHẦN 3 · CÔNG THỨC &amp; TÍNH TOÁN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5" name="Google Shape;705;p18"/>
          <p:cNvSpPr/>
          <p:nvPr/>
        </p:nvSpPr>
        <p:spPr>
          <a:xfrm>
            <a:off x="425196" y="493776"/>
            <a:ext cx="507492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7FF"/>
              </a:buClr>
              <a:buSzPts val="2000"/>
              <a:buFont typeface="Montserrat"/>
              <a:buNone/>
            </a:pPr>
            <a:r>
              <a:rPr lang="en" sz="2000" b="1">
                <a:solidFill>
                  <a:srgbClr val="F2F7FF"/>
                </a:solidFill>
                <a:latin typeface="Montserrat"/>
                <a:ea typeface="Montserrat"/>
                <a:cs typeface="Montserrat"/>
                <a:sym typeface="Montserrat"/>
              </a:rPr>
              <a:t>Vai trò của hàm tanh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6" name="Google Shape;706;p18"/>
          <p:cNvSpPr/>
          <p:nvPr/>
        </p:nvSpPr>
        <p:spPr>
          <a:xfrm>
            <a:off x="438912" y="850392"/>
            <a:ext cx="5486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Hàm kích hoạt phi tuyến thường dùng để cập nhật hidden state</a:t>
            </a: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7" name="Google Shape;707;p18"/>
          <p:cNvSpPr/>
          <p:nvPr/>
        </p:nvSpPr>
        <p:spPr>
          <a:xfrm>
            <a:off x="4937759" y="1440180"/>
            <a:ext cx="3693434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5" tIns="475" rIns="475" bIns="4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-Tạo tính phi tuyến</a:t>
            </a: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cho hidden state.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-Đưa đầu ra về khoảng (−1, 1)</a:t>
            </a: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-Gradient lớn nhất quanh 0; ở vùng bão hòa, gradient nhỏ dần.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8" name="Google Shape;708;p18"/>
          <p:cNvSpPr/>
          <p:nvPr/>
        </p:nvSpPr>
        <p:spPr>
          <a:xfrm>
            <a:off x="4972050" y="3463290"/>
            <a:ext cx="322326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4D9E5"/>
              </a:buClr>
              <a:buSzPts val="1200"/>
              <a:buFont typeface="Montserrat"/>
              <a:buNone/>
            </a:pPr>
            <a:r>
              <a:rPr lang="en" sz="1200" b="1">
                <a:solidFill>
                  <a:srgbClr val="14D9E5"/>
                </a:solidFill>
                <a:latin typeface="Montserrat"/>
                <a:ea typeface="Montserrat"/>
                <a:cs typeface="Montserrat"/>
                <a:sym typeface="Montserrat"/>
              </a:rPr>
              <a:t>Vanilla RNN thường dùng tanh để cập nhật h(t).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09" name="Google Shape;709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5196" y="1673351"/>
            <a:ext cx="3966035" cy="2206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5" name="Google Shape;715;p19"/>
          <p:cNvCxnSpPr/>
          <p:nvPr/>
        </p:nvCxnSpPr>
        <p:spPr>
          <a:xfrm>
            <a:off x="0" y="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16" name="Google Shape;716;p19"/>
          <p:cNvCxnSpPr/>
          <p:nvPr/>
        </p:nvCxnSpPr>
        <p:spPr>
          <a:xfrm>
            <a:off x="0" y="65151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17" name="Google Shape;717;p19"/>
          <p:cNvCxnSpPr/>
          <p:nvPr/>
        </p:nvCxnSpPr>
        <p:spPr>
          <a:xfrm>
            <a:off x="0" y="130302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18" name="Google Shape;718;p19"/>
          <p:cNvCxnSpPr/>
          <p:nvPr/>
        </p:nvCxnSpPr>
        <p:spPr>
          <a:xfrm>
            <a:off x="0" y="195453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19" name="Google Shape;719;p19"/>
          <p:cNvCxnSpPr/>
          <p:nvPr/>
        </p:nvCxnSpPr>
        <p:spPr>
          <a:xfrm>
            <a:off x="0" y="260604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20" name="Google Shape;720;p19"/>
          <p:cNvCxnSpPr/>
          <p:nvPr/>
        </p:nvCxnSpPr>
        <p:spPr>
          <a:xfrm>
            <a:off x="0" y="325755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21" name="Google Shape;721;p19"/>
          <p:cNvCxnSpPr/>
          <p:nvPr/>
        </p:nvCxnSpPr>
        <p:spPr>
          <a:xfrm>
            <a:off x="0" y="390906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22" name="Google Shape;722;p19"/>
          <p:cNvCxnSpPr/>
          <p:nvPr/>
        </p:nvCxnSpPr>
        <p:spPr>
          <a:xfrm>
            <a:off x="0" y="456057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23" name="Google Shape;723;p19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24" name="Google Shape;724;p19"/>
          <p:cNvCxnSpPr/>
          <p:nvPr/>
        </p:nvCxnSpPr>
        <p:spPr>
          <a:xfrm>
            <a:off x="7886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25" name="Google Shape;725;p19"/>
          <p:cNvCxnSpPr/>
          <p:nvPr/>
        </p:nvCxnSpPr>
        <p:spPr>
          <a:xfrm>
            <a:off x="157734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26" name="Google Shape;726;p19"/>
          <p:cNvCxnSpPr/>
          <p:nvPr/>
        </p:nvCxnSpPr>
        <p:spPr>
          <a:xfrm>
            <a:off x="236601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27" name="Google Shape;727;p19"/>
          <p:cNvCxnSpPr/>
          <p:nvPr/>
        </p:nvCxnSpPr>
        <p:spPr>
          <a:xfrm>
            <a:off x="315468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28" name="Google Shape;728;p19"/>
          <p:cNvCxnSpPr/>
          <p:nvPr/>
        </p:nvCxnSpPr>
        <p:spPr>
          <a:xfrm>
            <a:off x="394335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29" name="Google Shape;729;p19"/>
          <p:cNvCxnSpPr/>
          <p:nvPr/>
        </p:nvCxnSpPr>
        <p:spPr>
          <a:xfrm>
            <a:off x="473202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30" name="Google Shape;730;p19"/>
          <p:cNvCxnSpPr/>
          <p:nvPr/>
        </p:nvCxnSpPr>
        <p:spPr>
          <a:xfrm>
            <a:off x="552069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31" name="Google Shape;731;p19"/>
          <p:cNvCxnSpPr/>
          <p:nvPr/>
        </p:nvCxnSpPr>
        <p:spPr>
          <a:xfrm>
            <a:off x="630936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32" name="Google Shape;732;p19"/>
          <p:cNvCxnSpPr/>
          <p:nvPr/>
        </p:nvCxnSpPr>
        <p:spPr>
          <a:xfrm>
            <a:off x="709803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33" name="Google Shape;733;p19"/>
          <p:cNvCxnSpPr/>
          <p:nvPr/>
        </p:nvCxnSpPr>
        <p:spPr>
          <a:xfrm>
            <a:off x="788670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34" name="Google Shape;734;p19"/>
          <p:cNvCxnSpPr/>
          <p:nvPr/>
        </p:nvCxnSpPr>
        <p:spPr>
          <a:xfrm>
            <a:off x="86753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35" name="Google Shape;735;p19"/>
          <p:cNvSpPr/>
          <p:nvPr/>
        </p:nvSpPr>
        <p:spPr>
          <a:xfrm>
            <a:off x="0" y="0"/>
            <a:ext cx="9143771" cy="246888"/>
          </a:xfrm>
          <a:prstGeom prst="rect">
            <a:avLst/>
          </a:prstGeom>
          <a:solidFill>
            <a:srgbClr val="04101F"/>
          </a:solidFill>
          <a:ln w="12700" cap="flat" cmpd="sng">
            <a:solidFill>
              <a:srgbClr val="0410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6" name="Google Shape;736;p19"/>
          <p:cNvSpPr/>
          <p:nvPr/>
        </p:nvSpPr>
        <p:spPr>
          <a:xfrm>
            <a:off x="260604" y="68580"/>
            <a:ext cx="322326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RNN · PHÁT TRIỂN HỆ THỐNG THÔNG MINH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7" name="Google Shape;737;p19"/>
          <p:cNvSpPr/>
          <p:nvPr/>
        </p:nvSpPr>
        <p:spPr>
          <a:xfrm>
            <a:off x="3531870" y="61722"/>
            <a:ext cx="3429000" cy="123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D9E5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14D9E5"/>
                </a:solidFill>
                <a:latin typeface="Montserrat"/>
                <a:ea typeface="Montserrat"/>
                <a:cs typeface="Montserrat"/>
                <a:sym typeface="Montserrat"/>
              </a:rPr>
              <a:t>PHẦN 3 · CÔNG THỨC &amp; TÍNH TOÁN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8" name="Google Shape;738;p19"/>
          <p:cNvSpPr/>
          <p:nvPr/>
        </p:nvSpPr>
        <p:spPr>
          <a:xfrm>
            <a:off x="425196" y="493776"/>
            <a:ext cx="507492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7FF"/>
              </a:buClr>
              <a:buSzPts val="2000"/>
              <a:buFont typeface="Montserrat"/>
              <a:buNone/>
            </a:pPr>
            <a:r>
              <a:rPr lang="en" sz="2000" b="1">
                <a:solidFill>
                  <a:srgbClr val="F2F7FF"/>
                </a:solidFill>
                <a:latin typeface="Montserrat"/>
                <a:ea typeface="Montserrat"/>
                <a:cs typeface="Montserrat"/>
                <a:sym typeface="Montserrat"/>
              </a:rPr>
              <a:t>Ví dụ xử lý chuỗi từng bước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9" name="Google Shape;739;p19"/>
          <p:cNvSpPr/>
          <p:nvPr/>
        </p:nvSpPr>
        <p:spPr>
          <a:xfrm>
            <a:off x="438912" y="850392"/>
            <a:ext cx="5486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700"/>
              <a:buFont typeface="Montserrat"/>
              <a:buNone/>
            </a:pPr>
            <a:r>
              <a:rPr lang="en" sz="700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h(0)=0, mỗi bước kết hợp input mới và hidden state trước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0" name="Google Shape;740;p19"/>
          <p:cNvSpPr/>
          <p:nvPr/>
        </p:nvSpPr>
        <p:spPr>
          <a:xfrm>
            <a:off x="555498" y="1388746"/>
            <a:ext cx="2434590" cy="2194560"/>
          </a:xfrm>
          <a:prstGeom prst="roundRect">
            <a:avLst>
              <a:gd name="adj" fmla="val 2500"/>
            </a:avLst>
          </a:prstGeom>
          <a:solidFill>
            <a:srgbClr val="0A1D35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1" name="Google Shape;741;p19"/>
          <p:cNvSpPr/>
          <p:nvPr/>
        </p:nvSpPr>
        <p:spPr>
          <a:xfrm>
            <a:off x="672084" y="1508760"/>
            <a:ext cx="82296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100"/>
              <a:buFont typeface="Montserrat"/>
              <a:buNone/>
            </a:pPr>
            <a:r>
              <a:rPr lang="en" sz="1100" b="1">
                <a:solidFill>
                  <a:srgbClr val="A78BFA"/>
                </a:solidFill>
                <a:latin typeface="Montserrat"/>
                <a:ea typeface="Montserrat"/>
                <a:cs typeface="Montserrat"/>
                <a:sym typeface="Montserrat"/>
              </a:rPr>
              <a:t>Step 1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2" name="Google Shape;742;p19"/>
          <p:cNvSpPr/>
          <p:nvPr/>
        </p:nvSpPr>
        <p:spPr>
          <a:xfrm>
            <a:off x="702945" y="1697354"/>
            <a:ext cx="205740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7FF"/>
              </a:buClr>
              <a:buSzPts val="1400"/>
              <a:buFont typeface="Montserrat"/>
              <a:buNone/>
            </a:pPr>
            <a:r>
              <a:rPr lang="en" sz="1400" b="1">
                <a:solidFill>
                  <a:srgbClr val="F2F7FF"/>
                </a:solidFill>
                <a:latin typeface="Montserrat"/>
                <a:ea typeface="Montserrat"/>
                <a:cs typeface="Montserrat"/>
                <a:sym typeface="Montserrat"/>
              </a:rPr>
              <a:t>x(1) + h(0)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43" name="Google Shape;743;p19"/>
          <p:cNvCxnSpPr/>
          <p:nvPr/>
        </p:nvCxnSpPr>
        <p:spPr>
          <a:xfrm>
            <a:off x="1711102" y="1954530"/>
            <a:ext cx="0" cy="34290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44" name="Google Shape;744;p19"/>
          <p:cNvSpPr/>
          <p:nvPr/>
        </p:nvSpPr>
        <p:spPr>
          <a:xfrm>
            <a:off x="1423036" y="3154681"/>
            <a:ext cx="54864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4D9E5"/>
              </a:buClr>
              <a:buSzPts val="1300"/>
              <a:buFont typeface="Montserrat"/>
              <a:buNone/>
            </a:pPr>
            <a:r>
              <a:rPr lang="en" sz="1300" b="1">
                <a:solidFill>
                  <a:srgbClr val="14D9E5"/>
                </a:solidFill>
                <a:latin typeface="Montserrat"/>
                <a:ea typeface="Montserrat"/>
                <a:cs typeface="Montserrat"/>
                <a:sym typeface="Montserrat"/>
              </a:rPr>
              <a:t>h(1)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5" name="Google Shape;745;p19"/>
          <p:cNvSpPr/>
          <p:nvPr/>
        </p:nvSpPr>
        <p:spPr>
          <a:xfrm>
            <a:off x="3360420" y="1371600"/>
            <a:ext cx="2434590" cy="2194560"/>
          </a:xfrm>
          <a:prstGeom prst="roundRect">
            <a:avLst>
              <a:gd name="adj" fmla="val 2500"/>
            </a:avLst>
          </a:prstGeom>
          <a:solidFill>
            <a:srgbClr val="0A1D35"/>
          </a:solidFill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6" name="Google Shape;746;p19"/>
          <p:cNvSpPr/>
          <p:nvPr/>
        </p:nvSpPr>
        <p:spPr>
          <a:xfrm>
            <a:off x="3483864" y="1508760"/>
            <a:ext cx="82296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D9E5"/>
              </a:buClr>
              <a:buSzPts val="1100"/>
              <a:buFont typeface="Montserrat"/>
              <a:buNone/>
            </a:pPr>
            <a:r>
              <a:rPr lang="en" sz="1100" b="1">
                <a:solidFill>
                  <a:srgbClr val="14D9E5"/>
                </a:solidFill>
                <a:latin typeface="Montserrat"/>
                <a:ea typeface="Montserrat"/>
                <a:cs typeface="Montserrat"/>
                <a:sym typeface="Montserrat"/>
              </a:rPr>
              <a:t>Step 2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7" name="Google Shape;747;p19"/>
          <p:cNvSpPr/>
          <p:nvPr/>
        </p:nvSpPr>
        <p:spPr>
          <a:xfrm>
            <a:off x="3483864" y="1679748"/>
            <a:ext cx="205740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7FF"/>
              </a:buClr>
              <a:buSzPts val="1400"/>
              <a:buFont typeface="Montserrat"/>
              <a:buNone/>
            </a:pPr>
            <a:r>
              <a:rPr lang="en" sz="1400" b="1">
                <a:solidFill>
                  <a:srgbClr val="F2F7FF"/>
                </a:solidFill>
                <a:latin typeface="Montserrat"/>
                <a:ea typeface="Montserrat"/>
                <a:cs typeface="Montserrat"/>
                <a:sym typeface="Montserrat"/>
              </a:rPr>
              <a:t>x(2) + h(1)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48" name="Google Shape;748;p19"/>
          <p:cNvCxnSpPr/>
          <p:nvPr/>
        </p:nvCxnSpPr>
        <p:spPr>
          <a:xfrm>
            <a:off x="4512564" y="1970285"/>
            <a:ext cx="0" cy="34290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49" name="Google Shape;749;p19"/>
          <p:cNvSpPr/>
          <p:nvPr/>
        </p:nvSpPr>
        <p:spPr>
          <a:xfrm>
            <a:off x="4251960" y="3154681"/>
            <a:ext cx="54864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4D9E5"/>
              </a:buClr>
              <a:buSzPts val="1300"/>
              <a:buFont typeface="Montserrat"/>
              <a:buNone/>
            </a:pPr>
            <a:r>
              <a:rPr lang="en" sz="1300" b="1">
                <a:solidFill>
                  <a:srgbClr val="14D9E5"/>
                </a:solidFill>
                <a:latin typeface="Montserrat"/>
                <a:ea typeface="Montserrat"/>
                <a:cs typeface="Montserrat"/>
                <a:sym typeface="Montserrat"/>
              </a:rPr>
              <a:t>h(2)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0" name="Google Shape;750;p19"/>
          <p:cNvSpPr/>
          <p:nvPr/>
        </p:nvSpPr>
        <p:spPr>
          <a:xfrm>
            <a:off x="6172200" y="1371600"/>
            <a:ext cx="2434590" cy="2194560"/>
          </a:xfrm>
          <a:prstGeom prst="roundRect">
            <a:avLst>
              <a:gd name="adj" fmla="val 2500"/>
            </a:avLst>
          </a:prstGeom>
          <a:solidFill>
            <a:srgbClr val="0A1D35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1" name="Google Shape;751;p19"/>
          <p:cNvSpPr/>
          <p:nvPr/>
        </p:nvSpPr>
        <p:spPr>
          <a:xfrm>
            <a:off x="6295644" y="1508760"/>
            <a:ext cx="82296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Montserrat"/>
              <a:buNone/>
            </a:pPr>
            <a:r>
              <a:rPr lang="en" sz="1100" b="1">
                <a:solidFill>
                  <a:srgbClr val="34D399"/>
                </a:solidFill>
                <a:latin typeface="Montserrat"/>
                <a:ea typeface="Montserrat"/>
                <a:cs typeface="Montserrat"/>
                <a:sym typeface="Montserrat"/>
              </a:rPr>
              <a:t>Step 3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2" name="Google Shape;752;p19"/>
          <p:cNvSpPr/>
          <p:nvPr/>
        </p:nvSpPr>
        <p:spPr>
          <a:xfrm>
            <a:off x="6323077" y="1672253"/>
            <a:ext cx="205740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7FF"/>
              </a:buClr>
              <a:buSzPts val="1400"/>
              <a:buFont typeface="Montserrat"/>
              <a:buNone/>
            </a:pPr>
            <a:r>
              <a:rPr lang="en" sz="1400" b="1">
                <a:solidFill>
                  <a:srgbClr val="F2F7FF"/>
                </a:solidFill>
                <a:latin typeface="Montserrat"/>
                <a:ea typeface="Montserrat"/>
                <a:cs typeface="Montserrat"/>
                <a:sym typeface="Montserrat"/>
              </a:rPr>
              <a:t>x(3) + h(2)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53" name="Google Shape;753;p19"/>
          <p:cNvCxnSpPr/>
          <p:nvPr/>
        </p:nvCxnSpPr>
        <p:spPr>
          <a:xfrm>
            <a:off x="7351777" y="1903094"/>
            <a:ext cx="0" cy="34290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54" name="Google Shape;754;p19"/>
          <p:cNvSpPr/>
          <p:nvPr/>
        </p:nvSpPr>
        <p:spPr>
          <a:xfrm>
            <a:off x="7077457" y="3154681"/>
            <a:ext cx="54864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4D9E5"/>
              </a:buClr>
              <a:buSzPts val="1300"/>
              <a:buFont typeface="Montserrat"/>
              <a:buNone/>
            </a:pPr>
            <a:r>
              <a:rPr lang="en" sz="1300" b="1">
                <a:solidFill>
                  <a:srgbClr val="14D9E5"/>
                </a:solidFill>
                <a:latin typeface="Montserrat"/>
                <a:ea typeface="Montserrat"/>
                <a:cs typeface="Montserrat"/>
                <a:sym typeface="Montserrat"/>
              </a:rPr>
              <a:t>h(3)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55" name="Google Shape;755;p19"/>
          <p:cNvCxnSpPr/>
          <p:nvPr/>
        </p:nvCxnSpPr>
        <p:spPr>
          <a:xfrm>
            <a:off x="2983230" y="2537460"/>
            <a:ext cx="342900" cy="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56" name="Google Shape;756;p19"/>
          <p:cNvCxnSpPr/>
          <p:nvPr/>
        </p:nvCxnSpPr>
        <p:spPr>
          <a:xfrm>
            <a:off x="5795010" y="2537460"/>
            <a:ext cx="342900" cy="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57" name="Google Shape;757;p19"/>
          <p:cNvSpPr/>
          <p:nvPr/>
        </p:nvSpPr>
        <p:spPr>
          <a:xfrm>
            <a:off x="685800" y="4114800"/>
            <a:ext cx="768096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Giả sử h(0)=0; tại mỗi bước, RNN kết hợp input hiện tại với hidden state trước đó.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8" name="Google Shape;758;p19"/>
          <p:cNvSpPr txBox="1"/>
          <p:nvPr/>
        </p:nvSpPr>
        <p:spPr>
          <a:xfrm>
            <a:off x="1097281" y="2341754"/>
            <a:ext cx="1213865" cy="28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RNN</a:t>
            </a:r>
            <a:endParaRPr sz="1100"/>
          </a:p>
        </p:txBody>
      </p:sp>
      <p:cxnSp>
        <p:nvCxnSpPr>
          <p:cNvPr id="759" name="Google Shape;759;p19"/>
          <p:cNvCxnSpPr/>
          <p:nvPr/>
        </p:nvCxnSpPr>
        <p:spPr>
          <a:xfrm>
            <a:off x="1711102" y="2708910"/>
            <a:ext cx="0" cy="34290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60" name="Google Shape;760;p19"/>
          <p:cNvSpPr txBox="1"/>
          <p:nvPr/>
        </p:nvSpPr>
        <p:spPr>
          <a:xfrm>
            <a:off x="2223475" y="2341754"/>
            <a:ext cx="4578178" cy="28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RNN</a:t>
            </a:r>
            <a:endParaRPr sz="1100"/>
          </a:p>
        </p:txBody>
      </p:sp>
      <p:cxnSp>
        <p:nvCxnSpPr>
          <p:cNvPr id="761" name="Google Shape;761;p19"/>
          <p:cNvCxnSpPr/>
          <p:nvPr/>
        </p:nvCxnSpPr>
        <p:spPr>
          <a:xfrm>
            <a:off x="4526280" y="2708910"/>
            <a:ext cx="0" cy="34290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62" name="Google Shape;762;p19"/>
          <p:cNvSpPr txBox="1"/>
          <p:nvPr/>
        </p:nvSpPr>
        <p:spPr>
          <a:xfrm>
            <a:off x="5062687" y="2316653"/>
            <a:ext cx="4578178" cy="28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RNN</a:t>
            </a:r>
            <a:endParaRPr sz="1100"/>
          </a:p>
        </p:txBody>
      </p:sp>
      <p:cxnSp>
        <p:nvCxnSpPr>
          <p:cNvPr id="763" name="Google Shape;763;p19"/>
          <p:cNvCxnSpPr/>
          <p:nvPr/>
        </p:nvCxnSpPr>
        <p:spPr>
          <a:xfrm>
            <a:off x="7354373" y="2708910"/>
            <a:ext cx="0" cy="34290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69" name="Google Shape;769;p20"/>
          <p:cNvCxnSpPr/>
          <p:nvPr/>
        </p:nvCxnSpPr>
        <p:spPr>
          <a:xfrm>
            <a:off x="0" y="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70" name="Google Shape;770;p20"/>
          <p:cNvCxnSpPr/>
          <p:nvPr/>
        </p:nvCxnSpPr>
        <p:spPr>
          <a:xfrm>
            <a:off x="0" y="65151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71" name="Google Shape;771;p20"/>
          <p:cNvCxnSpPr/>
          <p:nvPr/>
        </p:nvCxnSpPr>
        <p:spPr>
          <a:xfrm>
            <a:off x="0" y="130302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72" name="Google Shape;772;p20"/>
          <p:cNvCxnSpPr/>
          <p:nvPr/>
        </p:nvCxnSpPr>
        <p:spPr>
          <a:xfrm>
            <a:off x="0" y="195453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73" name="Google Shape;773;p20"/>
          <p:cNvCxnSpPr/>
          <p:nvPr/>
        </p:nvCxnSpPr>
        <p:spPr>
          <a:xfrm>
            <a:off x="0" y="260604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74" name="Google Shape;774;p20"/>
          <p:cNvCxnSpPr/>
          <p:nvPr/>
        </p:nvCxnSpPr>
        <p:spPr>
          <a:xfrm>
            <a:off x="0" y="325755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75" name="Google Shape;775;p20"/>
          <p:cNvCxnSpPr/>
          <p:nvPr/>
        </p:nvCxnSpPr>
        <p:spPr>
          <a:xfrm>
            <a:off x="0" y="390906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76" name="Google Shape;776;p20"/>
          <p:cNvCxnSpPr/>
          <p:nvPr/>
        </p:nvCxnSpPr>
        <p:spPr>
          <a:xfrm>
            <a:off x="0" y="456057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77" name="Google Shape;777;p20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78" name="Google Shape;778;p20"/>
          <p:cNvCxnSpPr/>
          <p:nvPr/>
        </p:nvCxnSpPr>
        <p:spPr>
          <a:xfrm>
            <a:off x="7886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79" name="Google Shape;779;p20"/>
          <p:cNvCxnSpPr/>
          <p:nvPr/>
        </p:nvCxnSpPr>
        <p:spPr>
          <a:xfrm>
            <a:off x="157734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80" name="Google Shape;780;p20"/>
          <p:cNvCxnSpPr/>
          <p:nvPr/>
        </p:nvCxnSpPr>
        <p:spPr>
          <a:xfrm>
            <a:off x="236601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81" name="Google Shape;781;p20"/>
          <p:cNvCxnSpPr/>
          <p:nvPr/>
        </p:nvCxnSpPr>
        <p:spPr>
          <a:xfrm>
            <a:off x="315468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82" name="Google Shape;782;p20"/>
          <p:cNvCxnSpPr/>
          <p:nvPr/>
        </p:nvCxnSpPr>
        <p:spPr>
          <a:xfrm>
            <a:off x="394335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83" name="Google Shape;783;p20"/>
          <p:cNvCxnSpPr/>
          <p:nvPr/>
        </p:nvCxnSpPr>
        <p:spPr>
          <a:xfrm>
            <a:off x="473202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84" name="Google Shape;784;p20"/>
          <p:cNvCxnSpPr/>
          <p:nvPr/>
        </p:nvCxnSpPr>
        <p:spPr>
          <a:xfrm>
            <a:off x="5534406" y="54864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85" name="Google Shape;785;p20"/>
          <p:cNvCxnSpPr/>
          <p:nvPr/>
        </p:nvCxnSpPr>
        <p:spPr>
          <a:xfrm>
            <a:off x="630936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86" name="Google Shape;786;p20"/>
          <p:cNvCxnSpPr/>
          <p:nvPr/>
        </p:nvCxnSpPr>
        <p:spPr>
          <a:xfrm>
            <a:off x="709803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87" name="Google Shape;787;p20"/>
          <p:cNvCxnSpPr/>
          <p:nvPr/>
        </p:nvCxnSpPr>
        <p:spPr>
          <a:xfrm>
            <a:off x="788670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88" name="Google Shape;788;p20"/>
          <p:cNvCxnSpPr/>
          <p:nvPr/>
        </p:nvCxnSpPr>
        <p:spPr>
          <a:xfrm>
            <a:off x="86753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89" name="Google Shape;789;p20"/>
          <p:cNvSpPr/>
          <p:nvPr/>
        </p:nvSpPr>
        <p:spPr>
          <a:xfrm>
            <a:off x="0" y="0"/>
            <a:ext cx="9143771" cy="246888"/>
          </a:xfrm>
          <a:prstGeom prst="rect">
            <a:avLst/>
          </a:prstGeom>
          <a:solidFill>
            <a:srgbClr val="04101F"/>
          </a:solidFill>
          <a:ln w="12700" cap="flat" cmpd="sng">
            <a:solidFill>
              <a:srgbClr val="0410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0" name="Google Shape;790;p20"/>
          <p:cNvSpPr/>
          <p:nvPr/>
        </p:nvSpPr>
        <p:spPr>
          <a:xfrm>
            <a:off x="260604" y="68580"/>
            <a:ext cx="322326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RNN · PHÁT TRIỂN HỆ THỐNG THÔNG MINH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1" name="Google Shape;791;p20"/>
          <p:cNvSpPr/>
          <p:nvPr/>
        </p:nvSpPr>
        <p:spPr>
          <a:xfrm>
            <a:off x="3531870" y="61722"/>
            <a:ext cx="3429000" cy="123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D9E5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14D9E5"/>
                </a:solidFill>
                <a:latin typeface="Montserrat"/>
                <a:ea typeface="Montserrat"/>
                <a:cs typeface="Montserrat"/>
                <a:sym typeface="Montserrat"/>
              </a:rPr>
              <a:t>PHẦN 4 · CÁC DẠNG RNN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2" name="Google Shape;792;p20"/>
          <p:cNvSpPr/>
          <p:nvPr/>
        </p:nvSpPr>
        <p:spPr>
          <a:xfrm>
            <a:off x="425196" y="493776"/>
            <a:ext cx="507492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7FF"/>
              </a:buClr>
              <a:buSzPts val="2000"/>
              <a:buFont typeface="Montserrat"/>
              <a:buNone/>
            </a:pPr>
            <a:r>
              <a:rPr lang="en" sz="2000" b="1">
                <a:solidFill>
                  <a:srgbClr val="F2F7FF"/>
                </a:solidFill>
                <a:latin typeface="Montserrat"/>
                <a:ea typeface="Montserrat"/>
                <a:cs typeface="Montserrat"/>
                <a:sym typeface="Montserrat"/>
              </a:rPr>
              <a:t>Các dạng ánh xạ Input–Output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3" name="Google Shape;793;p20"/>
          <p:cNvSpPr/>
          <p:nvPr/>
        </p:nvSpPr>
        <p:spPr>
          <a:xfrm>
            <a:off x="438912" y="850392"/>
            <a:ext cx="5486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700"/>
              <a:buFont typeface="Montserrat"/>
              <a:buNone/>
            </a:pPr>
            <a:r>
              <a:rPr lang="en" sz="700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RNN có thể được tổ chức theo nhiều dạng bài toán chuỗi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4" name="Google Shape;794;p20"/>
          <p:cNvSpPr/>
          <p:nvPr/>
        </p:nvSpPr>
        <p:spPr>
          <a:xfrm>
            <a:off x="445769" y="1371600"/>
            <a:ext cx="1920240" cy="2468880"/>
          </a:xfrm>
          <a:prstGeom prst="roundRect">
            <a:avLst>
              <a:gd name="adj" fmla="val 2857"/>
            </a:avLst>
          </a:prstGeom>
          <a:solidFill>
            <a:srgbClr val="0A1D35"/>
          </a:solidFill>
          <a:ln w="12700" cap="flat" cmpd="sng">
            <a:solidFill>
              <a:srgbClr val="9EB3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5" name="Google Shape;795;p20"/>
          <p:cNvSpPr/>
          <p:nvPr/>
        </p:nvSpPr>
        <p:spPr>
          <a:xfrm>
            <a:off x="582930" y="1543050"/>
            <a:ext cx="1714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1100"/>
              <a:buFont typeface="Montserrat"/>
              <a:buNone/>
            </a:pPr>
            <a:r>
              <a:rPr lang="en" sz="1100" b="1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One-to-One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6" name="Google Shape;796;p20"/>
          <p:cNvSpPr/>
          <p:nvPr/>
        </p:nvSpPr>
        <p:spPr>
          <a:xfrm>
            <a:off x="1268730" y="2811780"/>
            <a:ext cx="308610" cy="308610"/>
          </a:xfrm>
          <a:prstGeom prst="ellipse">
            <a:avLst/>
          </a:prstGeom>
          <a:solidFill>
            <a:srgbClr val="A78BFA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7" name="Google Shape;797;p20"/>
          <p:cNvSpPr/>
          <p:nvPr/>
        </p:nvSpPr>
        <p:spPr>
          <a:xfrm>
            <a:off x="1282446" y="2895105"/>
            <a:ext cx="281178" cy="104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Montserrat"/>
              <a:buNone/>
            </a:pPr>
            <a:r>
              <a:rPr lang="en" sz="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8" name="Google Shape;798;p20"/>
          <p:cNvSpPr/>
          <p:nvPr/>
        </p:nvSpPr>
        <p:spPr>
          <a:xfrm>
            <a:off x="1268730" y="2194560"/>
            <a:ext cx="308610" cy="308610"/>
          </a:xfrm>
          <a:prstGeom prst="ellipse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9" name="Google Shape;799;p20"/>
          <p:cNvSpPr/>
          <p:nvPr/>
        </p:nvSpPr>
        <p:spPr>
          <a:xfrm>
            <a:off x="1282446" y="2277885"/>
            <a:ext cx="281178" cy="104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Montserrat"/>
              <a:buNone/>
            </a:pPr>
            <a:r>
              <a:rPr lang="en" sz="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0" name="Google Shape;800;p20"/>
          <p:cNvSpPr/>
          <p:nvPr/>
        </p:nvSpPr>
        <p:spPr>
          <a:xfrm>
            <a:off x="617220" y="3497580"/>
            <a:ext cx="16459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600"/>
              <a:buFont typeface="Montserrat"/>
              <a:buNone/>
            </a:pPr>
            <a:r>
              <a:rPr lang="en" sz="600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1 input → 1 output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1" name="Google Shape;801;p20"/>
          <p:cNvSpPr/>
          <p:nvPr/>
        </p:nvSpPr>
        <p:spPr>
          <a:xfrm>
            <a:off x="2640330" y="1371600"/>
            <a:ext cx="1920240" cy="2468880"/>
          </a:xfrm>
          <a:prstGeom prst="roundRect">
            <a:avLst>
              <a:gd name="adj" fmla="val 2857"/>
            </a:avLst>
          </a:prstGeom>
          <a:solidFill>
            <a:srgbClr val="0A1D35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2" name="Google Shape;802;p20"/>
          <p:cNvSpPr/>
          <p:nvPr/>
        </p:nvSpPr>
        <p:spPr>
          <a:xfrm>
            <a:off x="2743200" y="1543050"/>
            <a:ext cx="1714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Montserrat"/>
              <a:buNone/>
            </a:pPr>
            <a:r>
              <a:rPr lang="en" sz="1100" b="1">
                <a:solidFill>
                  <a:srgbClr val="34D399"/>
                </a:solidFill>
                <a:latin typeface="Montserrat"/>
                <a:ea typeface="Montserrat"/>
                <a:cs typeface="Montserrat"/>
                <a:sym typeface="Montserrat"/>
              </a:rPr>
              <a:t>One-to-Many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3" name="Google Shape;803;p20"/>
          <p:cNvSpPr/>
          <p:nvPr/>
        </p:nvSpPr>
        <p:spPr>
          <a:xfrm>
            <a:off x="2880360" y="2743200"/>
            <a:ext cx="308610" cy="308610"/>
          </a:xfrm>
          <a:prstGeom prst="ellipse">
            <a:avLst/>
          </a:prstGeom>
          <a:solidFill>
            <a:srgbClr val="A78BFA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4" name="Google Shape;804;p20"/>
          <p:cNvSpPr/>
          <p:nvPr/>
        </p:nvSpPr>
        <p:spPr>
          <a:xfrm>
            <a:off x="2894076" y="2826525"/>
            <a:ext cx="281178" cy="104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Montserrat"/>
              <a:buNone/>
            </a:pPr>
            <a:r>
              <a:rPr lang="en" sz="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5" name="Google Shape;805;p20"/>
          <p:cNvSpPr/>
          <p:nvPr/>
        </p:nvSpPr>
        <p:spPr>
          <a:xfrm>
            <a:off x="3463290" y="2160270"/>
            <a:ext cx="260604" cy="260604"/>
          </a:xfrm>
          <a:prstGeom prst="ellipse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6" name="Google Shape;806;p20"/>
          <p:cNvSpPr/>
          <p:nvPr/>
        </p:nvSpPr>
        <p:spPr>
          <a:xfrm>
            <a:off x="3477006" y="2230633"/>
            <a:ext cx="233172" cy="88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07" name="Google Shape;807;p20"/>
          <p:cNvCxnSpPr/>
          <p:nvPr/>
        </p:nvCxnSpPr>
        <p:spPr>
          <a:xfrm rot="10800000" flipH="1">
            <a:off x="3031235" y="2331719"/>
            <a:ext cx="432053" cy="411481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08" name="Google Shape;808;p20"/>
          <p:cNvSpPr/>
          <p:nvPr/>
        </p:nvSpPr>
        <p:spPr>
          <a:xfrm>
            <a:off x="3840480" y="2160270"/>
            <a:ext cx="260604" cy="260604"/>
          </a:xfrm>
          <a:prstGeom prst="ellipse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9" name="Google Shape;809;p20"/>
          <p:cNvSpPr/>
          <p:nvPr/>
        </p:nvSpPr>
        <p:spPr>
          <a:xfrm>
            <a:off x="3854196" y="2230633"/>
            <a:ext cx="233172" cy="88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10" name="Google Shape;810;p20"/>
          <p:cNvCxnSpPr/>
          <p:nvPr/>
        </p:nvCxnSpPr>
        <p:spPr>
          <a:xfrm rot="10800000" flipH="1">
            <a:off x="3205528" y="2420874"/>
            <a:ext cx="1135587" cy="510578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11" name="Google Shape;811;p20"/>
          <p:cNvSpPr/>
          <p:nvPr/>
        </p:nvSpPr>
        <p:spPr>
          <a:xfrm>
            <a:off x="4217670" y="2160270"/>
            <a:ext cx="260604" cy="260604"/>
          </a:xfrm>
          <a:prstGeom prst="ellipse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2" name="Google Shape;812;p20"/>
          <p:cNvSpPr/>
          <p:nvPr/>
        </p:nvSpPr>
        <p:spPr>
          <a:xfrm>
            <a:off x="4231386" y="2230633"/>
            <a:ext cx="233172" cy="88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13" name="Google Shape;813;p20"/>
          <p:cNvCxnSpPr/>
          <p:nvPr/>
        </p:nvCxnSpPr>
        <p:spPr>
          <a:xfrm rot="10800000" flipH="1">
            <a:off x="3182110" y="2386584"/>
            <a:ext cx="692656" cy="442103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14" name="Google Shape;814;p20"/>
          <p:cNvSpPr/>
          <p:nvPr/>
        </p:nvSpPr>
        <p:spPr>
          <a:xfrm>
            <a:off x="2777490" y="3497580"/>
            <a:ext cx="16459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600"/>
              <a:buFont typeface="Montserrat"/>
              <a:buNone/>
            </a:pPr>
            <a:r>
              <a:rPr lang="en" sz="600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1 input → chuỗi output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5" name="Google Shape;815;p20"/>
          <p:cNvSpPr/>
          <p:nvPr/>
        </p:nvSpPr>
        <p:spPr>
          <a:xfrm>
            <a:off x="4855464" y="1373144"/>
            <a:ext cx="1920240" cy="2468880"/>
          </a:xfrm>
          <a:prstGeom prst="roundRect">
            <a:avLst>
              <a:gd name="adj" fmla="val 2857"/>
            </a:avLst>
          </a:prstGeom>
          <a:solidFill>
            <a:srgbClr val="0A1D35"/>
          </a:solidFill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6" name="Google Shape;816;p20"/>
          <p:cNvSpPr/>
          <p:nvPr/>
        </p:nvSpPr>
        <p:spPr>
          <a:xfrm>
            <a:off x="4903470" y="1543050"/>
            <a:ext cx="1714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D9E5"/>
              </a:buClr>
              <a:buSzPts val="1100"/>
              <a:buFont typeface="Montserrat"/>
              <a:buNone/>
            </a:pPr>
            <a:r>
              <a:rPr lang="en" sz="1100" b="1">
                <a:solidFill>
                  <a:srgbClr val="14D9E5"/>
                </a:solidFill>
                <a:latin typeface="Montserrat"/>
                <a:ea typeface="Montserrat"/>
                <a:cs typeface="Montserrat"/>
                <a:sym typeface="Montserrat"/>
              </a:rPr>
              <a:t>Many-to-One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7" name="Google Shape;817;p20"/>
          <p:cNvSpPr/>
          <p:nvPr/>
        </p:nvSpPr>
        <p:spPr>
          <a:xfrm>
            <a:off x="5143500" y="2743200"/>
            <a:ext cx="260604" cy="260604"/>
          </a:xfrm>
          <a:prstGeom prst="ellipse">
            <a:avLst/>
          </a:prstGeom>
          <a:solidFill>
            <a:srgbClr val="A78BFA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8" name="Google Shape;818;p20"/>
          <p:cNvSpPr/>
          <p:nvPr/>
        </p:nvSpPr>
        <p:spPr>
          <a:xfrm>
            <a:off x="5157216" y="2813563"/>
            <a:ext cx="233172" cy="88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9" name="Google Shape;819;p20"/>
          <p:cNvSpPr/>
          <p:nvPr/>
        </p:nvSpPr>
        <p:spPr>
          <a:xfrm>
            <a:off x="5520690" y="2743200"/>
            <a:ext cx="260604" cy="260604"/>
          </a:xfrm>
          <a:prstGeom prst="ellipse">
            <a:avLst/>
          </a:prstGeom>
          <a:solidFill>
            <a:srgbClr val="A78BFA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0" name="Google Shape;820;p20"/>
          <p:cNvSpPr/>
          <p:nvPr/>
        </p:nvSpPr>
        <p:spPr>
          <a:xfrm>
            <a:off x="5534406" y="2813563"/>
            <a:ext cx="233172" cy="88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1" name="Google Shape;821;p20"/>
          <p:cNvSpPr/>
          <p:nvPr/>
        </p:nvSpPr>
        <p:spPr>
          <a:xfrm>
            <a:off x="5897880" y="2743200"/>
            <a:ext cx="260604" cy="260604"/>
          </a:xfrm>
          <a:prstGeom prst="ellipse">
            <a:avLst/>
          </a:prstGeom>
          <a:solidFill>
            <a:srgbClr val="A78BFA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2" name="Google Shape;822;p20"/>
          <p:cNvSpPr/>
          <p:nvPr/>
        </p:nvSpPr>
        <p:spPr>
          <a:xfrm>
            <a:off x="5911596" y="2813563"/>
            <a:ext cx="233172" cy="88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3" name="Google Shape;823;p20"/>
          <p:cNvSpPr/>
          <p:nvPr/>
        </p:nvSpPr>
        <p:spPr>
          <a:xfrm>
            <a:off x="5760720" y="2125980"/>
            <a:ext cx="308610" cy="308610"/>
          </a:xfrm>
          <a:prstGeom prst="ellipse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4" name="Google Shape;824;p20"/>
          <p:cNvSpPr/>
          <p:nvPr/>
        </p:nvSpPr>
        <p:spPr>
          <a:xfrm>
            <a:off x="5774436" y="2209305"/>
            <a:ext cx="281178" cy="104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Montserrat"/>
              <a:buNone/>
            </a:pPr>
            <a:r>
              <a:rPr lang="en" sz="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5" name="Google Shape;825;p20"/>
          <p:cNvSpPr/>
          <p:nvPr/>
        </p:nvSpPr>
        <p:spPr>
          <a:xfrm>
            <a:off x="4937760" y="3497580"/>
            <a:ext cx="16459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600"/>
              <a:buFont typeface="Montserrat"/>
              <a:buNone/>
            </a:pPr>
            <a:r>
              <a:rPr lang="en" sz="600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chuỗi input → 1 output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6" name="Google Shape;826;p20"/>
          <p:cNvSpPr/>
          <p:nvPr/>
        </p:nvSpPr>
        <p:spPr>
          <a:xfrm>
            <a:off x="6967727" y="1371600"/>
            <a:ext cx="1920240" cy="2468880"/>
          </a:xfrm>
          <a:prstGeom prst="roundRect">
            <a:avLst>
              <a:gd name="adj" fmla="val 2857"/>
            </a:avLst>
          </a:prstGeom>
          <a:solidFill>
            <a:srgbClr val="0A1D35"/>
          </a:solidFill>
          <a:ln w="12700" cap="flat" cmpd="sng">
            <a:solidFill>
              <a:srgbClr val="F472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7" name="Google Shape;827;p20"/>
          <p:cNvSpPr/>
          <p:nvPr/>
        </p:nvSpPr>
        <p:spPr>
          <a:xfrm>
            <a:off x="7063740" y="1543050"/>
            <a:ext cx="1714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100"/>
              <a:buFont typeface="Montserrat"/>
              <a:buNone/>
            </a:pPr>
            <a:r>
              <a:rPr lang="en" sz="1100" b="1">
                <a:solidFill>
                  <a:srgbClr val="F472B6"/>
                </a:solidFill>
                <a:latin typeface="Montserrat"/>
                <a:ea typeface="Montserrat"/>
                <a:cs typeface="Montserrat"/>
                <a:sym typeface="Montserrat"/>
              </a:rPr>
              <a:t>Many-to-Many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8" name="Google Shape;828;p20"/>
          <p:cNvSpPr/>
          <p:nvPr/>
        </p:nvSpPr>
        <p:spPr>
          <a:xfrm>
            <a:off x="7338060" y="2743200"/>
            <a:ext cx="260604" cy="260604"/>
          </a:xfrm>
          <a:prstGeom prst="ellipse">
            <a:avLst/>
          </a:prstGeom>
          <a:solidFill>
            <a:srgbClr val="A78BFA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9" name="Google Shape;829;p20"/>
          <p:cNvSpPr/>
          <p:nvPr/>
        </p:nvSpPr>
        <p:spPr>
          <a:xfrm>
            <a:off x="7351776" y="2813563"/>
            <a:ext cx="233172" cy="88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0" name="Google Shape;830;p20"/>
          <p:cNvSpPr/>
          <p:nvPr/>
        </p:nvSpPr>
        <p:spPr>
          <a:xfrm>
            <a:off x="7338060" y="2125980"/>
            <a:ext cx="260604" cy="260604"/>
          </a:xfrm>
          <a:prstGeom prst="ellipse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1" name="Google Shape;831;p20"/>
          <p:cNvSpPr/>
          <p:nvPr/>
        </p:nvSpPr>
        <p:spPr>
          <a:xfrm>
            <a:off x="7351776" y="2196343"/>
            <a:ext cx="233172" cy="88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2" name="Google Shape;832;p20"/>
          <p:cNvSpPr/>
          <p:nvPr/>
        </p:nvSpPr>
        <p:spPr>
          <a:xfrm>
            <a:off x="7715250" y="2743200"/>
            <a:ext cx="260604" cy="260604"/>
          </a:xfrm>
          <a:prstGeom prst="ellipse">
            <a:avLst/>
          </a:prstGeom>
          <a:solidFill>
            <a:srgbClr val="A78BFA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3" name="Google Shape;833;p20"/>
          <p:cNvSpPr/>
          <p:nvPr/>
        </p:nvSpPr>
        <p:spPr>
          <a:xfrm>
            <a:off x="7728966" y="2813563"/>
            <a:ext cx="233172" cy="88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4" name="Google Shape;834;p20"/>
          <p:cNvSpPr/>
          <p:nvPr/>
        </p:nvSpPr>
        <p:spPr>
          <a:xfrm>
            <a:off x="7715250" y="2125980"/>
            <a:ext cx="260604" cy="260604"/>
          </a:xfrm>
          <a:prstGeom prst="ellipse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5" name="Google Shape;835;p20"/>
          <p:cNvSpPr/>
          <p:nvPr/>
        </p:nvSpPr>
        <p:spPr>
          <a:xfrm>
            <a:off x="7728966" y="2196343"/>
            <a:ext cx="233172" cy="88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6" name="Google Shape;836;p20"/>
          <p:cNvSpPr/>
          <p:nvPr/>
        </p:nvSpPr>
        <p:spPr>
          <a:xfrm>
            <a:off x="8092440" y="2743200"/>
            <a:ext cx="260604" cy="260604"/>
          </a:xfrm>
          <a:prstGeom prst="ellipse">
            <a:avLst/>
          </a:prstGeom>
          <a:solidFill>
            <a:srgbClr val="A78BFA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7" name="Google Shape;837;p20"/>
          <p:cNvSpPr/>
          <p:nvPr/>
        </p:nvSpPr>
        <p:spPr>
          <a:xfrm>
            <a:off x="8106156" y="2813563"/>
            <a:ext cx="233172" cy="88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8" name="Google Shape;838;p20"/>
          <p:cNvSpPr/>
          <p:nvPr/>
        </p:nvSpPr>
        <p:spPr>
          <a:xfrm>
            <a:off x="8092440" y="2125980"/>
            <a:ext cx="260604" cy="260604"/>
          </a:xfrm>
          <a:prstGeom prst="ellipse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9" name="Google Shape;839;p20"/>
          <p:cNvSpPr/>
          <p:nvPr/>
        </p:nvSpPr>
        <p:spPr>
          <a:xfrm>
            <a:off x="8106156" y="2196343"/>
            <a:ext cx="233172" cy="88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0" name="Google Shape;840;p20"/>
          <p:cNvSpPr/>
          <p:nvPr/>
        </p:nvSpPr>
        <p:spPr>
          <a:xfrm>
            <a:off x="7098030" y="3497580"/>
            <a:ext cx="16459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600"/>
              <a:buFont typeface="Montserrat"/>
              <a:buNone/>
            </a:pPr>
            <a:r>
              <a:rPr lang="en" sz="600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chuỗi input → chuỗi output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41" name="Google Shape;841;p20"/>
          <p:cNvCxnSpPr>
            <a:stCxn id="796" idx="0"/>
            <a:endCxn id="798" idx="4"/>
          </p:cNvCxnSpPr>
          <p:nvPr/>
        </p:nvCxnSpPr>
        <p:spPr>
          <a:xfrm rot="10800000">
            <a:off x="1423035" y="2503080"/>
            <a:ext cx="0" cy="308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842" name="Google Shape;842;p20"/>
          <p:cNvCxnSpPr/>
          <p:nvPr/>
        </p:nvCxnSpPr>
        <p:spPr>
          <a:xfrm rot="10800000" flipH="1">
            <a:off x="5284922" y="2295885"/>
            <a:ext cx="482656" cy="443782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43" name="Google Shape;843;p20"/>
          <p:cNvCxnSpPr/>
          <p:nvPr/>
        </p:nvCxnSpPr>
        <p:spPr>
          <a:xfrm rot="10800000" flipH="1">
            <a:off x="5685283" y="2434588"/>
            <a:ext cx="171443" cy="305075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44" name="Google Shape;844;p20"/>
          <p:cNvCxnSpPr/>
          <p:nvPr/>
        </p:nvCxnSpPr>
        <p:spPr>
          <a:xfrm rot="10800000" flipH="1">
            <a:off x="6021331" y="2386584"/>
            <a:ext cx="6844" cy="35586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45" name="Google Shape;845;p20"/>
          <p:cNvCxnSpPr/>
          <p:nvPr/>
        </p:nvCxnSpPr>
        <p:spPr>
          <a:xfrm rot="10800000" flipH="1">
            <a:off x="7451224" y="2389123"/>
            <a:ext cx="6845" cy="35586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46" name="Google Shape;846;p20"/>
          <p:cNvCxnSpPr/>
          <p:nvPr/>
        </p:nvCxnSpPr>
        <p:spPr>
          <a:xfrm rot="10800000" flipH="1">
            <a:off x="7845552" y="2383793"/>
            <a:ext cx="6845" cy="35586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47" name="Google Shape;847;p20"/>
          <p:cNvCxnSpPr/>
          <p:nvPr/>
        </p:nvCxnSpPr>
        <p:spPr>
          <a:xfrm rot="10800000" flipH="1">
            <a:off x="8197069" y="2376689"/>
            <a:ext cx="6845" cy="35586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848" name="Google Shape;848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0937" y="1796843"/>
            <a:ext cx="1554615" cy="1697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9" name="Google Shape;849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67990" y="2005933"/>
            <a:ext cx="1710284" cy="1359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850" name="Google Shape;850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63052" y="2105649"/>
            <a:ext cx="1724913" cy="1103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851" name="Google Shape;851;p2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080432" y="2053288"/>
            <a:ext cx="1746619" cy="13465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7" name="Google Shape;857;p21"/>
          <p:cNvCxnSpPr/>
          <p:nvPr/>
        </p:nvCxnSpPr>
        <p:spPr>
          <a:xfrm>
            <a:off x="0" y="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58" name="Google Shape;858;p21"/>
          <p:cNvCxnSpPr/>
          <p:nvPr/>
        </p:nvCxnSpPr>
        <p:spPr>
          <a:xfrm>
            <a:off x="0" y="65151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59" name="Google Shape;859;p21"/>
          <p:cNvCxnSpPr/>
          <p:nvPr/>
        </p:nvCxnSpPr>
        <p:spPr>
          <a:xfrm>
            <a:off x="0" y="130302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0" name="Google Shape;860;p21"/>
          <p:cNvCxnSpPr/>
          <p:nvPr/>
        </p:nvCxnSpPr>
        <p:spPr>
          <a:xfrm>
            <a:off x="0" y="195453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1" name="Google Shape;861;p21"/>
          <p:cNvCxnSpPr/>
          <p:nvPr/>
        </p:nvCxnSpPr>
        <p:spPr>
          <a:xfrm>
            <a:off x="0" y="260604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2" name="Google Shape;862;p21"/>
          <p:cNvCxnSpPr/>
          <p:nvPr/>
        </p:nvCxnSpPr>
        <p:spPr>
          <a:xfrm>
            <a:off x="0" y="325755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3" name="Google Shape;863;p21"/>
          <p:cNvCxnSpPr/>
          <p:nvPr/>
        </p:nvCxnSpPr>
        <p:spPr>
          <a:xfrm>
            <a:off x="0" y="390906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4" name="Google Shape;864;p21"/>
          <p:cNvCxnSpPr/>
          <p:nvPr/>
        </p:nvCxnSpPr>
        <p:spPr>
          <a:xfrm>
            <a:off x="0" y="456057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5" name="Google Shape;865;p21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6" name="Google Shape;866;p21"/>
          <p:cNvCxnSpPr/>
          <p:nvPr/>
        </p:nvCxnSpPr>
        <p:spPr>
          <a:xfrm>
            <a:off x="7886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7" name="Google Shape;867;p21"/>
          <p:cNvCxnSpPr/>
          <p:nvPr/>
        </p:nvCxnSpPr>
        <p:spPr>
          <a:xfrm>
            <a:off x="157734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8" name="Google Shape;868;p21"/>
          <p:cNvCxnSpPr/>
          <p:nvPr/>
        </p:nvCxnSpPr>
        <p:spPr>
          <a:xfrm>
            <a:off x="236601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9" name="Google Shape;869;p21"/>
          <p:cNvCxnSpPr/>
          <p:nvPr/>
        </p:nvCxnSpPr>
        <p:spPr>
          <a:xfrm>
            <a:off x="315468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70" name="Google Shape;870;p21"/>
          <p:cNvCxnSpPr/>
          <p:nvPr/>
        </p:nvCxnSpPr>
        <p:spPr>
          <a:xfrm>
            <a:off x="394335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71" name="Google Shape;871;p21"/>
          <p:cNvCxnSpPr/>
          <p:nvPr/>
        </p:nvCxnSpPr>
        <p:spPr>
          <a:xfrm>
            <a:off x="473202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72" name="Google Shape;872;p21"/>
          <p:cNvCxnSpPr/>
          <p:nvPr/>
        </p:nvCxnSpPr>
        <p:spPr>
          <a:xfrm>
            <a:off x="552069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73" name="Google Shape;873;p21"/>
          <p:cNvCxnSpPr/>
          <p:nvPr/>
        </p:nvCxnSpPr>
        <p:spPr>
          <a:xfrm>
            <a:off x="630936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74" name="Google Shape;874;p21"/>
          <p:cNvCxnSpPr/>
          <p:nvPr/>
        </p:nvCxnSpPr>
        <p:spPr>
          <a:xfrm>
            <a:off x="709803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75" name="Google Shape;875;p21"/>
          <p:cNvCxnSpPr/>
          <p:nvPr/>
        </p:nvCxnSpPr>
        <p:spPr>
          <a:xfrm>
            <a:off x="788670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76" name="Google Shape;876;p21"/>
          <p:cNvCxnSpPr/>
          <p:nvPr/>
        </p:nvCxnSpPr>
        <p:spPr>
          <a:xfrm>
            <a:off x="86753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7" name="Google Shape;877;p21"/>
          <p:cNvSpPr/>
          <p:nvPr/>
        </p:nvSpPr>
        <p:spPr>
          <a:xfrm>
            <a:off x="0" y="0"/>
            <a:ext cx="9143771" cy="246888"/>
          </a:xfrm>
          <a:prstGeom prst="rect">
            <a:avLst/>
          </a:prstGeom>
          <a:solidFill>
            <a:srgbClr val="04101F"/>
          </a:solidFill>
          <a:ln w="12700" cap="flat" cmpd="sng">
            <a:solidFill>
              <a:srgbClr val="0410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8" name="Google Shape;878;p21"/>
          <p:cNvSpPr/>
          <p:nvPr/>
        </p:nvSpPr>
        <p:spPr>
          <a:xfrm>
            <a:off x="260604" y="68580"/>
            <a:ext cx="322326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RNN · PHÁT TRIỂN HỆ THỐNG THÔNG MINH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9" name="Google Shape;879;p21"/>
          <p:cNvSpPr/>
          <p:nvPr/>
        </p:nvSpPr>
        <p:spPr>
          <a:xfrm>
            <a:off x="3531870" y="61722"/>
            <a:ext cx="3429000" cy="123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D9E5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14D9E5"/>
                </a:solidFill>
                <a:latin typeface="Montserrat"/>
                <a:ea typeface="Montserrat"/>
                <a:cs typeface="Montserrat"/>
                <a:sym typeface="Montserrat"/>
              </a:rPr>
              <a:t>PHẦN 4 · CÁC DẠNG RNN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0" name="Google Shape;880;p21"/>
          <p:cNvSpPr/>
          <p:nvPr/>
        </p:nvSpPr>
        <p:spPr>
          <a:xfrm>
            <a:off x="425196" y="493776"/>
            <a:ext cx="507492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7FF"/>
              </a:buClr>
              <a:buSzPts val="2000"/>
              <a:buFont typeface="Montserrat"/>
              <a:buNone/>
            </a:pPr>
            <a:r>
              <a:rPr lang="en" sz="2000" b="1">
                <a:solidFill>
                  <a:srgbClr val="F2F7FF"/>
                </a:solidFill>
                <a:latin typeface="Montserrat"/>
                <a:ea typeface="Montserrat"/>
                <a:cs typeface="Montserrat"/>
                <a:sym typeface="Montserrat"/>
              </a:rPr>
              <a:t>One-to-Many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1" name="Google Shape;881;p21"/>
          <p:cNvSpPr/>
          <p:nvPr/>
        </p:nvSpPr>
        <p:spPr>
          <a:xfrm>
            <a:off x="438912" y="850392"/>
            <a:ext cx="5486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700"/>
              <a:buFont typeface="Montserrat"/>
              <a:buNone/>
            </a:pPr>
            <a:r>
              <a:rPr lang="en" sz="700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Một input ban đầu tạo ra một chuỗi output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2" name="Google Shape;882;p21"/>
          <p:cNvSpPr/>
          <p:nvPr/>
        </p:nvSpPr>
        <p:spPr>
          <a:xfrm>
            <a:off x="685800" y="2268839"/>
            <a:ext cx="411480" cy="411480"/>
          </a:xfrm>
          <a:prstGeom prst="ellipse">
            <a:avLst/>
          </a:prstGeom>
          <a:solidFill>
            <a:srgbClr val="A78BFA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3" name="Google Shape;883;p21"/>
          <p:cNvSpPr/>
          <p:nvPr/>
        </p:nvSpPr>
        <p:spPr>
          <a:xfrm>
            <a:off x="699516" y="2404627"/>
            <a:ext cx="384048" cy="139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ontserrat"/>
              <a:buNone/>
            </a:pPr>
            <a:r>
              <a:rPr lang="en" sz="8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84" name="Google Shape;884;p21"/>
          <p:cNvCxnSpPr/>
          <p:nvPr/>
        </p:nvCxnSpPr>
        <p:spPr>
          <a:xfrm>
            <a:off x="1131570" y="2482016"/>
            <a:ext cx="576072" cy="7438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85" name="Google Shape;885;p21"/>
          <p:cNvSpPr/>
          <p:nvPr/>
        </p:nvSpPr>
        <p:spPr>
          <a:xfrm>
            <a:off x="1714500" y="2228850"/>
            <a:ext cx="720090" cy="514350"/>
          </a:xfrm>
          <a:prstGeom prst="roundRect">
            <a:avLst>
              <a:gd name="adj" fmla="val 10667"/>
            </a:avLst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6" name="Google Shape;886;p21"/>
          <p:cNvSpPr/>
          <p:nvPr/>
        </p:nvSpPr>
        <p:spPr>
          <a:xfrm>
            <a:off x="1741932" y="2324862"/>
            <a:ext cx="665226" cy="216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lang="en" sz="12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RNN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7" name="Google Shape;887;p21"/>
          <p:cNvSpPr/>
          <p:nvPr/>
        </p:nvSpPr>
        <p:spPr>
          <a:xfrm>
            <a:off x="1885950" y="1474470"/>
            <a:ext cx="342900" cy="342900"/>
          </a:xfrm>
          <a:prstGeom prst="ellipse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8" name="Google Shape;888;p21"/>
          <p:cNvSpPr/>
          <p:nvPr/>
        </p:nvSpPr>
        <p:spPr>
          <a:xfrm>
            <a:off x="1899666" y="1567053"/>
            <a:ext cx="315468" cy="116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y(1)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9" name="Google Shape;889;p21"/>
          <p:cNvSpPr/>
          <p:nvPr/>
        </p:nvSpPr>
        <p:spPr>
          <a:xfrm>
            <a:off x="2846070" y="2228850"/>
            <a:ext cx="720090" cy="514350"/>
          </a:xfrm>
          <a:prstGeom prst="roundRect">
            <a:avLst>
              <a:gd name="adj" fmla="val 10667"/>
            </a:avLst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0" name="Google Shape;890;p21"/>
          <p:cNvSpPr/>
          <p:nvPr/>
        </p:nvSpPr>
        <p:spPr>
          <a:xfrm>
            <a:off x="2873502" y="2324862"/>
            <a:ext cx="665226" cy="216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lang="en" sz="12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RNN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91" name="Google Shape;891;p21"/>
          <p:cNvCxnSpPr/>
          <p:nvPr/>
        </p:nvCxnSpPr>
        <p:spPr>
          <a:xfrm>
            <a:off x="2434590" y="2489454"/>
            <a:ext cx="411480" cy="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92" name="Google Shape;892;p21"/>
          <p:cNvSpPr/>
          <p:nvPr/>
        </p:nvSpPr>
        <p:spPr>
          <a:xfrm>
            <a:off x="3017520" y="1474470"/>
            <a:ext cx="342900" cy="342900"/>
          </a:xfrm>
          <a:prstGeom prst="ellipse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3" name="Google Shape;893;p21"/>
          <p:cNvSpPr/>
          <p:nvPr/>
        </p:nvSpPr>
        <p:spPr>
          <a:xfrm>
            <a:off x="3031236" y="1567053"/>
            <a:ext cx="315468" cy="116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y(2)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4" name="Google Shape;894;p21"/>
          <p:cNvSpPr/>
          <p:nvPr/>
        </p:nvSpPr>
        <p:spPr>
          <a:xfrm>
            <a:off x="3977640" y="2228850"/>
            <a:ext cx="720090" cy="514350"/>
          </a:xfrm>
          <a:prstGeom prst="roundRect">
            <a:avLst>
              <a:gd name="adj" fmla="val 10667"/>
            </a:avLst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5" name="Google Shape;895;p21"/>
          <p:cNvSpPr/>
          <p:nvPr/>
        </p:nvSpPr>
        <p:spPr>
          <a:xfrm>
            <a:off x="4005072" y="2324862"/>
            <a:ext cx="665226" cy="216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lang="en" sz="12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RNN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96" name="Google Shape;896;p21"/>
          <p:cNvCxnSpPr/>
          <p:nvPr/>
        </p:nvCxnSpPr>
        <p:spPr>
          <a:xfrm>
            <a:off x="3566160" y="2489454"/>
            <a:ext cx="411480" cy="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97" name="Google Shape;897;p21"/>
          <p:cNvSpPr/>
          <p:nvPr/>
        </p:nvSpPr>
        <p:spPr>
          <a:xfrm>
            <a:off x="4149090" y="1474470"/>
            <a:ext cx="342900" cy="342900"/>
          </a:xfrm>
          <a:prstGeom prst="ellipse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8" name="Google Shape;898;p21"/>
          <p:cNvSpPr/>
          <p:nvPr/>
        </p:nvSpPr>
        <p:spPr>
          <a:xfrm>
            <a:off x="4162806" y="1567053"/>
            <a:ext cx="315468" cy="116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y(3)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9" name="Google Shape;899;p21"/>
          <p:cNvSpPr/>
          <p:nvPr/>
        </p:nvSpPr>
        <p:spPr>
          <a:xfrm>
            <a:off x="5109210" y="2228850"/>
            <a:ext cx="720090" cy="514350"/>
          </a:xfrm>
          <a:prstGeom prst="roundRect">
            <a:avLst>
              <a:gd name="adj" fmla="val 10667"/>
            </a:avLst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0" name="Google Shape;900;p21"/>
          <p:cNvSpPr/>
          <p:nvPr/>
        </p:nvSpPr>
        <p:spPr>
          <a:xfrm>
            <a:off x="5136642" y="2324862"/>
            <a:ext cx="665226" cy="216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lang="en" sz="12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RNN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01" name="Google Shape;901;p21"/>
          <p:cNvCxnSpPr/>
          <p:nvPr/>
        </p:nvCxnSpPr>
        <p:spPr>
          <a:xfrm>
            <a:off x="4697730" y="2489454"/>
            <a:ext cx="411480" cy="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02" name="Google Shape;902;p21"/>
          <p:cNvSpPr/>
          <p:nvPr/>
        </p:nvSpPr>
        <p:spPr>
          <a:xfrm>
            <a:off x="5280660" y="1474470"/>
            <a:ext cx="342900" cy="342900"/>
          </a:xfrm>
          <a:prstGeom prst="ellipse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3" name="Google Shape;903;p21"/>
          <p:cNvSpPr/>
          <p:nvPr/>
        </p:nvSpPr>
        <p:spPr>
          <a:xfrm>
            <a:off x="5294376" y="1567053"/>
            <a:ext cx="315468" cy="116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y(4)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4" name="Google Shape;904;p21"/>
          <p:cNvSpPr/>
          <p:nvPr/>
        </p:nvSpPr>
        <p:spPr>
          <a:xfrm>
            <a:off x="6515100" y="1577340"/>
            <a:ext cx="1851660" cy="1748790"/>
          </a:xfrm>
          <a:prstGeom prst="roundRect">
            <a:avLst>
              <a:gd name="adj" fmla="val 3137"/>
            </a:avLst>
          </a:prstGeom>
          <a:solidFill>
            <a:srgbClr val="0A1D35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5" name="Google Shape;905;p21"/>
          <p:cNvSpPr/>
          <p:nvPr/>
        </p:nvSpPr>
        <p:spPr>
          <a:xfrm>
            <a:off x="6686550" y="1783080"/>
            <a:ext cx="150876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Montserrat"/>
              <a:buNone/>
            </a:pPr>
            <a:r>
              <a:rPr lang="en" sz="1100" b="1">
                <a:solidFill>
                  <a:srgbClr val="34D399"/>
                </a:solidFill>
                <a:latin typeface="Montserrat"/>
                <a:ea typeface="Montserrat"/>
                <a:cs typeface="Montserrat"/>
                <a:sym typeface="Montserrat"/>
              </a:rPr>
              <a:t>Ví dụ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6" name="Google Shape;906;p21"/>
          <p:cNvSpPr/>
          <p:nvPr/>
        </p:nvSpPr>
        <p:spPr>
          <a:xfrm>
            <a:off x="6755130" y="229743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2F7FF"/>
              </a:buClr>
              <a:buSzPts val="1000"/>
              <a:buFont typeface="Montserrat"/>
              <a:buNone/>
            </a:pPr>
            <a:r>
              <a:rPr lang="en" sz="1000" b="1">
                <a:solidFill>
                  <a:srgbClr val="F2F7FF"/>
                </a:solidFill>
                <a:latin typeface="Montserrat"/>
                <a:ea typeface="Montserrat"/>
                <a:cs typeface="Montserrat"/>
                <a:sym typeface="Montserrat"/>
              </a:rPr>
              <a:t>Sinh chuỗi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2F7FF"/>
              </a:buClr>
              <a:buSzPts val="1000"/>
              <a:buFont typeface="Montserrat"/>
              <a:buNone/>
            </a:pPr>
            <a:r>
              <a:rPr lang="en" sz="1000" b="1">
                <a:solidFill>
                  <a:srgbClr val="F2F7FF"/>
                </a:solidFill>
                <a:latin typeface="Montserrat"/>
                <a:ea typeface="Montserrat"/>
                <a:cs typeface="Montserrat"/>
                <a:sym typeface="Montserrat"/>
              </a:rPr>
              <a:t>caption / text / music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07" name="Google Shape;907;p21"/>
          <p:cNvCxnSpPr/>
          <p:nvPr/>
        </p:nvCxnSpPr>
        <p:spPr>
          <a:xfrm rot="10800000">
            <a:off x="2056782" y="1800224"/>
            <a:ext cx="0" cy="421768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08" name="Google Shape;908;p21"/>
          <p:cNvCxnSpPr/>
          <p:nvPr/>
        </p:nvCxnSpPr>
        <p:spPr>
          <a:xfrm rot="10800000">
            <a:off x="3202871" y="1817370"/>
            <a:ext cx="0" cy="421768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09" name="Google Shape;909;p21"/>
          <p:cNvCxnSpPr/>
          <p:nvPr/>
        </p:nvCxnSpPr>
        <p:spPr>
          <a:xfrm rot="10800000">
            <a:off x="4327336" y="1817370"/>
            <a:ext cx="0" cy="421768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10" name="Google Shape;910;p21"/>
          <p:cNvCxnSpPr/>
          <p:nvPr/>
        </p:nvCxnSpPr>
        <p:spPr>
          <a:xfrm rot="10800000">
            <a:off x="5439444" y="1800224"/>
            <a:ext cx="0" cy="421768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6" name="Google Shape;916;p22"/>
          <p:cNvCxnSpPr/>
          <p:nvPr/>
        </p:nvCxnSpPr>
        <p:spPr>
          <a:xfrm>
            <a:off x="0" y="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17" name="Google Shape;917;p22"/>
          <p:cNvCxnSpPr/>
          <p:nvPr/>
        </p:nvCxnSpPr>
        <p:spPr>
          <a:xfrm>
            <a:off x="0" y="65151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18" name="Google Shape;918;p22"/>
          <p:cNvCxnSpPr/>
          <p:nvPr/>
        </p:nvCxnSpPr>
        <p:spPr>
          <a:xfrm>
            <a:off x="0" y="130302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19" name="Google Shape;919;p22"/>
          <p:cNvCxnSpPr/>
          <p:nvPr/>
        </p:nvCxnSpPr>
        <p:spPr>
          <a:xfrm>
            <a:off x="0" y="195453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20" name="Google Shape;920;p22"/>
          <p:cNvCxnSpPr/>
          <p:nvPr/>
        </p:nvCxnSpPr>
        <p:spPr>
          <a:xfrm>
            <a:off x="0" y="260604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21" name="Google Shape;921;p22"/>
          <p:cNvCxnSpPr/>
          <p:nvPr/>
        </p:nvCxnSpPr>
        <p:spPr>
          <a:xfrm>
            <a:off x="0" y="325755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22" name="Google Shape;922;p22"/>
          <p:cNvCxnSpPr/>
          <p:nvPr/>
        </p:nvCxnSpPr>
        <p:spPr>
          <a:xfrm>
            <a:off x="0" y="390906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23" name="Google Shape;923;p22"/>
          <p:cNvCxnSpPr/>
          <p:nvPr/>
        </p:nvCxnSpPr>
        <p:spPr>
          <a:xfrm>
            <a:off x="0" y="456057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24" name="Google Shape;924;p22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25" name="Google Shape;925;p22"/>
          <p:cNvCxnSpPr/>
          <p:nvPr/>
        </p:nvCxnSpPr>
        <p:spPr>
          <a:xfrm>
            <a:off x="7886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26" name="Google Shape;926;p22"/>
          <p:cNvCxnSpPr/>
          <p:nvPr/>
        </p:nvCxnSpPr>
        <p:spPr>
          <a:xfrm>
            <a:off x="157734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27" name="Google Shape;927;p22"/>
          <p:cNvCxnSpPr/>
          <p:nvPr/>
        </p:nvCxnSpPr>
        <p:spPr>
          <a:xfrm>
            <a:off x="236601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28" name="Google Shape;928;p22"/>
          <p:cNvCxnSpPr/>
          <p:nvPr/>
        </p:nvCxnSpPr>
        <p:spPr>
          <a:xfrm>
            <a:off x="315468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29" name="Google Shape;929;p22"/>
          <p:cNvCxnSpPr/>
          <p:nvPr/>
        </p:nvCxnSpPr>
        <p:spPr>
          <a:xfrm>
            <a:off x="394335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30" name="Google Shape;930;p22"/>
          <p:cNvCxnSpPr/>
          <p:nvPr/>
        </p:nvCxnSpPr>
        <p:spPr>
          <a:xfrm>
            <a:off x="473202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31" name="Google Shape;931;p22"/>
          <p:cNvCxnSpPr/>
          <p:nvPr/>
        </p:nvCxnSpPr>
        <p:spPr>
          <a:xfrm>
            <a:off x="552069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32" name="Google Shape;932;p22"/>
          <p:cNvCxnSpPr/>
          <p:nvPr/>
        </p:nvCxnSpPr>
        <p:spPr>
          <a:xfrm>
            <a:off x="630936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33" name="Google Shape;933;p22"/>
          <p:cNvCxnSpPr/>
          <p:nvPr/>
        </p:nvCxnSpPr>
        <p:spPr>
          <a:xfrm>
            <a:off x="709803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34" name="Google Shape;934;p22"/>
          <p:cNvCxnSpPr/>
          <p:nvPr/>
        </p:nvCxnSpPr>
        <p:spPr>
          <a:xfrm>
            <a:off x="788670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35" name="Google Shape;935;p22"/>
          <p:cNvCxnSpPr/>
          <p:nvPr/>
        </p:nvCxnSpPr>
        <p:spPr>
          <a:xfrm>
            <a:off x="86753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36" name="Google Shape;936;p22"/>
          <p:cNvSpPr/>
          <p:nvPr/>
        </p:nvSpPr>
        <p:spPr>
          <a:xfrm>
            <a:off x="0" y="0"/>
            <a:ext cx="9143771" cy="246888"/>
          </a:xfrm>
          <a:prstGeom prst="rect">
            <a:avLst/>
          </a:prstGeom>
          <a:solidFill>
            <a:srgbClr val="04101F"/>
          </a:solidFill>
          <a:ln w="12700" cap="flat" cmpd="sng">
            <a:solidFill>
              <a:srgbClr val="0410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7" name="Google Shape;937;p22"/>
          <p:cNvSpPr/>
          <p:nvPr/>
        </p:nvSpPr>
        <p:spPr>
          <a:xfrm>
            <a:off x="260604" y="68580"/>
            <a:ext cx="322326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RNN · PHÁT TRIỂN HỆ THỐNG THÔNG MINH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8" name="Google Shape;938;p22"/>
          <p:cNvSpPr/>
          <p:nvPr/>
        </p:nvSpPr>
        <p:spPr>
          <a:xfrm>
            <a:off x="3531870" y="61722"/>
            <a:ext cx="3429000" cy="123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D9E5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14D9E5"/>
                </a:solidFill>
                <a:latin typeface="Montserrat"/>
                <a:ea typeface="Montserrat"/>
                <a:cs typeface="Montserrat"/>
                <a:sym typeface="Montserrat"/>
              </a:rPr>
              <a:t>PHẦN 4 · CÁC DẠNG RNN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9" name="Google Shape;939;p22"/>
          <p:cNvSpPr/>
          <p:nvPr/>
        </p:nvSpPr>
        <p:spPr>
          <a:xfrm>
            <a:off x="425196" y="493776"/>
            <a:ext cx="507492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7FF"/>
              </a:buClr>
              <a:buSzPts val="2000"/>
              <a:buFont typeface="Montserrat"/>
              <a:buNone/>
            </a:pPr>
            <a:r>
              <a:rPr lang="en" sz="2000" b="1">
                <a:solidFill>
                  <a:srgbClr val="F2F7FF"/>
                </a:solidFill>
                <a:latin typeface="Montserrat"/>
                <a:ea typeface="Montserrat"/>
                <a:cs typeface="Montserrat"/>
                <a:sym typeface="Montserrat"/>
              </a:rPr>
              <a:t>Many-to-One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0" name="Google Shape;940;p22"/>
          <p:cNvSpPr/>
          <p:nvPr/>
        </p:nvSpPr>
        <p:spPr>
          <a:xfrm>
            <a:off x="438912" y="850392"/>
            <a:ext cx="5486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700"/>
              <a:buFont typeface="Montserrat"/>
              <a:buNone/>
            </a:pPr>
            <a:r>
              <a:rPr lang="en" sz="700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Một chuỗi input tạo ra một output duy nhất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1" name="Google Shape;941;p22"/>
          <p:cNvSpPr/>
          <p:nvPr/>
        </p:nvSpPr>
        <p:spPr>
          <a:xfrm>
            <a:off x="617220" y="3120390"/>
            <a:ext cx="493776" cy="493776"/>
          </a:xfrm>
          <a:prstGeom prst="ellipse">
            <a:avLst/>
          </a:prstGeom>
          <a:solidFill>
            <a:srgbClr val="A78BFA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2" name="Google Shape;942;p22"/>
          <p:cNvSpPr/>
          <p:nvPr/>
        </p:nvSpPr>
        <p:spPr>
          <a:xfrm>
            <a:off x="630936" y="3253709"/>
            <a:ext cx="466344" cy="167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Bộ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3" name="Google Shape;943;p22"/>
          <p:cNvSpPr/>
          <p:nvPr/>
        </p:nvSpPr>
        <p:spPr>
          <a:xfrm>
            <a:off x="514350" y="2194560"/>
            <a:ext cx="685800" cy="514350"/>
          </a:xfrm>
          <a:prstGeom prst="roundRect">
            <a:avLst>
              <a:gd name="adj" fmla="val 10667"/>
            </a:avLst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4" name="Google Shape;944;p22"/>
          <p:cNvSpPr/>
          <p:nvPr/>
        </p:nvSpPr>
        <p:spPr>
          <a:xfrm>
            <a:off x="541782" y="2290572"/>
            <a:ext cx="630936" cy="216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lang="en" sz="12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RNN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5" name="Google Shape;945;p22"/>
          <p:cNvSpPr/>
          <p:nvPr/>
        </p:nvSpPr>
        <p:spPr>
          <a:xfrm>
            <a:off x="1680210" y="3120390"/>
            <a:ext cx="493776" cy="493776"/>
          </a:xfrm>
          <a:prstGeom prst="ellipse">
            <a:avLst/>
          </a:prstGeom>
          <a:solidFill>
            <a:srgbClr val="A78BFA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6" name="Google Shape;946;p22"/>
          <p:cNvSpPr/>
          <p:nvPr/>
        </p:nvSpPr>
        <p:spPr>
          <a:xfrm>
            <a:off x="1693926" y="3253709"/>
            <a:ext cx="466344" cy="167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phim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7" name="Google Shape;947;p22"/>
          <p:cNvSpPr/>
          <p:nvPr/>
        </p:nvSpPr>
        <p:spPr>
          <a:xfrm>
            <a:off x="1577340" y="2194560"/>
            <a:ext cx="685800" cy="514350"/>
          </a:xfrm>
          <a:prstGeom prst="roundRect">
            <a:avLst>
              <a:gd name="adj" fmla="val 10667"/>
            </a:avLst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8" name="Google Shape;948;p22"/>
          <p:cNvSpPr/>
          <p:nvPr/>
        </p:nvSpPr>
        <p:spPr>
          <a:xfrm>
            <a:off x="1604772" y="2290572"/>
            <a:ext cx="630936" cy="216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lang="en" sz="12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RNN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49" name="Google Shape;949;p22"/>
          <p:cNvCxnSpPr/>
          <p:nvPr/>
        </p:nvCxnSpPr>
        <p:spPr>
          <a:xfrm>
            <a:off x="1200150" y="2455164"/>
            <a:ext cx="377190" cy="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50" name="Google Shape;950;p22"/>
          <p:cNvSpPr/>
          <p:nvPr/>
        </p:nvSpPr>
        <p:spPr>
          <a:xfrm>
            <a:off x="2743200" y="3120390"/>
            <a:ext cx="493776" cy="493776"/>
          </a:xfrm>
          <a:prstGeom prst="ellipse">
            <a:avLst/>
          </a:prstGeom>
          <a:solidFill>
            <a:srgbClr val="A78BFA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1" name="Google Shape;951;p22"/>
          <p:cNvSpPr/>
          <p:nvPr/>
        </p:nvSpPr>
        <p:spPr>
          <a:xfrm>
            <a:off x="2756916" y="3253709"/>
            <a:ext cx="466344" cy="167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rất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2" name="Google Shape;952;p22"/>
          <p:cNvSpPr/>
          <p:nvPr/>
        </p:nvSpPr>
        <p:spPr>
          <a:xfrm>
            <a:off x="2640330" y="2194560"/>
            <a:ext cx="685800" cy="514350"/>
          </a:xfrm>
          <a:prstGeom prst="roundRect">
            <a:avLst>
              <a:gd name="adj" fmla="val 10667"/>
            </a:avLst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3" name="Google Shape;953;p22"/>
          <p:cNvSpPr/>
          <p:nvPr/>
        </p:nvSpPr>
        <p:spPr>
          <a:xfrm>
            <a:off x="2667762" y="2290572"/>
            <a:ext cx="630936" cy="216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lang="en" sz="12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RNN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54" name="Google Shape;954;p22"/>
          <p:cNvCxnSpPr/>
          <p:nvPr/>
        </p:nvCxnSpPr>
        <p:spPr>
          <a:xfrm>
            <a:off x="2263140" y="2455164"/>
            <a:ext cx="377190" cy="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55" name="Google Shape;955;p22"/>
          <p:cNvSpPr/>
          <p:nvPr/>
        </p:nvSpPr>
        <p:spPr>
          <a:xfrm>
            <a:off x="3806190" y="3120390"/>
            <a:ext cx="493776" cy="493776"/>
          </a:xfrm>
          <a:prstGeom prst="ellipse">
            <a:avLst/>
          </a:prstGeom>
          <a:solidFill>
            <a:srgbClr val="A78BFA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6" name="Google Shape;956;p22"/>
          <p:cNvSpPr/>
          <p:nvPr/>
        </p:nvSpPr>
        <p:spPr>
          <a:xfrm>
            <a:off x="3819906" y="3253709"/>
            <a:ext cx="466344" cy="167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hay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7" name="Google Shape;957;p22"/>
          <p:cNvSpPr/>
          <p:nvPr/>
        </p:nvSpPr>
        <p:spPr>
          <a:xfrm>
            <a:off x="3703320" y="2194560"/>
            <a:ext cx="685800" cy="514350"/>
          </a:xfrm>
          <a:prstGeom prst="roundRect">
            <a:avLst>
              <a:gd name="adj" fmla="val 10667"/>
            </a:avLst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8" name="Google Shape;958;p22"/>
          <p:cNvSpPr/>
          <p:nvPr/>
        </p:nvSpPr>
        <p:spPr>
          <a:xfrm>
            <a:off x="3730752" y="2290572"/>
            <a:ext cx="630936" cy="216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lang="en" sz="12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RNN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59" name="Google Shape;959;p22"/>
          <p:cNvCxnSpPr/>
          <p:nvPr/>
        </p:nvCxnSpPr>
        <p:spPr>
          <a:xfrm>
            <a:off x="3326130" y="2455164"/>
            <a:ext cx="377190" cy="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60" name="Google Shape;960;p22"/>
          <p:cNvCxnSpPr/>
          <p:nvPr/>
        </p:nvCxnSpPr>
        <p:spPr>
          <a:xfrm>
            <a:off x="4389120" y="2455164"/>
            <a:ext cx="1131570" cy="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61" name="Google Shape;961;p22"/>
          <p:cNvSpPr/>
          <p:nvPr/>
        </p:nvSpPr>
        <p:spPr>
          <a:xfrm>
            <a:off x="5520690" y="2057400"/>
            <a:ext cx="1748790" cy="788670"/>
          </a:xfrm>
          <a:prstGeom prst="roundRect">
            <a:avLst>
              <a:gd name="adj" fmla="val 6957"/>
            </a:avLst>
          </a:prstGeom>
          <a:solidFill>
            <a:srgbClr val="0A1D35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2" name="Google Shape;962;p22"/>
          <p:cNvSpPr/>
          <p:nvPr/>
        </p:nvSpPr>
        <p:spPr>
          <a:xfrm>
            <a:off x="5705856" y="2297430"/>
            <a:ext cx="13716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300"/>
              <a:buFont typeface="Montserrat"/>
              <a:buNone/>
            </a:pPr>
            <a:r>
              <a:rPr lang="en" sz="1300" b="1">
                <a:solidFill>
                  <a:srgbClr val="34D399"/>
                </a:solidFill>
                <a:latin typeface="Montserrat"/>
                <a:ea typeface="Montserrat"/>
                <a:cs typeface="Montserrat"/>
                <a:sym typeface="Montserrat"/>
              </a:rPr>
              <a:t>Positive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3" name="Google Shape;963;p22"/>
          <p:cNvSpPr/>
          <p:nvPr/>
        </p:nvSpPr>
        <p:spPr>
          <a:xfrm>
            <a:off x="754380" y="3977640"/>
            <a:ext cx="740664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1100"/>
              <a:buFont typeface="Montserrat"/>
              <a:buNone/>
            </a:pPr>
            <a:r>
              <a:rPr lang="en" sz="1100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Ứng dụng: Sentiment Analysis · Text Classification · Intent Classification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64" name="Google Shape;964;p22"/>
          <p:cNvCxnSpPr/>
          <p:nvPr/>
        </p:nvCxnSpPr>
        <p:spPr>
          <a:xfrm rot="10800000" flipH="1">
            <a:off x="867442" y="2705481"/>
            <a:ext cx="1" cy="414905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65" name="Google Shape;965;p22"/>
          <p:cNvCxnSpPr/>
          <p:nvPr/>
        </p:nvCxnSpPr>
        <p:spPr>
          <a:xfrm rot="10800000" flipH="1">
            <a:off x="1908652" y="2708910"/>
            <a:ext cx="1" cy="414905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66" name="Google Shape;966;p22"/>
          <p:cNvCxnSpPr/>
          <p:nvPr/>
        </p:nvCxnSpPr>
        <p:spPr>
          <a:xfrm rot="10800000" flipH="1">
            <a:off x="2977113" y="2699444"/>
            <a:ext cx="1" cy="414905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67" name="Google Shape;967;p22"/>
          <p:cNvCxnSpPr/>
          <p:nvPr/>
        </p:nvCxnSpPr>
        <p:spPr>
          <a:xfrm rot="10800000" flipH="1">
            <a:off x="4046219" y="2720502"/>
            <a:ext cx="1" cy="414905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73" name="Google Shape;973;p23"/>
          <p:cNvCxnSpPr/>
          <p:nvPr/>
        </p:nvCxnSpPr>
        <p:spPr>
          <a:xfrm>
            <a:off x="0" y="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74" name="Google Shape;974;p23"/>
          <p:cNvCxnSpPr/>
          <p:nvPr/>
        </p:nvCxnSpPr>
        <p:spPr>
          <a:xfrm>
            <a:off x="0" y="65151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75" name="Google Shape;975;p23"/>
          <p:cNvCxnSpPr/>
          <p:nvPr/>
        </p:nvCxnSpPr>
        <p:spPr>
          <a:xfrm>
            <a:off x="0" y="130302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76" name="Google Shape;976;p23"/>
          <p:cNvCxnSpPr/>
          <p:nvPr/>
        </p:nvCxnSpPr>
        <p:spPr>
          <a:xfrm>
            <a:off x="0" y="195453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77" name="Google Shape;977;p23"/>
          <p:cNvCxnSpPr/>
          <p:nvPr/>
        </p:nvCxnSpPr>
        <p:spPr>
          <a:xfrm>
            <a:off x="0" y="260604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78" name="Google Shape;978;p23"/>
          <p:cNvCxnSpPr/>
          <p:nvPr/>
        </p:nvCxnSpPr>
        <p:spPr>
          <a:xfrm>
            <a:off x="0" y="325755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79" name="Google Shape;979;p23"/>
          <p:cNvCxnSpPr/>
          <p:nvPr/>
        </p:nvCxnSpPr>
        <p:spPr>
          <a:xfrm>
            <a:off x="0" y="390906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80" name="Google Shape;980;p23"/>
          <p:cNvCxnSpPr/>
          <p:nvPr/>
        </p:nvCxnSpPr>
        <p:spPr>
          <a:xfrm>
            <a:off x="0" y="456057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81" name="Google Shape;981;p23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82" name="Google Shape;982;p23"/>
          <p:cNvCxnSpPr/>
          <p:nvPr/>
        </p:nvCxnSpPr>
        <p:spPr>
          <a:xfrm>
            <a:off x="7886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83" name="Google Shape;983;p23"/>
          <p:cNvCxnSpPr/>
          <p:nvPr/>
        </p:nvCxnSpPr>
        <p:spPr>
          <a:xfrm>
            <a:off x="157734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84" name="Google Shape;984;p23"/>
          <p:cNvCxnSpPr/>
          <p:nvPr/>
        </p:nvCxnSpPr>
        <p:spPr>
          <a:xfrm>
            <a:off x="236601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85" name="Google Shape;985;p23"/>
          <p:cNvCxnSpPr/>
          <p:nvPr/>
        </p:nvCxnSpPr>
        <p:spPr>
          <a:xfrm>
            <a:off x="315468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86" name="Google Shape;986;p23"/>
          <p:cNvCxnSpPr/>
          <p:nvPr/>
        </p:nvCxnSpPr>
        <p:spPr>
          <a:xfrm>
            <a:off x="394335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87" name="Google Shape;987;p23"/>
          <p:cNvCxnSpPr/>
          <p:nvPr/>
        </p:nvCxnSpPr>
        <p:spPr>
          <a:xfrm>
            <a:off x="473202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88" name="Google Shape;988;p23"/>
          <p:cNvCxnSpPr/>
          <p:nvPr/>
        </p:nvCxnSpPr>
        <p:spPr>
          <a:xfrm>
            <a:off x="552069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89" name="Google Shape;989;p23"/>
          <p:cNvCxnSpPr/>
          <p:nvPr/>
        </p:nvCxnSpPr>
        <p:spPr>
          <a:xfrm>
            <a:off x="630936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90" name="Google Shape;990;p23"/>
          <p:cNvCxnSpPr/>
          <p:nvPr/>
        </p:nvCxnSpPr>
        <p:spPr>
          <a:xfrm>
            <a:off x="709803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91" name="Google Shape;991;p23"/>
          <p:cNvCxnSpPr/>
          <p:nvPr/>
        </p:nvCxnSpPr>
        <p:spPr>
          <a:xfrm>
            <a:off x="788670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92" name="Google Shape;992;p23"/>
          <p:cNvCxnSpPr/>
          <p:nvPr/>
        </p:nvCxnSpPr>
        <p:spPr>
          <a:xfrm>
            <a:off x="86753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93" name="Google Shape;993;p23"/>
          <p:cNvSpPr/>
          <p:nvPr/>
        </p:nvSpPr>
        <p:spPr>
          <a:xfrm>
            <a:off x="0" y="0"/>
            <a:ext cx="9143771" cy="246888"/>
          </a:xfrm>
          <a:prstGeom prst="rect">
            <a:avLst/>
          </a:prstGeom>
          <a:solidFill>
            <a:srgbClr val="04101F"/>
          </a:solidFill>
          <a:ln w="12700" cap="flat" cmpd="sng">
            <a:solidFill>
              <a:srgbClr val="0410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4" name="Google Shape;994;p23"/>
          <p:cNvSpPr/>
          <p:nvPr/>
        </p:nvSpPr>
        <p:spPr>
          <a:xfrm>
            <a:off x="260604" y="68580"/>
            <a:ext cx="322326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RNN · PHÁT TRIỂN HỆ THỐNG THÔNG MINH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5" name="Google Shape;995;p23"/>
          <p:cNvSpPr/>
          <p:nvPr/>
        </p:nvSpPr>
        <p:spPr>
          <a:xfrm>
            <a:off x="3531870" y="61722"/>
            <a:ext cx="3429000" cy="123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D9E5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14D9E5"/>
                </a:solidFill>
                <a:latin typeface="Montserrat"/>
                <a:ea typeface="Montserrat"/>
                <a:cs typeface="Montserrat"/>
                <a:sym typeface="Montserrat"/>
              </a:rPr>
              <a:t>PHẦN 4 · CÁC DẠNG RNN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6" name="Google Shape;996;p23"/>
          <p:cNvSpPr/>
          <p:nvPr/>
        </p:nvSpPr>
        <p:spPr>
          <a:xfrm>
            <a:off x="425196" y="493776"/>
            <a:ext cx="507492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7FF"/>
              </a:buClr>
              <a:buSzPts val="2000"/>
              <a:buFont typeface="Montserrat"/>
              <a:buNone/>
            </a:pPr>
            <a:r>
              <a:rPr lang="en" sz="2000" b="1">
                <a:solidFill>
                  <a:srgbClr val="F2F7FF"/>
                </a:solidFill>
                <a:latin typeface="Montserrat"/>
                <a:ea typeface="Montserrat"/>
                <a:cs typeface="Montserrat"/>
                <a:sym typeface="Montserrat"/>
              </a:rPr>
              <a:t>Many-to-Many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7" name="Google Shape;997;p23"/>
          <p:cNvSpPr/>
          <p:nvPr/>
        </p:nvSpPr>
        <p:spPr>
          <a:xfrm>
            <a:off x="438912" y="850392"/>
            <a:ext cx="5486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Mỗi phần tử trong chuỗi input tạo một output tương ứng.</a:t>
            </a: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8" name="Google Shape;998;p23"/>
          <p:cNvSpPr/>
          <p:nvPr/>
        </p:nvSpPr>
        <p:spPr>
          <a:xfrm>
            <a:off x="685800" y="3257550"/>
            <a:ext cx="466344" cy="466344"/>
          </a:xfrm>
          <a:prstGeom prst="ellipse">
            <a:avLst/>
          </a:prstGeom>
          <a:solidFill>
            <a:srgbClr val="A78BFA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9" name="Google Shape;999;p23"/>
          <p:cNvSpPr/>
          <p:nvPr/>
        </p:nvSpPr>
        <p:spPr>
          <a:xfrm>
            <a:off x="699516" y="3383463"/>
            <a:ext cx="438912" cy="158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Tôi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0" name="Google Shape;1000;p23"/>
          <p:cNvSpPr/>
          <p:nvPr/>
        </p:nvSpPr>
        <p:spPr>
          <a:xfrm>
            <a:off x="562356" y="2228850"/>
            <a:ext cx="754380" cy="514350"/>
          </a:xfrm>
          <a:prstGeom prst="roundRect">
            <a:avLst>
              <a:gd name="adj" fmla="val 10667"/>
            </a:avLst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1" name="Google Shape;1001;p23"/>
          <p:cNvSpPr/>
          <p:nvPr/>
        </p:nvSpPr>
        <p:spPr>
          <a:xfrm>
            <a:off x="589788" y="2324862"/>
            <a:ext cx="699516" cy="216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lang="en" sz="12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RNN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2" name="Google Shape;1002;p23"/>
          <p:cNvSpPr/>
          <p:nvPr/>
        </p:nvSpPr>
        <p:spPr>
          <a:xfrm>
            <a:off x="651510" y="1405890"/>
            <a:ext cx="445770" cy="445770"/>
          </a:xfrm>
          <a:prstGeom prst="ellipse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3" name="Google Shape;1003;p23"/>
          <p:cNvSpPr/>
          <p:nvPr/>
        </p:nvSpPr>
        <p:spPr>
          <a:xfrm>
            <a:off x="665226" y="1526248"/>
            <a:ext cx="418338" cy="151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PRON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4" name="Google Shape;1004;p23"/>
          <p:cNvSpPr/>
          <p:nvPr/>
        </p:nvSpPr>
        <p:spPr>
          <a:xfrm>
            <a:off x="1988820" y="3257550"/>
            <a:ext cx="466344" cy="466344"/>
          </a:xfrm>
          <a:prstGeom prst="ellipse">
            <a:avLst/>
          </a:prstGeom>
          <a:solidFill>
            <a:srgbClr val="A78BFA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5" name="Google Shape;1005;p23"/>
          <p:cNvSpPr/>
          <p:nvPr/>
        </p:nvSpPr>
        <p:spPr>
          <a:xfrm>
            <a:off x="2002536" y="3383463"/>
            <a:ext cx="438912" cy="158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đang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6" name="Google Shape;1006;p23"/>
          <p:cNvSpPr/>
          <p:nvPr/>
        </p:nvSpPr>
        <p:spPr>
          <a:xfrm>
            <a:off x="1865376" y="2228850"/>
            <a:ext cx="754380" cy="514350"/>
          </a:xfrm>
          <a:prstGeom prst="roundRect">
            <a:avLst>
              <a:gd name="adj" fmla="val 10667"/>
            </a:avLst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7" name="Google Shape;1007;p23"/>
          <p:cNvSpPr/>
          <p:nvPr/>
        </p:nvSpPr>
        <p:spPr>
          <a:xfrm>
            <a:off x="1892808" y="2324862"/>
            <a:ext cx="699516" cy="216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lang="en" sz="12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RNN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8" name="Google Shape;1008;p23"/>
          <p:cNvSpPr/>
          <p:nvPr/>
        </p:nvSpPr>
        <p:spPr>
          <a:xfrm>
            <a:off x="1954530" y="1405890"/>
            <a:ext cx="445770" cy="445770"/>
          </a:xfrm>
          <a:prstGeom prst="ellipse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9" name="Google Shape;1009;p23"/>
          <p:cNvSpPr/>
          <p:nvPr/>
        </p:nvSpPr>
        <p:spPr>
          <a:xfrm>
            <a:off x="1968246" y="1526248"/>
            <a:ext cx="418338" cy="151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VERB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10" name="Google Shape;1010;p23"/>
          <p:cNvCxnSpPr/>
          <p:nvPr/>
        </p:nvCxnSpPr>
        <p:spPr>
          <a:xfrm>
            <a:off x="1316736" y="2482596"/>
            <a:ext cx="548640" cy="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11" name="Google Shape;1011;p23"/>
          <p:cNvSpPr/>
          <p:nvPr/>
        </p:nvSpPr>
        <p:spPr>
          <a:xfrm>
            <a:off x="3291840" y="3257550"/>
            <a:ext cx="466344" cy="466344"/>
          </a:xfrm>
          <a:prstGeom prst="ellipse">
            <a:avLst/>
          </a:prstGeom>
          <a:solidFill>
            <a:srgbClr val="A78BFA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2" name="Google Shape;1012;p23"/>
          <p:cNvSpPr/>
          <p:nvPr/>
        </p:nvSpPr>
        <p:spPr>
          <a:xfrm>
            <a:off x="3305556" y="3383463"/>
            <a:ext cx="438912" cy="158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học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3" name="Google Shape;1013;p23"/>
          <p:cNvSpPr/>
          <p:nvPr/>
        </p:nvSpPr>
        <p:spPr>
          <a:xfrm>
            <a:off x="3168396" y="2228850"/>
            <a:ext cx="754380" cy="514350"/>
          </a:xfrm>
          <a:prstGeom prst="roundRect">
            <a:avLst>
              <a:gd name="adj" fmla="val 10667"/>
            </a:avLst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4" name="Google Shape;1014;p23"/>
          <p:cNvSpPr/>
          <p:nvPr/>
        </p:nvSpPr>
        <p:spPr>
          <a:xfrm>
            <a:off x="3195828" y="2324862"/>
            <a:ext cx="699516" cy="216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lang="en" sz="12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RNN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5" name="Google Shape;1015;p23"/>
          <p:cNvSpPr/>
          <p:nvPr/>
        </p:nvSpPr>
        <p:spPr>
          <a:xfrm>
            <a:off x="3257550" y="1405890"/>
            <a:ext cx="445770" cy="445770"/>
          </a:xfrm>
          <a:prstGeom prst="ellipse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6" name="Google Shape;1016;p23"/>
          <p:cNvSpPr/>
          <p:nvPr/>
        </p:nvSpPr>
        <p:spPr>
          <a:xfrm>
            <a:off x="3271266" y="1526248"/>
            <a:ext cx="418338" cy="151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VERB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17" name="Google Shape;1017;p23"/>
          <p:cNvCxnSpPr/>
          <p:nvPr/>
        </p:nvCxnSpPr>
        <p:spPr>
          <a:xfrm>
            <a:off x="2619756" y="2482596"/>
            <a:ext cx="548640" cy="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18" name="Google Shape;1018;p23"/>
          <p:cNvSpPr/>
          <p:nvPr/>
        </p:nvSpPr>
        <p:spPr>
          <a:xfrm>
            <a:off x="4594860" y="3257550"/>
            <a:ext cx="466344" cy="466344"/>
          </a:xfrm>
          <a:prstGeom prst="ellipse">
            <a:avLst/>
          </a:prstGeom>
          <a:solidFill>
            <a:srgbClr val="A78BFA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9" name="Google Shape;1019;p23"/>
          <p:cNvSpPr/>
          <p:nvPr/>
        </p:nvSpPr>
        <p:spPr>
          <a:xfrm>
            <a:off x="4608576" y="3383463"/>
            <a:ext cx="438912" cy="158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RNN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0" name="Google Shape;1020;p23"/>
          <p:cNvSpPr/>
          <p:nvPr/>
        </p:nvSpPr>
        <p:spPr>
          <a:xfrm>
            <a:off x="4471416" y="2228850"/>
            <a:ext cx="754380" cy="514350"/>
          </a:xfrm>
          <a:prstGeom prst="roundRect">
            <a:avLst>
              <a:gd name="adj" fmla="val 10667"/>
            </a:avLst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1" name="Google Shape;1021;p23"/>
          <p:cNvSpPr/>
          <p:nvPr/>
        </p:nvSpPr>
        <p:spPr>
          <a:xfrm>
            <a:off x="4498848" y="2324862"/>
            <a:ext cx="699516" cy="216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lang="en" sz="12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RNN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2" name="Google Shape;1022;p23"/>
          <p:cNvSpPr/>
          <p:nvPr/>
        </p:nvSpPr>
        <p:spPr>
          <a:xfrm>
            <a:off x="4560570" y="1405890"/>
            <a:ext cx="445770" cy="445770"/>
          </a:xfrm>
          <a:prstGeom prst="ellipse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3" name="Google Shape;1023;p23"/>
          <p:cNvSpPr/>
          <p:nvPr/>
        </p:nvSpPr>
        <p:spPr>
          <a:xfrm>
            <a:off x="4574286" y="1526248"/>
            <a:ext cx="418338" cy="151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NOUN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24" name="Google Shape;1024;p23"/>
          <p:cNvCxnSpPr/>
          <p:nvPr/>
        </p:nvCxnSpPr>
        <p:spPr>
          <a:xfrm>
            <a:off x="3922776" y="2482596"/>
            <a:ext cx="548640" cy="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25" name="Google Shape;1025;p23"/>
          <p:cNvSpPr/>
          <p:nvPr/>
        </p:nvSpPr>
        <p:spPr>
          <a:xfrm>
            <a:off x="6446520" y="1748790"/>
            <a:ext cx="1988820" cy="1577340"/>
          </a:xfrm>
          <a:prstGeom prst="roundRect">
            <a:avLst>
              <a:gd name="adj" fmla="val 3478"/>
            </a:avLst>
          </a:prstGeom>
          <a:solidFill>
            <a:srgbClr val="0A1D35"/>
          </a:solidFill>
          <a:ln w="12700" cap="flat" cmpd="sng">
            <a:solidFill>
              <a:srgbClr val="F472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6" name="Google Shape;1026;p23"/>
          <p:cNvSpPr/>
          <p:nvPr/>
        </p:nvSpPr>
        <p:spPr>
          <a:xfrm>
            <a:off x="6617970" y="1954530"/>
            <a:ext cx="1645920" cy="150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100"/>
              <a:buFont typeface="Montserrat"/>
              <a:buNone/>
            </a:pPr>
            <a:r>
              <a:rPr lang="en" sz="1100" b="1">
                <a:solidFill>
                  <a:srgbClr val="F472B6"/>
                </a:solidFill>
                <a:latin typeface="Montserrat"/>
                <a:ea typeface="Montserrat"/>
                <a:cs typeface="Montserrat"/>
                <a:sym typeface="Montserrat"/>
              </a:rPr>
              <a:t>Ví dụ phù hợp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7" name="Google Shape;1027;p23"/>
          <p:cNvSpPr/>
          <p:nvPr/>
        </p:nvSpPr>
        <p:spPr>
          <a:xfrm>
            <a:off x="6652260" y="2366010"/>
            <a:ext cx="1577340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7FF"/>
              </a:buClr>
              <a:buSzPts val="1100"/>
              <a:buFont typeface="Montserrat"/>
              <a:buNone/>
            </a:pPr>
            <a:r>
              <a:rPr lang="en" sz="1100" b="1">
                <a:solidFill>
                  <a:srgbClr val="F2F7FF"/>
                </a:solidFill>
                <a:latin typeface="Montserrat"/>
                <a:ea typeface="Montserrat"/>
                <a:cs typeface="Montserrat"/>
                <a:sym typeface="Montserrat"/>
              </a:rPr>
              <a:t>-Sequence Labeling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7FF"/>
              </a:buClr>
              <a:buSzPts val="1100"/>
              <a:buFont typeface="Montserrat"/>
              <a:buNone/>
            </a:pPr>
            <a:r>
              <a:rPr lang="en" sz="1100" b="1">
                <a:solidFill>
                  <a:srgbClr val="F2F7FF"/>
                </a:solidFill>
                <a:latin typeface="Montserrat"/>
                <a:ea typeface="Montserrat"/>
                <a:cs typeface="Montserrat"/>
                <a:sym typeface="Montserrat"/>
              </a:rPr>
              <a:t>-POS Tagging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None/>
            </a:pP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28" name="Google Shape;1028;p23"/>
          <p:cNvCxnSpPr/>
          <p:nvPr/>
        </p:nvCxnSpPr>
        <p:spPr>
          <a:xfrm rot="10800000">
            <a:off x="882396" y="2743200"/>
            <a:ext cx="0" cy="50397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29" name="Google Shape;1029;p23"/>
          <p:cNvCxnSpPr/>
          <p:nvPr/>
        </p:nvCxnSpPr>
        <p:spPr>
          <a:xfrm rot="10800000">
            <a:off x="2220015" y="2743200"/>
            <a:ext cx="0" cy="50397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30" name="Google Shape;1030;p23"/>
          <p:cNvCxnSpPr/>
          <p:nvPr/>
        </p:nvCxnSpPr>
        <p:spPr>
          <a:xfrm rot="10800000">
            <a:off x="3531870" y="2743200"/>
            <a:ext cx="0" cy="50397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31" name="Google Shape;1031;p23"/>
          <p:cNvCxnSpPr/>
          <p:nvPr/>
        </p:nvCxnSpPr>
        <p:spPr>
          <a:xfrm rot="10800000">
            <a:off x="4821113" y="2753580"/>
            <a:ext cx="0" cy="50397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32" name="Google Shape;1032;p23"/>
          <p:cNvCxnSpPr/>
          <p:nvPr/>
        </p:nvCxnSpPr>
        <p:spPr>
          <a:xfrm rot="10800000">
            <a:off x="882396" y="1851660"/>
            <a:ext cx="0" cy="37719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33" name="Google Shape;1033;p23"/>
          <p:cNvCxnSpPr/>
          <p:nvPr/>
        </p:nvCxnSpPr>
        <p:spPr>
          <a:xfrm rot="10800000">
            <a:off x="2176766" y="1851660"/>
            <a:ext cx="0" cy="37719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34" name="Google Shape;1034;p23"/>
          <p:cNvCxnSpPr/>
          <p:nvPr/>
        </p:nvCxnSpPr>
        <p:spPr>
          <a:xfrm rot="10800000">
            <a:off x="3437156" y="1851660"/>
            <a:ext cx="0" cy="37719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35" name="Google Shape;1035;p23"/>
          <p:cNvCxnSpPr/>
          <p:nvPr/>
        </p:nvCxnSpPr>
        <p:spPr>
          <a:xfrm rot="10800000">
            <a:off x="4732020" y="1851660"/>
            <a:ext cx="0" cy="37719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41" name="Google Shape;1041;p24"/>
          <p:cNvCxnSpPr/>
          <p:nvPr/>
        </p:nvCxnSpPr>
        <p:spPr>
          <a:xfrm>
            <a:off x="0" y="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42" name="Google Shape;1042;p24"/>
          <p:cNvCxnSpPr/>
          <p:nvPr/>
        </p:nvCxnSpPr>
        <p:spPr>
          <a:xfrm>
            <a:off x="0" y="65151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43" name="Google Shape;1043;p24"/>
          <p:cNvCxnSpPr/>
          <p:nvPr/>
        </p:nvCxnSpPr>
        <p:spPr>
          <a:xfrm>
            <a:off x="0" y="130302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44" name="Google Shape;1044;p24"/>
          <p:cNvCxnSpPr/>
          <p:nvPr/>
        </p:nvCxnSpPr>
        <p:spPr>
          <a:xfrm>
            <a:off x="0" y="195453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45" name="Google Shape;1045;p24"/>
          <p:cNvCxnSpPr/>
          <p:nvPr/>
        </p:nvCxnSpPr>
        <p:spPr>
          <a:xfrm>
            <a:off x="0" y="260604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46" name="Google Shape;1046;p24"/>
          <p:cNvCxnSpPr/>
          <p:nvPr/>
        </p:nvCxnSpPr>
        <p:spPr>
          <a:xfrm>
            <a:off x="0" y="325755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47" name="Google Shape;1047;p24"/>
          <p:cNvCxnSpPr/>
          <p:nvPr/>
        </p:nvCxnSpPr>
        <p:spPr>
          <a:xfrm>
            <a:off x="0" y="390906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48" name="Google Shape;1048;p24"/>
          <p:cNvCxnSpPr/>
          <p:nvPr/>
        </p:nvCxnSpPr>
        <p:spPr>
          <a:xfrm>
            <a:off x="0" y="456057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49" name="Google Shape;1049;p24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50" name="Google Shape;1050;p24"/>
          <p:cNvCxnSpPr/>
          <p:nvPr/>
        </p:nvCxnSpPr>
        <p:spPr>
          <a:xfrm>
            <a:off x="7886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51" name="Google Shape;1051;p24"/>
          <p:cNvCxnSpPr/>
          <p:nvPr/>
        </p:nvCxnSpPr>
        <p:spPr>
          <a:xfrm>
            <a:off x="157734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52" name="Google Shape;1052;p24"/>
          <p:cNvCxnSpPr/>
          <p:nvPr/>
        </p:nvCxnSpPr>
        <p:spPr>
          <a:xfrm>
            <a:off x="236601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53" name="Google Shape;1053;p24"/>
          <p:cNvCxnSpPr/>
          <p:nvPr/>
        </p:nvCxnSpPr>
        <p:spPr>
          <a:xfrm>
            <a:off x="315468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54" name="Google Shape;1054;p24"/>
          <p:cNvCxnSpPr/>
          <p:nvPr/>
        </p:nvCxnSpPr>
        <p:spPr>
          <a:xfrm>
            <a:off x="394335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55" name="Google Shape;1055;p24"/>
          <p:cNvCxnSpPr/>
          <p:nvPr/>
        </p:nvCxnSpPr>
        <p:spPr>
          <a:xfrm>
            <a:off x="473202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56" name="Google Shape;1056;p24"/>
          <p:cNvCxnSpPr/>
          <p:nvPr/>
        </p:nvCxnSpPr>
        <p:spPr>
          <a:xfrm>
            <a:off x="552069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57" name="Google Shape;1057;p24"/>
          <p:cNvCxnSpPr/>
          <p:nvPr/>
        </p:nvCxnSpPr>
        <p:spPr>
          <a:xfrm>
            <a:off x="630936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58" name="Google Shape;1058;p24"/>
          <p:cNvCxnSpPr/>
          <p:nvPr/>
        </p:nvCxnSpPr>
        <p:spPr>
          <a:xfrm>
            <a:off x="709803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59" name="Google Shape;1059;p24"/>
          <p:cNvCxnSpPr/>
          <p:nvPr/>
        </p:nvCxnSpPr>
        <p:spPr>
          <a:xfrm>
            <a:off x="788670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60" name="Google Shape;1060;p24"/>
          <p:cNvCxnSpPr/>
          <p:nvPr/>
        </p:nvCxnSpPr>
        <p:spPr>
          <a:xfrm>
            <a:off x="86753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61" name="Google Shape;1061;p24"/>
          <p:cNvSpPr/>
          <p:nvPr/>
        </p:nvSpPr>
        <p:spPr>
          <a:xfrm>
            <a:off x="0" y="0"/>
            <a:ext cx="9143771" cy="246888"/>
          </a:xfrm>
          <a:prstGeom prst="rect">
            <a:avLst/>
          </a:prstGeom>
          <a:solidFill>
            <a:srgbClr val="04101F"/>
          </a:solidFill>
          <a:ln w="12700" cap="flat" cmpd="sng">
            <a:solidFill>
              <a:srgbClr val="0410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2" name="Google Shape;1062;p24"/>
          <p:cNvSpPr/>
          <p:nvPr/>
        </p:nvSpPr>
        <p:spPr>
          <a:xfrm>
            <a:off x="260604" y="68580"/>
            <a:ext cx="322326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RNN · PHÁT TRIỂN HỆ THỐNG THÔNG MINH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3" name="Google Shape;1063;p24"/>
          <p:cNvSpPr/>
          <p:nvPr/>
        </p:nvSpPr>
        <p:spPr>
          <a:xfrm>
            <a:off x="3531870" y="61722"/>
            <a:ext cx="3429000" cy="123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D9E5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14D9E5"/>
                </a:solidFill>
                <a:latin typeface="Montserrat"/>
                <a:ea typeface="Montserrat"/>
                <a:cs typeface="Montserrat"/>
                <a:sym typeface="Montserrat"/>
              </a:rPr>
              <a:t>PHẦN 5 · HUẤN LUYỆN RNN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4" name="Google Shape;1064;p24"/>
          <p:cNvSpPr/>
          <p:nvPr/>
        </p:nvSpPr>
        <p:spPr>
          <a:xfrm>
            <a:off x="8161020" y="54864"/>
            <a:ext cx="720090" cy="123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20 / 27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5" name="Google Shape;1065;p24"/>
          <p:cNvSpPr/>
          <p:nvPr/>
        </p:nvSpPr>
        <p:spPr>
          <a:xfrm>
            <a:off x="425196" y="493776"/>
            <a:ext cx="507492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7FF"/>
              </a:buClr>
              <a:buSzPts val="2000"/>
              <a:buFont typeface="Montserrat"/>
              <a:buNone/>
            </a:pPr>
            <a:r>
              <a:rPr lang="en" sz="2000" b="1">
                <a:solidFill>
                  <a:srgbClr val="F2F7FF"/>
                </a:solidFill>
                <a:latin typeface="Montserrat"/>
                <a:ea typeface="Montserrat"/>
                <a:cs typeface="Montserrat"/>
                <a:sym typeface="Montserrat"/>
              </a:rPr>
              <a:t>RNN được huấn luyện như thế nào?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6" name="Google Shape;1066;p24"/>
          <p:cNvSpPr/>
          <p:nvPr/>
        </p:nvSpPr>
        <p:spPr>
          <a:xfrm>
            <a:off x="438912" y="850392"/>
            <a:ext cx="5486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700"/>
              <a:buFont typeface="Montserrat"/>
              <a:buNone/>
            </a:pPr>
            <a:r>
              <a:rPr lang="en" sz="700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Forward → Loss → BPTT → Update weights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7" name="Google Shape;1067;p24"/>
          <p:cNvSpPr/>
          <p:nvPr/>
        </p:nvSpPr>
        <p:spPr>
          <a:xfrm>
            <a:off x="514350" y="2057400"/>
            <a:ext cx="1268730" cy="720090"/>
          </a:xfrm>
          <a:prstGeom prst="roundRect">
            <a:avLst>
              <a:gd name="adj" fmla="val 7619"/>
            </a:avLst>
          </a:prstGeom>
          <a:solidFill>
            <a:srgbClr val="0A1D35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8" name="Google Shape;1068;p24"/>
          <p:cNvSpPr/>
          <p:nvPr/>
        </p:nvSpPr>
        <p:spPr>
          <a:xfrm>
            <a:off x="582930" y="2249424"/>
            <a:ext cx="113157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000"/>
              <a:buFont typeface="Montserrat"/>
              <a:buNone/>
            </a:pPr>
            <a:r>
              <a:rPr lang="en" sz="1000" b="1">
                <a:solidFill>
                  <a:srgbClr val="A78BFA"/>
                </a:solidFill>
                <a:latin typeface="Montserrat"/>
                <a:ea typeface="Montserrat"/>
                <a:cs typeface="Montserrat"/>
                <a:sym typeface="Montserrat"/>
              </a:rPr>
              <a:t>Input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000"/>
              <a:buFont typeface="Montserrat"/>
              <a:buNone/>
            </a:pPr>
            <a:r>
              <a:rPr lang="en" sz="1000" b="1">
                <a:solidFill>
                  <a:srgbClr val="A78BFA"/>
                </a:solidFill>
                <a:latin typeface="Montserrat"/>
                <a:ea typeface="Montserrat"/>
                <a:cs typeface="Montserrat"/>
                <a:sym typeface="Montserrat"/>
              </a:rPr>
              <a:t>sequence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69" name="Google Shape;1069;p24"/>
          <p:cNvCxnSpPr/>
          <p:nvPr/>
        </p:nvCxnSpPr>
        <p:spPr>
          <a:xfrm>
            <a:off x="1789938" y="2414016"/>
            <a:ext cx="390906" cy="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70" name="Google Shape;1070;p24"/>
          <p:cNvSpPr/>
          <p:nvPr/>
        </p:nvSpPr>
        <p:spPr>
          <a:xfrm>
            <a:off x="2194560" y="2057400"/>
            <a:ext cx="1268730" cy="720090"/>
          </a:xfrm>
          <a:prstGeom prst="roundRect">
            <a:avLst>
              <a:gd name="adj" fmla="val 7619"/>
            </a:avLst>
          </a:prstGeom>
          <a:solidFill>
            <a:srgbClr val="0A1D35"/>
          </a:solidFill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1" name="Google Shape;1071;p24"/>
          <p:cNvSpPr/>
          <p:nvPr/>
        </p:nvSpPr>
        <p:spPr>
          <a:xfrm>
            <a:off x="2263140" y="2249424"/>
            <a:ext cx="113157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D9E5"/>
              </a:buClr>
              <a:buSzPts val="1000"/>
              <a:buFont typeface="Montserrat"/>
              <a:buNone/>
            </a:pPr>
            <a:r>
              <a:rPr lang="en" sz="1000" b="1">
                <a:solidFill>
                  <a:srgbClr val="14D9E5"/>
                </a:solidFill>
                <a:latin typeface="Montserrat"/>
                <a:ea typeface="Montserrat"/>
                <a:cs typeface="Montserrat"/>
                <a:sym typeface="Montserrat"/>
              </a:rPr>
              <a:t>Forward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D9E5"/>
              </a:buClr>
              <a:buSzPts val="1000"/>
              <a:buFont typeface="Montserrat"/>
              <a:buNone/>
            </a:pPr>
            <a:r>
              <a:rPr lang="en" sz="1000" b="1">
                <a:solidFill>
                  <a:srgbClr val="14D9E5"/>
                </a:solidFill>
                <a:latin typeface="Montserrat"/>
                <a:ea typeface="Montserrat"/>
                <a:cs typeface="Montserrat"/>
                <a:sym typeface="Montserrat"/>
              </a:rPr>
              <a:t>through time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72" name="Google Shape;1072;p24"/>
          <p:cNvCxnSpPr/>
          <p:nvPr/>
        </p:nvCxnSpPr>
        <p:spPr>
          <a:xfrm>
            <a:off x="3470148" y="2414016"/>
            <a:ext cx="390906" cy="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73" name="Google Shape;1073;p24"/>
          <p:cNvSpPr/>
          <p:nvPr/>
        </p:nvSpPr>
        <p:spPr>
          <a:xfrm>
            <a:off x="3874770" y="2057400"/>
            <a:ext cx="1268730" cy="720090"/>
          </a:xfrm>
          <a:prstGeom prst="roundRect">
            <a:avLst>
              <a:gd name="adj" fmla="val 7619"/>
            </a:avLst>
          </a:prstGeom>
          <a:solidFill>
            <a:srgbClr val="0A1D35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4" name="Google Shape;1074;p24"/>
          <p:cNvSpPr/>
          <p:nvPr/>
        </p:nvSpPr>
        <p:spPr>
          <a:xfrm>
            <a:off x="3943350" y="2106827"/>
            <a:ext cx="1131570" cy="602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Montserrat"/>
              <a:buNone/>
            </a:pPr>
            <a:r>
              <a:rPr lang="en" sz="1000" b="1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-Prediction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-Compute Loss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None/>
            </a:pPr>
            <a:endParaRPr sz="1000" b="1">
              <a:solidFill>
                <a:schemeClr val="accent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75" name="Google Shape;1075;p24"/>
          <p:cNvCxnSpPr/>
          <p:nvPr/>
        </p:nvCxnSpPr>
        <p:spPr>
          <a:xfrm>
            <a:off x="5150358" y="2414016"/>
            <a:ext cx="390906" cy="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76" name="Google Shape;1076;p24"/>
          <p:cNvSpPr/>
          <p:nvPr/>
        </p:nvSpPr>
        <p:spPr>
          <a:xfrm>
            <a:off x="5554980" y="2057400"/>
            <a:ext cx="1268730" cy="720090"/>
          </a:xfrm>
          <a:prstGeom prst="roundRect">
            <a:avLst>
              <a:gd name="adj" fmla="val 7619"/>
            </a:avLst>
          </a:prstGeom>
          <a:solidFill>
            <a:srgbClr val="0A1D35"/>
          </a:solidFill>
          <a:ln w="12700" cap="flat" cmpd="sng">
            <a:solidFill>
              <a:srgbClr val="F472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7" name="Google Shape;1077;p24"/>
          <p:cNvSpPr/>
          <p:nvPr/>
        </p:nvSpPr>
        <p:spPr>
          <a:xfrm>
            <a:off x="5623560" y="2249424"/>
            <a:ext cx="113157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000"/>
              <a:buFont typeface="Montserrat"/>
              <a:buNone/>
            </a:pPr>
            <a:r>
              <a:rPr lang="en" sz="1000" b="1">
                <a:solidFill>
                  <a:srgbClr val="F472B6"/>
                </a:solidFill>
                <a:latin typeface="Montserrat"/>
                <a:ea typeface="Montserrat"/>
                <a:cs typeface="Montserrat"/>
                <a:sym typeface="Montserrat"/>
              </a:rPr>
              <a:t>BPTT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78" name="Google Shape;1078;p24"/>
          <p:cNvCxnSpPr/>
          <p:nvPr/>
        </p:nvCxnSpPr>
        <p:spPr>
          <a:xfrm>
            <a:off x="6830568" y="2414016"/>
            <a:ext cx="390906" cy="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79" name="Google Shape;1079;p24"/>
          <p:cNvSpPr/>
          <p:nvPr/>
        </p:nvSpPr>
        <p:spPr>
          <a:xfrm>
            <a:off x="7235190" y="2057400"/>
            <a:ext cx="1268730" cy="720090"/>
          </a:xfrm>
          <a:prstGeom prst="roundRect">
            <a:avLst>
              <a:gd name="adj" fmla="val 7619"/>
            </a:avLst>
          </a:prstGeom>
          <a:solidFill>
            <a:srgbClr val="0A1D35"/>
          </a:solidFill>
          <a:ln w="12700" cap="flat" cmpd="sng">
            <a:solidFill>
              <a:srgbClr val="FACC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0" name="Google Shape;1080;p24"/>
          <p:cNvSpPr/>
          <p:nvPr/>
        </p:nvSpPr>
        <p:spPr>
          <a:xfrm>
            <a:off x="7303770" y="2249424"/>
            <a:ext cx="113157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Update shared weights</a:t>
            </a:r>
            <a:endParaRPr sz="1000" b="1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1" name="Google Shape;1081;p24"/>
          <p:cNvSpPr/>
          <p:nvPr/>
        </p:nvSpPr>
        <p:spPr>
          <a:xfrm>
            <a:off x="822960" y="3806190"/>
            <a:ext cx="7406640" cy="22631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t="-28570" b="-40815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Montserrat"/>
                <a:ea typeface="Montserrat"/>
                <a:cs typeface="Montserrat"/>
                <a:sym typeface="Montserrat"/>
              </a:rPr>
              <a:t> </a:t>
            </a:r>
            <a:endParaRPr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7" name="Google Shape;1087;p25"/>
          <p:cNvCxnSpPr/>
          <p:nvPr/>
        </p:nvCxnSpPr>
        <p:spPr>
          <a:xfrm>
            <a:off x="0" y="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88" name="Google Shape;1088;p25"/>
          <p:cNvCxnSpPr/>
          <p:nvPr/>
        </p:nvCxnSpPr>
        <p:spPr>
          <a:xfrm>
            <a:off x="0" y="65151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89" name="Google Shape;1089;p25"/>
          <p:cNvCxnSpPr/>
          <p:nvPr/>
        </p:nvCxnSpPr>
        <p:spPr>
          <a:xfrm>
            <a:off x="0" y="130302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90" name="Google Shape;1090;p25"/>
          <p:cNvCxnSpPr/>
          <p:nvPr/>
        </p:nvCxnSpPr>
        <p:spPr>
          <a:xfrm>
            <a:off x="0" y="195453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91" name="Google Shape;1091;p25"/>
          <p:cNvCxnSpPr/>
          <p:nvPr/>
        </p:nvCxnSpPr>
        <p:spPr>
          <a:xfrm>
            <a:off x="0" y="260604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92" name="Google Shape;1092;p25"/>
          <p:cNvCxnSpPr/>
          <p:nvPr/>
        </p:nvCxnSpPr>
        <p:spPr>
          <a:xfrm>
            <a:off x="0" y="325755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93" name="Google Shape;1093;p25"/>
          <p:cNvCxnSpPr/>
          <p:nvPr/>
        </p:nvCxnSpPr>
        <p:spPr>
          <a:xfrm>
            <a:off x="0" y="390906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94" name="Google Shape;1094;p25"/>
          <p:cNvCxnSpPr/>
          <p:nvPr/>
        </p:nvCxnSpPr>
        <p:spPr>
          <a:xfrm>
            <a:off x="0" y="456057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95" name="Google Shape;1095;p25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96" name="Google Shape;1096;p25"/>
          <p:cNvCxnSpPr/>
          <p:nvPr/>
        </p:nvCxnSpPr>
        <p:spPr>
          <a:xfrm>
            <a:off x="7886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97" name="Google Shape;1097;p25"/>
          <p:cNvCxnSpPr/>
          <p:nvPr/>
        </p:nvCxnSpPr>
        <p:spPr>
          <a:xfrm>
            <a:off x="157734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98" name="Google Shape;1098;p25"/>
          <p:cNvCxnSpPr/>
          <p:nvPr/>
        </p:nvCxnSpPr>
        <p:spPr>
          <a:xfrm>
            <a:off x="236601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99" name="Google Shape;1099;p25"/>
          <p:cNvCxnSpPr/>
          <p:nvPr/>
        </p:nvCxnSpPr>
        <p:spPr>
          <a:xfrm>
            <a:off x="315468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00" name="Google Shape;1100;p25"/>
          <p:cNvCxnSpPr/>
          <p:nvPr/>
        </p:nvCxnSpPr>
        <p:spPr>
          <a:xfrm>
            <a:off x="394335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01" name="Google Shape;1101;p25"/>
          <p:cNvCxnSpPr/>
          <p:nvPr/>
        </p:nvCxnSpPr>
        <p:spPr>
          <a:xfrm>
            <a:off x="5872688" y="68580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02" name="Google Shape;1102;p25"/>
          <p:cNvCxnSpPr/>
          <p:nvPr/>
        </p:nvCxnSpPr>
        <p:spPr>
          <a:xfrm>
            <a:off x="552069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03" name="Google Shape;1103;p25"/>
          <p:cNvCxnSpPr/>
          <p:nvPr/>
        </p:nvCxnSpPr>
        <p:spPr>
          <a:xfrm>
            <a:off x="630936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04" name="Google Shape;1104;p25"/>
          <p:cNvCxnSpPr/>
          <p:nvPr/>
        </p:nvCxnSpPr>
        <p:spPr>
          <a:xfrm>
            <a:off x="709803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05" name="Google Shape;1105;p25"/>
          <p:cNvCxnSpPr/>
          <p:nvPr/>
        </p:nvCxnSpPr>
        <p:spPr>
          <a:xfrm>
            <a:off x="788670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06" name="Google Shape;1106;p25"/>
          <p:cNvCxnSpPr/>
          <p:nvPr/>
        </p:nvCxnSpPr>
        <p:spPr>
          <a:xfrm>
            <a:off x="86753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07" name="Google Shape;1107;p25"/>
          <p:cNvSpPr/>
          <p:nvPr/>
        </p:nvSpPr>
        <p:spPr>
          <a:xfrm>
            <a:off x="0" y="0"/>
            <a:ext cx="9143771" cy="246888"/>
          </a:xfrm>
          <a:prstGeom prst="rect">
            <a:avLst/>
          </a:prstGeom>
          <a:solidFill>
            <a:srgbClr val="04101F"/>
          </a:solidFill>
          <a:ln w="12700" cap="flat" cmpd="sng">
            <a:solidFill>
              <a:srgbClr val="0410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8" name="Google Shape;1108;p25"/>
          <p:cNvSpPr/>
          <p:nvPr/>
        </p:nvSpPr>
        <p:spPr>
          <a:xfrm>
            <a:off x="260604" y="68580"/>
            <a:ext cx="322326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RNN · PHÁT TRIỂN HỆ THỐNG THÔNG MINH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9" name="Google Shape;1109;p25"/>
          <p:cNvSpPr/>
          <p:nvPr/>
        </p:nvSpPr>
        <p:spPr>
          <a:xfrm>
            <a:off x="3531870" y="61722"/>
            <a:ext cx="3429000" cy="123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D9E5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14D9E5"/>
                </a:solidFill>
                <a:latin typeface="Montserrat"/>
                <a:ea typeface="Montserrat"/>
                <a:cs typeface="Montserrat"/>
                <a:sym typeface="Montserrat"/>
              </a:rPr>
              <a:t>PHẦN 5 · HUẤN LUYỆN RNN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0" name="Google Shape;1110;p25"/>
          <p:cNvSpPr/>
          <p:nvPr/>
        </p:nvSpPr>
        <p:spPr>
          <a:xfrm>
            <a:off x="425196" y="493776"/>
            <a:ext cx="507492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7FF"/>
              </a:buClr>
              <a:buSzPts val="2000"/>
              <a:buFont typeface="Montserrat"/>
              <a:buNone/>
            </a:pPr>
            <a:r>
              <a:rPr lang="en" sz="2000" b="1">
                <a:solidFill>
                  <a:srgbClr val="F2F7FF"/>
                </a:solidFill>
                <a:latin typeface="Montserrat"/>
                <a:ea typeface="Montserrat"/>
                <a:cs typeface="Montserrat"/>
                <a:sym typeface="Montserrat"/>
              </a:rPr>
              <a:t>Forward Propagation Through Time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1" name="Google Shape;1111;p25"/>
          <p:cNvSpPr/>
          <p:nvPr/>
        </p:nvSpPr>
        <p:spPr>
          <a:xfrm>
            <a:off x="438912" y="850392"/>
            <a:ext cx="5486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700"/>
              <a:buFont typeface="Montserrat"/>
              <a:buNone/>
            </a:pPr>
            <a:r>
              <a:rPr lang="en" sz="700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Tính h(t) và y(t) tuần tự từ trái sang phải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2" name="Google Shape;1112;p25"/>
          <p:cNvSpPr/>
          <p:nvPr/>
        </p:nvSpPr>
        <p:spPr>
          <a:xfrm>
            <a:off x="240030" y="2304563"/>
            <a:ext cx="329184" cy="121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h(0)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13" name="Google Shape;1113;p25"/>
          <p:cNvCxnSpPr/>
          <p:nvPr/>
        </p:nvCxnSpPr>
        <p:spPr>
          <a:xfrm>
            <a:off x="685800" y="3737610"/>
            <a:ext cx="6789420" cy="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14" name="Google Shape;1114;p25"/>
          <p:cNvCxnSpPr/>
          <p:nvPr/>
        </p:nvCxnSpPr>
        <p:spPr>
          <a:xfrm>
            <a:off x="7475220" y="3737610"/>
            <a:ext cx="480060" cy="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115" name="Google Shape;1115;p25"/>
          <p:cNvSpPr/>
          <p:nvPr/>
        </p:nvSpPr>
        <p:spPr>
          <a:xfrm>
            <a:off x="2880360" y="3874770"/>
            <a:ext cx="288036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D9E5"/>
              </a:buClr>
              <a:buSzPts val="1000"/>
              <a:buFont typeface="Montserrat"/>
              <a:buNone/>
            </a:pPr>
            <a:r>
              <a:rPr lang="en" sz="1000" b="1">
                <a:solidFill>
                  <a:srgbClr val="14D9E5"/>
                </a:solidFill>
                <a:latin typeface="Montserrat"/>
                <a:ea typeface="Montserrat"/>
                <a:cs typeface="Montserrat"/>
                <a:sym typeface="Montserrat"/>
              </a:rPr>
              <a:t>FORWARD DIRECTION: t = 1 → T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16" name="Google Shape;1116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622" y="1110416"/>
            <a:ext cx="3234915" cy="2490034"/>
          </a:xfrm>
          <a:prstGeom prst="rect">
            <a:avLst/>
          </a:prstGeom>
          <a:noFill/>
          <a:ln>
            <a:noFill/>
          </a:ln>
        </p:spPr>
      </p:pic>
      <p:sp>
        <p:nvSpPr>
          <p:cNvPr id="1117" name="Google Shape;1117;p25"/>
          <p:cNvSpPr txBox="1"/>
          <p:nvPr/>
        </p:nvSpPr>
        <p:spPr>
          <a:xfrm>
            <a:off x="3804129" y="1178786"/>
            <a:ext cx="4896238" cy="269410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467" t="-679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Montserrat"/>
                <a:ea typeface="Montserrat"/>
                <a:cs typeface="Montserrat"/>
                <a:sym typeface="Montserrat"/>
              </a:rPr>
              <a:t> </a:t>
            </a:r>
            <a:endParaRPr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Hình ảnh 78">
            <a:extLst>
              <a:ext uri="{FF2B5EF4-FFF2-40B4-BE49-F238E27FC236}">
                <a16:creationId xmlns:a16="http://schemas.microsoft.com/office/drawing/2014/main" id="{1FAE6BFE-7037-2890-10E3-70F3F46E3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053" y="1345127"/>
            <a:ext cx="4564168" cy="2262182"/>
          </a:xfrm>
          <a:prstGeom prst="rect">
            <a:avLst/>
          </a:prstGeom>
        </p:spPr>
      </p:pic>
      <p:cxnSp>
        <p:nvCxnSpPr>
          <p:cNvPr id="1124" name="Google Shape;1124;p26"/>
          <p:cNvCxnSpPr/>
          <p:nvPr/>
        </p:nvCxnSpPr>
        <p:spPr>
          <a:xfrm>
            <a:off x="0" y="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25" name="Google Shape;1125;p26"/>
          <p:cNvCxnSpPr/>
          <p:nvPr/>
        </p:nvCxnSpPr>
        <p:spPr>
          <a:xfrm>
            <a:off x="0" y="65151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26" name="Google Shape;1126;p26"/>
          <p:cNvCxnSpPr/>
          <p:nvPr/>
        </p:nvCxnSpPr>
        <p:spPr>
          <a:xfrm>
            <a:off x="0" y="130302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27" name="Google Shape;1127;p26"/>
          <p:cNvCxnSpPr/>
          <p:nvPr/>
        </p:nvCxnSpPr>
        <p:spPr>
          <a:xfrm>
            <a:off x="5435455" y="325755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28" name="Google Shape;1128;p26"/>
          <p:cNvCxnSpPr/>
          <p:nvPr/>
        </p:nvCxnSpPr>
        <p:spPr>
          <a:xfrm>
            <a:off x="-1280046" y="2798921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29" name="Google Shape;1129;p26"/>
          <p:cNvCxnSpPr/>
          <p:nvPr/>
        </p:nvCxnSpPr>
        <p:spPr>
          <a:xfrm>
            <a:off x="0" y="325755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30" name="Google Shape;1130;p26"/>
          <p:cNvCxnSpPr/>
          <p:nvPr/>
        </p:nvCxnSpPr>
        <p:spPr>
          <a:xfrm>
            <a:off x="0" y="390906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31" name="Google Shape;1131;p26"/>
          <p:cNvCxnSpPr/>
          <p:nvPr/>
        </p:nvCxnSpPr>
        <p:spPr>
          <a:xfrm>
            <a:off x="0" y="456057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32" name="Google Shape;1132;p26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33" name="Google Shape;1133;p26"/>
          <p:cNvCxnSpPr/>
          <p:nvPr/>
        </p:nvCxnSpPr>
        <p:spPr>
          <a:xfrm>
            <a:off x="7886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34" name="Google Shape;1134;p26"/>
          <p:cNvCxnSpPr/>
          <p:nvPr/>
        </p:nvCxnSpPr>
        <p:spPr>
          <a:xfrm>
            <a:off x="157734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35" name="Google Shape;1135;p26"/>
          <p:cNvCxnSpPr/>
          <p:nvPr/>
        </p:nvCxnSpPr>
        <p:spPr>
          <a:xfrm>
            <a:off x="236601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36" name="Google Shape;1136;p26"/>
          <p:cNvCxnSpPr/>
          <p:nvPr/>
        </p:nvCxnSpPr>
        <p:spPr>
          <a:xfrm>
            <a:off x="315468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37" name="Google Shape;1137;p26"/>
          <p:cNvCxnSpPr/>
          <p:nvPr/>
        </p:nvCxnSpPr>
        <p:spPr>
          <a:xfrm>
            <a:off x="394335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38" name="Google Shape;1138;p26"/>
          <p:cNvCxnSpPr/>
          <p:nvPr/>
        </p:nvCxnSpPr>
        <p:spPr>
          <a:xfrm>
            <a:off x="473202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39" name="Google Shape;1139;p26"/>
          <p:cNvCxnSpPr/>
          <p:nvPr/>
        </p:nvCxnSpPr>
        <p:spPr>
          <a:xfrm>
            <a:off x="5570696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40" name="Google Shape;1140;p26"/>
          <p:cNvCxnSpPr/>
          <p:nvPr/>
        </p:nvCxnSpPr>
        <p:spPr>
          <a:xfrm>
            <a:off x="630936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41" name="Google Shape;1141;p26"/>
          <p:cNvCxnSpPr/>
          <p:nvPr/>
        </p:nvCxnSpPr>
        <p:spPr>
          <a:xfrm>
            <a:off x="709803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42" name="Google Shape;1142;p26"/>
          <p:cNvCxnSpPr/>
          <p:nvPr/>
        </p:nvCxnSpPr>
        <p:spPr>
          <a:xfrm>
            <a:off x="788670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43" name="Google Shape;1143;p26"/>
          <p:cNvSpPr/>
          <p:nvPr/>
        </p:nvSpPr>
        <p:spPr>
          <a:xfrm>
            <a:off x="0" y="0"/>
            <a:ext cx="9143771" cy="246888"/>
          </a:xfrm>
          <a:prstGeom prst="rect">
            <a:avLst/>
          </a:prstGeom>
          <a:solidFill>
            <a:srgbClr val="04101F"/>
          </a:solidFill>
          <a:ln w="12700" cap="flat" cmpd="sng">
            <a:solidFill>
              <a:srgbClr val="0410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4" name="Google Shape;1144;p26"/>
          <p:cNvSpPr/>
          <p:nvPr/>
        </p:nvSpPr>
        <p:spPr>
          <a:xfrm>
            <a:off x="260604" y="68580"/>
            <a:ext cx="322326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RNN · PHÁT TRIỂN HỆ THỐNG THÔNG MINH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5" name="Google Shape;1145;p26"/>
          <p:cNvSpPr/>
          <p:nvPr/>
        </p:nvSpPr>
        <p:spPr>
          <a:xfrm>
            <a:off x="3531870" y="61722"/>
            <a:ext cx="3429000" cy="123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D9E5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14D9E5"/>
                </a:solidFill>
                <a:latin typeface="Montserrat"/>
                <a:ea typeface="Montserrat"/>
                <a:cs typeface="Montserrat"/>
                <a:sym typeface="Montserrat"/>
              </a:rPr>
              <a:t>PHẦN 5 · HUẤN LUYỆN RNN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6" name="Google Shape;1146;p26"/>
          <p:cNvSpPr/>
          <p:nvPr/>
        </p:nvSpPr>
        <p:spPr>
          <a:xfrm>
            <a:off x="431768" y="514773"/>
            <a:ext cx="507492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7FF"/>
              </a:buClr>
              <a:buSzPts val="2000"/>
              <a:buFont typeface="Montserrat"/>
              <a:buNone/>
            </a:pPr>
            <a:r>
              <a:rPr lang="en" sz="2000" b="1">
                <a:solidFill>
                  <a:srgbClr val="F2F7FF"/>
                </a:solidFill>
                <a:latin typeface="Montserrat"/>
                <a:ea typeface="Montserrat"/>
                <a:cs typeface="Montserrat"/>
                <a:sym typeface="Montserrat"/>
              </a:rPr>
              <a:t>Backpropagation Through Time (BPTT)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7" name="Google Shape;1147;p26"/>
          <p:cNvSpPr/>
          <p:nvPr/>
        </p:nvSpPr>
        <p:spPr>
          <a:xfrm>
            <a:off x="404622" y="1029122"/>
            <a:ext cx="5486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700"/>
              <a:buFont typeface="Montserrat"/>
              <a:buNone/>
            </a:pPr>
            <a:r>
              <a:rPr lang="en" sz="700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Gradient được truyền ngược qua các time step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8" name="Google Shape;1148;p26"/>
          <p:cNvSpPr/>
          <p:nvPr/>
        </p:nvSpPr>
        <p:spPr>
          <a:xfrm>
            <a:off x="240030" y="2270273"/>
            <a:ext cx="329184" cy="121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Montserrat"/>
              <a:buNone/>
            </a:pP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49" name="Google Shape;1149;p26"/>
          <p:cNvCxnSpPr/>
          <p:nvPr/>
        </p:nvCxnSpPr>
        <p:spPr>
          <a:xfrm>
            <a:off x="685800" y="3669030"/>
            <a:ext cx="7029450" cy="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150" name="Google Shape;1150;p26"/>
          <p:cNvSpPr/>
          <p:nvPr/>
        </p:nvSpPr>
        <p:spPr>
          <a:xfrm>
            <a:off x="891540" y="3840480"/>
            <a:ext cx="240030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D9E5"/>
              </a:buClr>
              <a:buSzPts val="800"/>
              <a:buFont typeface="Montserrat"/>
              <a:buNone/>
            </a:pPr>
            <a:r>
              <a:rPr lang="en" sz="800" b="1">
                <a:solidFill>
                  <a:srgbClr val="14D9E5"/>
                </a:solidFill>
                <a:latin typeface="Montserrat"/>
                <a:ea typeface="Montserrat"/>
                <a:cs typeface="Montserrat"/>
                <a:sym typeface="Montserrat"/>
              </a:rPr>
              <a:t>Forward: tính h(t), y(t)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1" name="Google Shape;1151;p26"/>
          <p:cNvSpPr/>
          <p:nvPr/>
        </p:nvSpPr>
        <p:spPr>
          <a:xfrm>
            <a:off x="4800600" y="4210812"/>
            <a:ext cx="315468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800"/>
              <a:buFont typeface="Montserrat"/>
              <a:buNone/>
            </a:pPr>
            <a:r>
              <a:rPr lang="en" sz="800" b="1">
                <a:solidFill>
                  <a:srgbClr val="F472B6"/>
                </a:solidFill>
                <a:latin typeface="Montserrat"/>
                <a:ea typeface="Montserrat"/>
                <a:cs typeface="Montserrat"/>
                <a:sym typeface="Montserrat"/>
              </a:rPr>
              <a:t>Backward: ∂L/∂W truyền ngược thời gian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2" name="Google Shape;1152;p26" descr="8.7. Backpropagation qua thời gian — Đắm mình vào Học Sâu 0.17.5  documentation"/>
          <p:cNvSpPr/>
          <p:nvPr/>
        </p:nvSpPr>
        <p:spPr>
          <a:xfrm>
            <a:off x="706032" y="1714500"/>
            <a:ext cx="3607594" cy="1571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3" name="Google Shape;1153;p26"/>
          <p:cNvSpPr txBox="1"/>
          <p:nvPr/>
        </p:nvSpPr>
        <p:spPr>
          <a:xfrm>
            <a:off x="4936243" y="1604772"/>
            <a:ext cx="3941794" cy="1523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BPTT là thuật toán tính đạo hàm (gradient) áp dụng quy tắc chuỗi (chain rule) trên đồ thị tính toán đã được tháo cuộn (unroll) theo thời gian.</a:t>
            </a:r>
            <a:endParaRPr sz="11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Nếu Forward Pass đi từ $t = 1 🡪T, thì BPTT sẽ truyền ngược tín hiệu lỗi từ t = T 🡪1.</a:t>
            </a:r>
            <a:endParaRPr sz="1100" dirty="0"/>
          </a:p>
        </p:txBody>
      </p:sp>
      <p:pic>
        <p:nvPicPr>
          <p:cNvPr id="5" name="Đồ họa 75" descr="8.7. Backpropagation qua thời gian — Đắm mình vào Học Sâu 0.17.5  documentation">
            <a:extLst>
              <a:ext uri="{FF2B5EF4-FFF2-40B4-BE49-F238E27FC236}">
                <a16:creationId xmlns:a16="http://schemas.microsoft.com/office/drawing/2014/main" id="{E52CFFE2-54CB-E73F-6931-DE681E67E8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9307" y="1725310"/>
            <a:ext cx="3858269" cy="168083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9" name="Google Shape;1159;p27"/>
          <p:cNvCxnSpPr/>
          <p:nvPr/>
        </p:nvCxnSpPr>
        <p:spPr>
          <a:xfrm>
            <a:off x="0" y="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60" name="Google Shape;1160;p27"/>
          <p:cNvCxnSpPr/>
          <p:nvPr/>
        </p:nvCxnSpPr>
        <p:spPr>
          <a:xfrm>
            <a:off x="0" y="65151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61" name="Google Shape;1161;p27"/>
          <p:cNvCxnSpPr/>
          <p:nvPr/>
        </p:nvCxnSpPr>
        <p:spPr>
          <a:xfrm>
            <a:off x="0" y="130302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62" name="Google Shape;1162;p27"/>
          <p:cNvCxnSpPr/>
          <p:nvPr/>
        </p:nvCxnSpPr>
        <p:spPr>
          <a:xfrm>
            <a:off x="0" y="195453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63" name="Google Shape;1163;p27"/>
          <p:cNvCxnSpPr/>
          <p:nvPr/>
        </p:nvCxnSpPr>
        <p:spPr>
          <a:xfrm>
            <a:off x="0" y="260604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64" name="Google Shape;1164;p27"/>
          <p:cNvCxnSpPr/>
          <p:nvPr/>
        </p:nvCxnSpPr>
        <p:spPr>
          <a:xfrm>
            <a:off x="0" y="325755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65" name="Google Shape;1165;p27"/>
          <p:cNvCxnSpPr/>
          <p:nvPr/>
        </p:nvCxnSpPr>
        <p:spPr>
          <a:xfrm>
            <a:off x="0" y="390906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66" name="Google Shape;1166;p27"/>
          <p:cNvCxnSpPr/>
          <p:nvPr/>
        </p:nvCxnSpPr>
        <p:spPr>
          <a:xfrm>
            <a:off x="0" y="456057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67" name="Google Shape;1167;p27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68" name="Google Shape;1168;p27"/>
          <p:cNvCxnSpPr/>
          <p:nvPr/>
        </p:nvCxnSpPr>
        <p:spPr>
          <a:xfrm>
            <a:off x="7886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69" name="Google Shape;1169;p27"/>
          <p:cNvCxnSpPr/>
          <p:nvPr/>
        </p:nvCxnSpPr>
        <p:spPr>
          <a:xfrm>
            <a:off x="157734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70" name="Google Shape;1170;p27"/>
          <p:cNvCxnSpPr/>
          <p:nvPr/>
        </p:nvCxnSpPr>
        <p:spPr>
          <a:xfrm>
            <a:off x="236601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71" name="Google Shape;1171;p27"/>
          <p:cNvCxnSpPr/>
          <p:nvPr/>
        </p:nvCxnSpPr>
        <p:spPr>
          <a:xfrm>
            <a:off x="315468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72" name="Google Shape;1172;p27"/>
          <p:cNvCxnSpPr/>
          <p:nvPr/>
        </p:nvCxnSpPr>
        <p:spPr>
          <a:xfrm>
            <a:off x="394335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73" name="Google Shape;1173;p27"/>
          <p:cNvCxnSpPr/>
          <p:nvPr/>
        </p:nvCxnSpPr>
        <p:spPr>
          <a:xfrm>
            <a:off x="473202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74" name="Google Shape;1174;p27"/>
          <p:cNvCxnSpPr/>
          <p:nvPr/>
        </p:nvCxnSpPr>
        <p:spPr>
          <a:xfrm>
            <a:off x="552069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75" name="Google Shape;1175;p27"/>
          <p:cNvCxnSpPr/>
          <p:nvPr/>
        </p:nvCxnSpPr>
        <p:spPr>
          <a:xfrm>
            <a:off x="630936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76" name="Google Shape;1176;p27"/>
          <p:cNvCxnSpPr/>
          <p:nvPr/>
        </p:nvCxnSpPr>
        <p:spPr>
          <a:xfrm>
            <a:off x="709803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77" name="Google Shape;1177;p27"/>
          <p:cNvCxnSpPr/>
          <p:nvPr/>
        </p:nvCxnSpPr>
        <p:spPr>
          <a:xfrm>
            <a:off x="788670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78" name="Google Shape;1178;p27"/>
          <p:cNvCxnSpPr/>
          <p:nvPr/>
        </p:nvCxnSpPr>
        <p:spPr>
          <a:xfrm>
            <a:off x="86753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79" name="Google Shape;1179;p27"/>
          <p:cNvSpPr/>
          <p:nvPr/>
        </p:nvSpPr>
        <p:spPr>
          <a:xfrm>
            <a:off x="0" y="0"/>
            <a:ext cx="9143771" cy="246888"/>
          </a:xfrm>
          <a:prstGeom prst="rect">
            <a:avLst/>
          </a:prstGeom>
          <a:solidFill>
            <a:srgbClr val="04101F"/>
          </a:solidFill>
          <a:ln w="12700" cap="flat" cmpd="sng">
            <a:solidFill>
              <a:srgbClr val="0410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0" name="Google Shape;1180;p27"/>
          <p:cNvSpPr/>
          <p:nvPr/>
        </p:nvSpPr>
        <p:spPr>
          <a:xfrm>
            <a:off x="260604" y="68580"/>
            <a:ext cx="322326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RNN · PHÁT TRIỂN HỆ THỐNG THÔNG MINH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1" name="Google Shape;1181;p27"/>
          <p:cNvSpPr/>
          <p:nvPr/>
        </p:nvSpPr>
        <p:spPr>
          <a:xfrm>
            <a:off x="3531870" y="61722"/>
            <a:ext cx="3429000" cy="123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D9E5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14D9E5"/>
                </a:solidFill>
                <a:latin typeface="Montserrat"/>
                <a:ea typeface="Montserrat"/>
                <a:cs typeface="Montserrat"/>
                <a:sym typeface="Montserrat"/>
              </a:rPr>
              <a:t>PHẦN 5 · HUẤN LUYỆN RNN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2" name="Google Shape;1182;p27"/>
          <p:cNvSpPr/>
          <p:nvPr/>
        </p:nvSpPr>
        <p:spPr>
          <a:xfrm>
            <a:off x="425196" y="493776"/>
            <a:ext cx="507492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7FF"/>
              </a:buClr>
              <a:buSzPts val="2000"/>
              <a:buFont typeface="Montserrat"/>
              <a:buNone/>
            </a:pPr>
            <a:r>
              <a:rPr lang="en" sz="2000" b="1">
                <a:solidFill>
                  <a:srgbClr val="F2F7FF"/>
                </a:solidFill>
                <a:latin typeface="Montserrat"/>
                <a:ea typeface="Montserrat"/>
                <a:cs typeface="Montserrat"/>
                <a:sym typeface="Montserrat"/>
              </a:rPr>
              <a:t>Các bước chính của BPTT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3" name="Google Shape;1183;p27"/>
          <p:cNvSpPr/>
          <p:nvPr/>
        </p:nvSpPr>
        <p:spPr>
          <a:xfrm>
            <a:off x="438912" y="850392"/>
            <a:ext cx="5486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700"/>
              <a:buFont typeface="Montserrat"/>
              <a:buNone/>
            </a:pPr>
            <a:r>
              <a:rPr lang="en" sz="700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Unroll → tính loss → truyền gradient → cập nhật shared weights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4" name="Google Shape;1184;p27"/>
          <p:cNvSpPr/>
          <p:nvPr/>
        </p:nvSpPr>
        <p:spPr>
          <a:xfrm>
            <a:off x="960120" y="1508760"/>
            <a:ext cx="377190" cy="377190"/>
          </a:xfrm>
          <a:prstGeom prst="ellipse">
            <a:avLst/>
          </a:prstGeom>
          <a:solidFill>
            <a:srgbClr val="A78BFA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5" name="Google Shape;1185;p27"/>
          <p:cNvSpPr/>
          <p:nvPr/>
        </p:nvSpPr>
        <p:spPr>
          <a:xfrm>
            <a:off x="973836" y="1610601"/>
            <a:ext cx="349758" cy="128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ontserrat"/>
              <a:buNone/>
            </a:pPr>
            <a:r>
              <a:rPr lang="en" sz="8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6" name="Google Shape;1186;p27"/>
          <p:cNvSpPr/>
          <p:nvPr/>
        </p:nvSpPr>
        <p:spPr>
          <a:xfrm>
            <a:off x="514350" y="2057400"/>
            <a:ext cx="1268730" cy="960120"/>
          </a:xfrm>
          <a:prstGeom prst="roundRect">
            <a:avLst>
              <a:gd name="adj" fmla="val 5714"/>
            </a:avLst>
          </a:prstGeom>
          <a:solidFill>
            <a:srgbClr val="0A1D35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7" name="Google Shape;1187;p27"/>
          <p:cNvSpPr/>
          <p:nvPr/>
        </p:nvSpPr>
        <p:spPr>
          <a:xfrm>
            <a:off x="596646" y="2366010"/>
            <a:ext cx="109728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Unroll RNN theo time steps</a:t>
            </a:r>
            <a:endParaRPr sz="1100"/>
          </a:p>
        </p:txBody>
      </p:sp>
      <p:cxnSp>
        <p:nvCxnSpPr>
          <p:cNvPr id="1188" name="Google Shape;1188;p27"/>
          <p:cNvCxnSpPr/>
          <p:nvPr/>
        </p:nvCxnSpPr>
        <p:spPr>
          <a:xfrm>
            <a:off x="1789938" y="2537460"/>
            <a:ext cx="390906" cy="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189" name="Google Shape;1189;p27"/>
          <p:cNvSpPr/>
          <p:nvPr/>
        </p:nvSpPr>
        <p:spPr>
          <a:xfrm>
            <a:off x="2640330" y="1508760"/>
            <a:ext cx="377190" cy="377190"/>
          </a:xfrm>
          <a:prstGeom prst="ellipse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0" name="Google Shape;1190;p27"/>
          <p:cNvSpPr/>
          <p:nvPr/>
        </p:nvSpPr>
        <p:spPr>
          <a:xfrm>
            <a:off x="2654046" y="1610601"/>
            <a:ext cx="349758" cy="128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ontserrat"/>
              <a:buNone/>
            </a:pPr>
            <a:r>
              <a:rPr lang="en" sz="8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1" name="Google Shape;1191;p27"/>
          <p:cNvSpPr/>
          <p:nvPr/>
        </p:nvSpPr>
        <p:spPr>
          <a:xfrm>
            <a:off x="2194560" y="2057400"/>
            <a:ext cx="1268730" cy="960120"/>
          </a:xfrm>
          <a:prstGeom prst="roundRect">
            <a:avLst>
              <a:gd name="adj" fmla="val 5714"/>
            </a:avLst>
          </a:prstGeom>
          <a:solidFill>
            <a:srgbClr val="0A1D35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2" name="Google Shape;1192;p27"/>
          <p:cNvSpPr/>
          <p:nvPr/>
        </p:nvSpPr>
        <p:spPr>
          <a:xfrm>
            <a:off x="2276856" y="2366010"/>
            <a:ext cx="109728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7FF"/>
              </a:buClr>
              <a:buSzPts val="1000"/>
              <a:buFont typeface="Montserrat"/>
              <a:buNone/>
            </a:pPr>
            <a:r>
              <a:rPr lang="en" sz="1000" b="1">
                <a:solidFill>
                  <a:srgbClr val="F2F7FF"/>
                </a:solidFill>
                <a:latin typeface="Montserrat"/>
                <a:ea typeface="Montserrat"/>
                <a:cs typeface="Montserrat"/>
                <a:sym typeface="Montserrat"/>
              </a:rPr>
              <a:t>Tính Loss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93" name="Google Shape;1193;p27"/>
          <p:cNvCxnSpPr/>
          <p:nvPr/>
        </p:nvCxnSpPr>
        <p:spPr>
          <a:xfrm>
            <a:off x="3470148" y="2537460"/>
            <a:ext cx="390906" cy="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194" name="Google Shape;1194;p27"/>
          <p:cNvSpPr/>
          <p:nvPr/>
        </p:nvSpPr>
        <p:spPr>
          <a:xfrm>
            <a:off x="4320540" y="1508760"/>
            <a:ext cx="377190" cy="377190"/>
          </a:xfrm>
          <a:prstGeom prst="ellipse">
            <a:avLst/>
          </a:prstGeom>
          <a:solidFill>
            <a:srgbClr val="F472B6"/>
          </a:solidFill>
          <a:ln w="12700" cap="flat" cmpd="sng">
            <a:solidFill>
              <a:srgbClr val="F472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5" name="Google Shape;1195;p27"/>
          <p:cNvSpPr/>
          <p:nvPr/>
        </p:nvSpPr>
        <p:spPr>
          <a:xfrm>
            <a:off x="4334256" y="1610601"/>
            <a:ext cx="349758" cy="128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ontserrat"/>
              <a:buNone/>
            </a:pPr>
            <a:r>
              <a:rPr lang="en" sz="8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6" name="Google Shape;1196;p27"/>
          <p:cNvSpPr/>
          <p:nvPr/>
        </p:nvSpPr>
        <p:spPr>
          <a:xfrm>
            <a:off x="3874770" y="2057400"/>
            <a:ext cx="1268730" cy="960120"/>
          </a:xfrm>
          <a:prstGeom prst="roundRect">
            <a:avLst>
              <a:gd name="adj" fmla="val 5714"/>
            </a:avLst>
          </a:prstGeom>
          <a:solidFill>
            <a:srgbClr val="0A1D35"/>
          </a:solidFill>
          <a:ln w="12700" cap="flat" cmpd="sng">
            <a:solidFill>
              <a:srgbClr val="F472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7" name="Google Shape;1197;p27"/>
          <p:cNvSpPr/>
          <p:nvPr/>
        </p:nvSpPr>
        <p:spPr>
          <a:xfrm>
            <a:off x="3957066" y="2366010"/>
            <a:ext cx="109728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Lan truyền gradient ngược qua time steps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98" name="Google Shape;1198;p27"/>
          <p:cNvCxnSpPr/>
          <p:nvPr/>
        </p:nvCxnSpPr>
        <p:spPr>
          <a:xfrm>
            <a:off x="5150358" y="2537460"/>
            <a:ext cx="390906" cy="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199" name="Google Shape;1199;p27"/>
          <p:cNvSpPr/>
          <p:nvPr/>
        </p:nvSpPr>
        <p:spPr>
          <a:xfrm>
            <a:off x="6000750" y="1508760"/>
            <a:ext cx="377190" cy="377190"/>
          </a:xfrm>
          <a:prstGeom prst="ellipse">
            <a:avLst/>
          </a:prstGeom>
          <a:solidFill>
            <a:srgbClr val="14D9E5"/>
          </a:solidFill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0" name="Google Shape;1200;p27"/>
          <p:cNvSpPr/>
          <p:nvPr/>
        </p:nvSpPr>
        <p:spPr>
          <a:xfrm>
            <a:off x="6014466" y="1610601"/>
            <a:ext cx="349758" cy="128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ontserrat"/>
              <a:buNone/>
            </a:pPr>
            <a:r>
              <a:rPr lang="en" sz="8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1" name="Google Shape;1201;p27"/>
          <p:cNvSpPr/>
          <p:nvPr/>
        </p:nvSpPr>
        <p:spPr>
          <a:xfrm>
            <a:off x="5554980" y="2057400"/>
            <a:ext cx="1268730" cy="960120"/>
          </a:xfrm>
          <a:prstGeom prst="roundRect">
            <a:avLst>
              <a:gd name="adj" fmla="val 5714"/>
            </a:avLst>
          </a:prstGeom>
          <a:solidFill>
            <a:srgbClr val="0A1D35"/>
          </a:solidFill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2" name="Google Shape;1202;p27"/>
          <p:cNvSpPr/>
          <p:nvPr/>
        </p:nvSpPr>
        <p:spPr>
          <a:xfrm>
            <a:off x="5637276" y="2366010"/>
            <a:ext cx="109728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7FF"/>
              </a:buClr>
              <a:buSzPts val="1000"/>
              <a:buFont typeface="Montserrat"/>
              <a:buNone/>
            </a:pPr>
            <a:r>
              <a:rPr lang="en" sz="1000" b="1">
                <a:solidFill>
                  <a:srgbClr val="F2F7FF"/>
                </a:solidFill>
                <a:latin typeface="Montserrat"/>
                <a:ea typeface="Montserrat"/>
                <a:cs typeface="Montserrat"/>
                <a:sym typeface="Montserrat"/>
              </a:rPr>
              <a:t>Tích lũy gradient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03" name="Google Shape;1203;p27"/>
          <p:cNvCxnSpPr/>
          <p:nvPr/>
        </p:nvCxnSpPr>
        <p:spPr>
          <a:xfrm>
            <a:off x="6830568" y="2537460"/>
            <a:ext cx="390906" cy="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04" name="Google Shape;1204;p27"/>
          <p:cNvSpPr/>
          <p:nvPr/>
        </p:nvSpPr>
        <p:spPr>
          <a:xfrm>
            <a:off x="7680960" y="1508760"/>
            <a:ext cx="377190" cy="377190"/>
          </a:xfrm>
          <a:prstGeom prst="ellipse">
            <a:avLst/>
          </a:prstGeom>
          <a:solidFill>
            <a:srgbClr val="FACC15"/>
          </a:solidFill>
          <a:ln w="12700" cap="flat" cmpd="sng">
            <a:solidFill>
              <a:srgbClr val="FACC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5" name="Google Shape;1205;p27"/>
          <p:cNvSpPr/>
          <p:nvPr/>
        </p:nvSpPr>
        <p:spPr>
          <a:xfrm>
            <a:off x="7694676" y="1610601"/>
            <a:ext cx="349758" cy="128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ontserrat"/>
              <a:buNone/>
            </a:pPr>
            <a:r>
              <a:rPr lang="en" sz="8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6" name="Google Shape;1206;p27"/>
          <p:cNvSpPr/>
          <p:nvPr/>
        </p:nvSpPr>
        <p:spPr>
          <a:xfrm>
            <a:off x="7235190" y="2057400"/>
            <a:ext cx="1268730" cy="960120"/>
          </a:xfrm>
          <a:prstGeom prst="roundRect">
            <a:avLst>
              <a:gd name="adj" fmla="val 5714"/>
            </a:avLst>
          </a:prstGeom>
          <a:solidFill>
            <a:srgbClr val="0A1D35"/>
          </a:solidFill>
          <a:ln w="12700" cap="flat" cmpd="sng">
            <a:solidFill>
              <a:srgbClr val="FACC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7" name="Google Shape;1207;p27"/>
          <p:cNvSpPr/>
          <p:nvPr/>
        </p:nvSpPr>
        <p:spPr>
          <a:xfrm>
            <a:off x="7317486" y="2366010"/>
            <a:ext cx="109728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Cập nhật shared weights</a:t>
            </a:r>
            <a:endParaRPr sz="1100"/>
          </a:p>
        </p:txBody>
      </p:sp>
      <p:sp>
        <p:nvSpPr>
          <p:cNvPr id="1208" name="Google Shape;1208;p27"/>
          <p:cNvSpPr/>
          <p:nvPr/>
        </p:nvSpPr>
        <p:spPr>
          <a:xfrm>
            <a:off x="822960" y="3909060"/>
            <a:ext cx="7406640" cy="22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Vì các trọng số được chia sẻ qua thời gian, gradient của cùng một trọng số được tích lũy từ nhiều time step.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14" name="Google Shape;1214;p28"/>
          <p:cNvCxnSpPr/>
          <p:nvPr/>
        </p:nvCxnSpPr>
        <p:spPr>
          <a:xfrm>
            <a:off x="0" y="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15" name="Google Shape;1215;p28"/>
          <p:cNvCxnSpPr/>
          <p:nvPr/>
        </p:nvCxnSpPr>
        <p:spPr>
          <a:xfrm>
            <a:off x="0" y="65151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16" name="Google Shape;1216;p28"/>
          <p:cNvCxnSpPr/>
          <p:nvPr/>
        </p:nvCxnSpPr>
        <p:spPr>
          <a:xfrm>
            <a:off x="0" y="130302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17" name="Google Shape;1217;p28"/>
          <p:cNvCxnSpPr/>
          <p:nvPr/>
        </p:nvCxnSpPr>
        <p:spPr>
          <a:xfrm>
            <a:off x="0" y="195453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18" name="Google Shape;1218;p28"/>
          <p:cNvCxnSpPr/>
          <p:nvPr/>
        </p:nvCxnSpPr>
        <p:spPr>
          <a:xfrm>
            <a:off x="0" y="260604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19" name="Google Shape;1219;p28"/>
          <p:cNvCxnSpPr/>
          <p:nvPr/>
        </p:nvCxnSpPr>
        <p:spPr>
          <a:xfrm>
            <a:off x="0" y="325755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20" name="Google Shape;1220;p28"/>
          <p:cNvCxnSpPr/>
          <p:nvPr/>
        </p:nvCxnSpPr>
        <p:spPr>
          <a:xfrm>
            <a:off x="0" y="390906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21" name="Google Shape;1221;p28"/>
          <p:cNvCxnSpPr/>
          <p:nvPr/>
        </p:nvCxnSpPr>
        <p:spPr>
          <a:xfrm>
            <a:off x="0" y="456057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22" name="Google Shape;1222;p28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23" name="Google Shape;1223;p28"/>
          <p:cNvCxnSpPr/>
          <p:nvPr/>
        </p:nvCxnSpPr>
        <p:spPr>
          <a:xfrm>
            <a:off x="7886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24" name="Google Shape;1224;p28"/>
          <p:cNvCxnSpPr/>
          <p:nvPr/>
        </p:nvCxnSpPr>
        <p:spPr>
          <a:xfrm>
            <a:off x="157734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25" name="Google Shape;1225;p28"/>
          <p:cNvCxnSpPr/>
          <p:nvPr/>
        </p:nvCxnSpPr>
        <p:spPr>
          <a:xfrm>
            <a:off x="236601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26" name="Google Shape;1226;p28"/>
          <p:cNvCxnSpPr/>
          <p:nvPr/>
        </p:nvCxnSpPr>
        <p:spPr>
          <a:xfrm>
            <a:off x="315468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27" name="Google Shape;1227;p28"/>
          <p:cNvCxnSpPr/>
          <p:nvPr/>
        </p:nvCxnSpPr>
        <p:spPr>
          <a:xfrm>
            <a:off x="394335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28" name="Google Shape;1228;p28"/>
          <p:cNvCxnSpPr/>
          <p:nvPr/>
        </p:nvCxnSpPr>
        <p:spPr>
          <a:xfrm>
            <a:off x="473202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29" name="Google Shape;1229;p28"/>
          <p:cNvCxnSpPr/>
          <p:nvPr/>
        </p:nvCxnSpPr>
        <p:spPr>
          <a:xfrm>
            <a:off x="552069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30" name="Google Shape;1230;p28"/>
          <p:cNvCxnSpPr/>
          <p:nvPr/>
        </p:nvCxnSpPr>
        <p:spPr>
          <a:xfrm>
            <a:off x="630936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31" name="Google Shape;1231;p28"/>
          <p:cNvCxnSpPr/>
          <p:nvPr/>
        </p:nvCxnSpPr>
        <p:spPr>
          <a:xfrm>
            <a:off x="709803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32" name="Google Shape;1232;p28"/>
          <p:cNvCxnSpPr/>
          <p:nvPr/>
        </p:nvCxnSpPr>
        <p:spPr>
          <a:xfrm>
            <a:off x="788670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33" name="Google Shape;1233;p28"/>
          <p:cNvCxnSpPr/>
          <p:nvPr/>
        </p:nvCxnSpPr>
        <p:spPr>
          <a:xfrm>
            <a:off x="86753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34" name="Google Shape;1234;p28"/>
          <p:cNvSpPr/>
          <p:nvPr/>
        </p:nvSpPr>
        <p:spPr>
          <a:xfrm>
            <a:off x="0" y="0"/>
            <a:ext cx="9143771" cy="246888"/>
          </a:xfrm>
          <a:prstGeom prst="rect">
            <a:avLst/>
          </a:prstGeom>
          <a:solidFill>
            <a:srgbClr val="04101F"/>
          </a:solidFill>
          <a:ln w="12700" cap="flat" cmpd="sng">
            <a:solidFill>
              <a:srgbClr val="0410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5" name="Google Shape;1235;p28"/>
          <p:cNvSpPr/>
          <p:nvPr/>
        </p:nvSpPr>
        <p:spPr>
          <a:xfrm>
            <a:off x="260604" y="68580"/>
            <a:ext cx="322326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RNN · PHÁT TRIỂN HỆ THỐNG THÔNG MINH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6" name="Google Shape;1236;p28"/>
          <p:cNvSpPr/>
          <p:nvPr/>
        </p:nvSpPr>
        <p:spPr>
          <a:xfrm>
            <a:off x="3531870" y="61722"/>
            <a:ext cx="3429000" cy="123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D9E5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14D9E5"/>
                </a:solidFill>
                <a:latin typeface="Montserrat"/>
                <a:ea typeface="Montserrat"/>
                <a:cs typeface="Montserrat"/>
                <a:sym typeface="Montserrat"/>
              </a:rPr>
              <a:t>PHẦN 6 · GIỚI HẠN CỦA RNN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7" name="Google Shape;1237;p28"/>
          <p:cNvSpPr/>
          <p:nvPr/>
        </p:nvSpPr>
        <p:spPr>
          <a:xfrm>
            <a:off x="425196" y="493776"/>
            <a:ext cx="507492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7FF"/>
              </a:buClr>
              <a:buSzPts val="2000"/>
              <a:buFont typeface="Montserrat"/>
              <a:buNone/>
            </a:pPr>
            <a:r>
              <a:rPr lang="en" sz="2000" b="1">
                <a:solidFill>
                  <a:srgbClr val="F2F7FF"/>
                </a:solidFill>
                <a:latin typeface="Montserrat"/>
                <a:ea typeface="Montserrat"/>
                <a:cs typeface="Montserrat"/>
                <a:sym typeface="Montserrat"/>
              </a:rPr>
              <a:t>Long-term Dependency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8" name="Google Shape;1238;p28"/>
          <p:cNvSpPr/>
          <p:nvPr/>
        </p:nvSpPr>
        <p:spPr>
          <a:xfrm>
            <a:off x="438912" y="850392"/>
            <a:ext cx="5486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Thông tin quan trọng ở đầu chuỗi phải được duy trì qua nhiều time step</a:t>
            </a: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9" name="Google Shape;1239;p28"/>
          <p:cNvSpPr/>
          <p:nvPr/>
        </p:nvSpPr>
        <p:spPr>
          <a:xfrm>
            <a:off x="582930" y="2366010"/>
            <a:ext cx="356616" cy="356616"/>
          </a:xfrm>
          <a:prstGeom prst="ellipse">
            <a:avLst/>
          </a:prstGeom>
          <a:solidFill>
            <a:srgbClr val="FACC15"/>
          </a:solidFill>
          <a:ln w="12700" cap="flat" cmpd="sng">
            <a:solidFill>
              <a:srgbClr val="FACC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0" name="Google Shape;1240;p28"/>
          <p:cNvSpPr/>
          <p:nvPr/>
        </p:nvSpPr>
        <p:spPr>
          <a:xfrm>
            <a:off x="596646" y="2462297"/>
            <a:ext cx="329184" cy="121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key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1" name="Google Shape;1241;p28"/>
          <p:cNvSpPr/>
          <p:nvPr/>
        </p:nvSpPr>
        <p:spPr>
          <a:xfrm>
            <a:off x="1440180" y="2366010"/>
            <a:ext cx="356616" cy="356616"/>
          </a:xfrm>
          <a:prstGeom prst="ellipse">
            <a:avLst/>
          </a:prstGeom>
          <a:solidFill>
            <a:srgbClr val="14D9E5"/>
          </a:solidFill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2" name="Google Shape;1242;p28"/>
          <p:cNvSpPr/>
          <p:nvPr/>
        </p:nvSpPr>
        <p:spPr>
          <a:xfrm>
            <a:off x="1453896" y="2462297"/>
            <a:ext cx="329184" cy="121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h1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43" name="Google Shape;1243;p28"/>
          <p:cNvCxnSpPr/>
          <p:nvPr/>
        </p:nvCxnSpPr>
        <p:spPr>
          <a:xfrm>
            <a:off x="939546" y="2544318"/>
            <a:ext cx="500634" cy="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44" name="Google Shape;1244;p28"/>
          <p:cNvSpPr/>
          <p:nvPr/>
        </p:nvSpPr>
        <p:spPr>
          <a:xfrm>
            <a:off x="2297430" y="2366010"/>
            <a:ext cx="356616" cy="356616"/>
          </a:xfrm>
          <a:prstGeom prst="ellipse">
            <a:avLst/>
          </a:prstGeom>
          <a:solidFill>
            <a:srgbClr val="14D9E5"/>
          </a:solidFill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5" name="Google Shape;1245;p28"/>
          <p:cNvSpPr/>
          <p:nvPr/>
        </p:nvSpPr>
        <p:spPr>
          <a:xfrm>
            <a:off x="2311146" y="2462297"/>
            <a:ext cx="329184" cy="121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h2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46" name="Google Shape;1246;p28"/>
          <p:cNvCxnSpPr/>
          <p:nvPr/>
        </p:nvCxnSpPr>
        <p:spPr>
          <a:xfrm>
            <a:off x="1796796" y="2544318"/>
            <a:ext cx="500634" cy="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47" name="Google Shape;1247;p28"/>
          <p:cNvSpPr/>
          <p:nvPr/>
        </p:nvSpPr>
        <p:spPr>
          <a:xfrm>
            <a:off x="3154680" y="2366010"/>
            <a:ext cx="356616" cy="356616"/>
          </a:xfrm>
          <a:prstGeom prst="ellipse">
            <a:avLst/>
          </a:prstGeom>
          <a:solidFill>
            <a:srgbClr val="14D9E5"/>
          </a:solidFill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8" name="Google Shape;1248;p28"/>
          <p:cNvSpPr/>
          <p:nvPr/>
        </p:nvSpPr>
        <p:spPr>
          <a:xfrm>
            <a:off x="3168396" y="2462297"/>
            <a:ext cx="329184" cy="121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h3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49" name="Google Shape;1249;p28"/>
          <p:cNvCxnSpPr/>
          <p:nvPr/>
        </p:nvCxnSpPr>
        <p:spPr>
          <a:xfrm>
            <a:off x="2654046" y="2544318"/>
            <a:ext cx="500634" cy="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50" name="Google Shape;1250;p28"/>
          <p:cNvSpPr/>
          <p:nvPr/>
        </p:nvSpPr>
        <p:spPr>
          <a:xfrm>
            <a:off x="4011930" y="2366010"/>
            <a:ext cx="356616" cy="356616"/>
          </a:xfrm>
          <a:prstGeom prst="ellipse">
            <a:avLst/>
          </a:prstGeom>
          <a:solidFill>
            <a:srgbClr val="14D9E5"/>
          </a:solidFill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1" name="Google Shape;1251;p28"/>
          <p:cNvSpPr/>
          <p:nvPr/>
        </p:nvSpPr>
        <p:spPr>
          <a:xfrm>
            <a:off x="4025646" y="2462297"/>
            <a:ext cx="329184" cy="121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h4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52" name="Google Shape;1252;p28"/>
          <p:cNvCxnSpPr/>
          <p:nvPr/>
        </p:nvCxnSpPr>
        <p:spPr>
          <a:xfrm>
            <a:off x="3511296" y="2544318"/>
            <a:ext cx="500634" cy="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53" name="Google Shape;1253;p28"/>
          <p:cNvSpPr/>
          <p:nvPr/>
        </p:nvSpPr>
        <p:spPr>
          <a:xfrm>
            <a:off x="4869180" y="2366010"/>
            <a:ext cx="356616" cy="356616"/>
          </a:xfrm>
          <a:prstGeom prst="ellipse">
            <a:avLst/>
          </a:prstGeom>
          <a:solidFill>
            <a:srgbClr val="14D9E5"/>
          </a:solidFill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4" name="Google Shape;1254;p28"/>
          <p:cNvSpPr/>
          <p:nvPr/>
        </p:nvSpPr>
        <p:spPr>
          <a:xfrm>
            <a:off x="4882896" y="2462297"/>
            <a:ext cx="329184" cy="121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h5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55" name="Google Shape;1255;p28"/>
          <p:cNvCxnSpPr/>
          <p:nvPr/>
        </p:nvCxnSpPr>
        <p:spPr>
          <a:xfrm>
            <a:off x="4368546" y="2544318"/>
            <a:ext cx="500634" cy="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56" name="Google Shape;1256;p28"/>
          <p:cNvSpPr/>
          <p:nvPr/>
        </p:nvSpPr>
        <p:spPr>
          <a:xfrm>
            <a:off x="5726430" y="2366010"/>
            <a:ext cx="356616" cy="356616"/>
          </a:xfrm>
          <a:prstGeom prst="ellipse">
            <a:avLst/>
          </a:prstGeom>
          <a:solidFill>
            <a:srgbClr val="14D9E5"/>
          </a:solidFill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7" name="Google Shape;1257;p28"/>
          <p:cNvSpPr/>
          <p:nvPr/>
        </p:nvSpPr>
        <p:spPr>
          <a:xfrm>
            <a:off x="5740146" y="2462297"/>
            <a:ext cx="329184" cy="121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h6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58" name="Google Shape;1258;p28"/>
          <p:cNvCxnSpPr/>
          <p:nvPr/>
        </p:nvCxnSpPr>
        <p:spPr>
          <a:xfrm>
            <a:off x="5225796" y="2544318"/>
            <a:ext cx="500634" cy="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59" name="Google Shape;1259;p28"/>
          <p:cNvSpPr/>
          <p:nvPr/>
        </p:nvSpPr>
        <p:spPr>
          <a:xfrm>
            <a:off x="6583680" y="2366010"/>
            <a:ext cx="356616" cy="356616"/>
          </a:xfrm>
          <a:prstGeom prst="ellipse">
            <a:avLst/>
          </a:prstGeom>
          <a:solidFill>
            <a:srgbClr val="14D9E5"/>
          </a:solidFill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0" name="Google Shape;1260;p28"/>
          <p:cNvSpPr/>
          <p:nvPr/>
        </p:nvSpPr>
        <p:spPr>
          <a:xfrm>
            <a:off x="6597396" y="2462297"/>
            <a:ext cx="329184" cy="121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h7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61" name="Google Shape;1261;p28"/>
          <p:cNvCxnSpPr/>
          <p:nvPr/>
        </p:nvCxnSpPr>
        <p:spPr>
          <a:xfrm>
            <a:off x="6083046" y="2544318"/>
            <a:ext cx="500634" cy="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62" name="Google Shape;1262;p28"/>
          <p:cNvSpPr/>
          <p:nvPr/>
        </p:nvSpPr>
        <p:spPr>
          <a:xfrm>
            <a:off x="7303770" y="2077974"/>
            <a:ext cx="857250" cy="822960"/>
          </a:xfrm>
          <a:prstGeom prst="roundRect">
            <a:avLst>
              <a:gd name="adj" fmla="val 6667"/>
            </a:avLst>
          </a:prstGeom>
          <a:solidFill>
            <a:srgbClr val="0A1D35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3" name="Google Shape;1263;p28"/>
          <p:cNvSpPr/>
          <p:nvPr/>
        </p:nvSpPr>
        <p:spPr>
          <a:xfrm>
            <a:off x="7392924" y="2386584"/>
            <a:ext cx="685800" cy="123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800"/>
              <a:buFont typeface="Montserrat"/>
              <a:buNone/>
            </a:pPr>
            <a:r>
              <a:rPr lang="en" sz="800" b="1">
                <a:solidFill>
                  <a:srgbClr val="34D399"/>
                </a:solidFill>
                <a:latin typeface="Montserrat"/>
                <a:ea typeface="Montserrat"/>
                <a:cs typeface="Montserrat"/>
                <a:sym typeface="Montserrat"/>
              </a:rPr>
              <a:t>Output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64" name="Google Shape;1264;p28"/>
          <p:cNvCxnSpPr/>
          <p:nvPr/>
        </p:nvCxnSpPr>
        <p:spPr>
          <a:xfrm>
            <a:off x="6960870" y="2544318"/>
            <a:ext cx="342900" cy="0"/>
          </a:xfrm>
          <a:prstGeom prst="straightConnector1">
            <a:avLst/>
          </a:prstGeom>
          <a:noFill/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65" name="Google Shape;1265;p28"/>
          <p:cNvSpPr/>
          <p:nvPr/>
        </p:nvSpPr>
        <p:spPr>
          <a:xfrm>
            <a:off x="685800" y="3566160"/>
            <a:ext cx="774954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D9E5"/>
              </a:buClr>
              <a:buSzPts val="1200"/>
              <a:buFont typeface="Montserrat"/>
              <a:buNone/>
            </a:pPr>
            <a:r>
              <a:rPr lang="en" sz="1200" b="1">
                <a:solidFill>
                  <a:srgbClr val="14D9E5"/>
                </a:solidFill>
                <a:latin typeface="Montserrat"/>
                <a:ea typeface="Montserrat"/>
                <a:cs typeface="Montserrat"/>
                <a:sym typeface="Montserrat"/>
              </a:rPr>
              <a:t>Khoảng cách càng xa, RNN càng khó giữ thông tin hữu ích từ đầu chuỗi đến cuối chuỗi.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6" name="Google Shape;1266;p28"/>
          <p:cNvSpPr/>
          <p:nvPr/>
        </p:nvSpPr>
        <p:spPr>
          <a:xfrm>
            <a:off x="722870" y="1134299"/>
            <a:ext cx="7115947" cy="1232020"/>
          </a:xfrm>
          <a:custGeom>
            <a:avLst/>
            <a:gdLst/>
            <a:ahLst/>
            <a:cxnLst/>
            <a:rect l="l" t="t" r="r" b="b"/>
            <a:pathLst>
              <a:path w="9487929" h="1642694" extrusionOk="0">
                <a:moveTo>
                  <a:pt x="0" y="1642694"/>
                </a:moveTo>
                <a:cubicBezTo>
                  <a:pt x="151714" y="1080461"/>
                  <a:pt x="303428" y="518229"/>
                  <a:pt x="1696995" y="258737"/>
                </a:cubicBezTo>
                <a:cubicBezTo>
                  <a:pt x="3090562" y="-755"/>
                  <a:pt x="7073556" y="-77641"/>
                  <a:pt x="8361405" y="85743"/>
                </a:cubicBezTo>
                <a:cubicBezTo>
                  <a:pt x="9649254" y="249127"/>
                  <a:pt x="9536670" y="744083"/>
                  <a:pt x="9424087" y="1239040"/>
                </a:cubicBez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7" name="Google Shape;1267;p28"/>
          <p:cNvSpPr txBox="1"/>
          <p:nvPr/>
        </p:nvSpPr>
        <p:spPr>
          <a:xfrm>
            <a:off x="3138526" y="1220723"/>
            <a:ext cx="287936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long-range dependency</a:t>
            </a:r>
            <a:endParaRPr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29"/>
          <p:cNvSpPr/>
          <p:nvPr/>
        </p:nvSpPr>
        <p:spPr>
          <a:xfrm>
            <a:off x="2792463" y="1174604"/>
            <a:ext cx="349758" cy="349758"/>
          </a:xfrm>
          <a:prstGeom prst="ellipse">
            <a:avLst/>
          </a:prstGeom>
          <a:solidFill>
            <a:srgbClr val="F472B6"/>
          </a:solidFill>
          <a:ln w="12700" cap="flat" cmpd="sng">
            <a:solidFill>
              <a:srgbClr val="F472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4" name="Google Shape;1274;p29"/>
          <p:cNvSpPr/>
          <p:nvPr/>
        </p:nvSpPr>
        <p:spPr>
          <a:xfrm>
            <a:off x="1997963" y="1195178"/>
            <a:ext cx="308610" cy="308610"/>
          </a:xfrm>
          <a:prstGeom prst="ellipse">
            <a:avLst/>
          </a:prstGeom>
          <a:solidFill>
            <a:srgbClr val="F472B6"/>
          </a:solidFill>
          <a:ln w="12700" cap="flat" cmpd="sng">
            <a:solidFill>
              <a:srgbClr val="F472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5" name="Google Shape;1275;p29"/>
          <p:cNvSpPr/>
          <p:nvPr/>
        </p:nvSpPr>
        <p:spPr>
          <a:xfrm>
            <a:off x="1147229" y="1228473"/>
            <a:ext cx="267462" cy="267462"/>
          </a:xfrm>
          <a:prstGeom prst="ellipse">
            <a:avLst/>
          </a:prstGeom>
          <a:solidFill>
            <a:srgbClr val="F472B6"/>
          </a:solidFill>
          <a:ln w="12700" cap="flat" cmpd="sng">
            <a:solidFill>
              <a:srgbClr val="F472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6" name="Google Shape;1276;p29"/>
          <p:cNvSpPr/>
          <p:nvPr/>
        </p:nvSpPr>
        <p:spPr>
          <a:xfrm>
            <a:off x="355472" y="1269621"/>
            <a:ext cx="226314" cy="226314"/>
          </a:xfrm>
          <a:prstGeom prst="ellipse">
            <a:avLst/>
          </a:prstGeom>
          <a:solidFill>
            <a:srgbClr val="F472B6"/>
          </a:solidFill>
          <a:ln w="12700" cap="flat" cmpd="sng">
            <a:solidFill>
              <a:srgbClr val="F472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77" name="Google Shape;1277;p29"/>
          <p:cNvCxnSpPr/>
          <p:nvPr/>
        </p:nvCxnSpPr>
        <p:spPr>
          <a:xfrm>
            <a:off x="0" y="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78" name="Google Shape;1278;p29"/>
          <p:cNvCxnSpPr/>
          <p:nvPr/>
        </p:nvCxnSpPr>
        <p:spPr>
          <a:xfrm>
            <a:off x="0" y="65151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79" name="Google Shape;1279;p29"/>
          <p:cNvCxnSpPr/>
          <p:nvPr/>
        </p:nvCxnSpPr>
        <p:spPr>
          <a:xfrm>
            <a:off x="0" y="130302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80" name="Google Shape;1280;p29"/>
          <p:cNvCxnSpPr/>
          <p:nvPr/>
        </p:nvCxnSpPr>
        <p:spPr>
          <a:xfrm>
            <a:off x="0" y="195453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81" name="Google Shape;1281;p29"/>
          <p:cNvCxnSpPr/>
          <p:nvPr/>
        </p:nvCxnSpPr>
        <p:spPr>
          <a:xfrm>
            <a:off x="0" y="260604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82" name="Google Shape;1282;p29"/>
          <p:cNvCxnSpPr/>
          <p:nvPr/>
        </p:nvCxnSpPr>
        <p:spPr>
          <a:xfrm>
            <a:off x="0" y="325755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83" name="Google Shape;1283;p29"/>
          <p:cNvCxnSpPr/>
          <p:nvPr/>
        </p:nvCxnSpPr>
        <p:spPr>
          <a:xfrm>
            <a:off x="0" y="390906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84" name="Google Shape;1284;p29"/>
          <p:cNvCxnSpPr/>
          <p:nvPr/>
        </p:nvCxnSpPr>
        <p:spPr>
          <a:xfrm>
            <a:off x="0" y="456057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85" name="Google Shape;1285;p29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86" name="Google Shape;1286;p29"/>
          <p:cNvCxnSpPr/>
          <p:nvPr/>
        </p:nvCxnSpPr>
        <p:spPr>
          <a:xfrm>
            <a:off x="7886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87" name="Google Shape;1287;p29"/>
          <p:cNvCxnSpPr/>
          <p:nvPr/>
        </p:nvCxnSpPr>
        <p:spPr>
          <a:xfrm>
            <a:off x="157734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88" name="Google Shape;1288;p29"/>
          <p:cNvCxnSpPr/>
          <p:nvPr/>
        </p:nvCxnSpPr>
        <p:spPr>
          <a:xfrm>
            <a:off x="236601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89" name="Google Shape;1289;p29"/>
          <p:cNvCxnSpPr/>
          <p:nvPr/>
        </p:nvCxnSpPr>
        <p:spPr>
          <a:xfrm>
            <a:off x="315468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90" name="Google Shape;1290;p29"/>
          <p:cNvCxnSpPr/>
          <p:nvPr/>
        </p:nvCxnSpPr>
        <p:spPr>
          <a:xfrm>
            <a:off x="394335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91" name="Google Shape;1291;p29"/>
          <p:cNvCxnSpPr/>
          <p:nvPr/>
        </p:nvCxnSpPr>
        <p:spPr>
          <a:xfrm>
            <a:off x="473202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92" name="Google Shape;1292;p29"/>
          <p:cNvCxnSpPr/>
          <p:nvPr/>
        </p:nvCxnSpPr>
        <p:spPr>
          <a:xfrm>
            <a:off x="552069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93" name="Google Shape;1293;p29"/>
          <p:cNvCxnSpPr/>
          <p:nvPr/>
        </p:nvCxnSpPr>
        <p:spPr>
          <a:xfrm>
            <a:off x="630936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94" name="Google Shape;1294;p29"/>
          <p:cNvCxnSpPr/>
          <p:nvPr/>
        </p:nvCxnSpPr>
        <p:spPr>
          <a:xfrm>
            <a:off x="709803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95" name="Google Shape;1295;p29"/>
          <p:cNvCxnSpPr/>
          <p:nvPr/>
        </p:nvCxnSpPr>
        <p:spPr>
          <a:xfrm>
            <a:off x="788670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96" name="Google Shape;1296;p29"/>
          <p:cNvCxnSpPr/>
          <p:nvPr/>
        </p:nvCxnSpPr>
        <p:spPr>
          <a:xfrm>
            <a:off x="86753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97" name="Google Shape;1297;p29"/>
          <p:cNvSpPr/>
          <p:nvPr/>
        </p:nvSpPr>
        <p:spPr>
          <a:xfrm>
            <a:off x="0" y="0"/>
            <a:ext cx="9143771" cy="246888"/>
          </a:xfrm>
          <a:prstGeom prst="rect">
            <a:avLst/>
          </a:prstGeom>
          <a:solidFill>
            <a:srgbClr val="04101F"/>
          </a:solidFill>
          <a:ln w="12700" cap="flat" cmpd="sng">
            <a:solidFill>
              <a:srgbClr val="0410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8" name="Google Shape;1298;p29"/>
          <p:cNvSpPr/>
          <p:nvPr/>
        </p:nvSpPr>
        <p:spPr>
          <a:xfrm>
            <a:off x="260604" y="68580"/>
            <a:ext cx="322326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RNN · PHÁT TRIỂN HỆ THỐNG THÔNG MINH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9" name="Google Shape;1299;p29"/>
          <p:cNvSpPr/>
          <p:nvPr/>
        </p:nvSpPr>
        <p:spPr>
          <a:xfrm>
            <a:off x="3531870" y="61722"/>
            <a:ext cx="3429000" cy="123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D9E5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14D9E5"/>
                </a:solidFill>
                <a:latin typeface="Montserrat"/>
                <a:ea typeface="Montserrat"/>
                <a:cs typeface="Montserrat"/>
                <a:sym typeface="Montserrat"/>
              </a:rPr>
              <a:t>PHẦN 6 · GIỚI HẠN CỦA RNN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0" name="Google Shape;1300;p29"/>
          <p:cNvSpPr/>
          <p:nvPr/>
        </p:nvSpPr>
        <p:spPr>
          <a:xfrm>
            <a:off x="425196" y="493776"/>
            <a:ext cx="507492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7FF"/>
              </a:buClr>
              <a:buSzPts val="2000"/>
              <a:buFont typeface="Montserrat"/>
              <a:buNone/>
            </a:pPr>
            <a:r>
              <a:rPr lang="en" sz="2000" b="1">
                <a:solidFill>
                  <a:srgbClr val="F2F7FF"/>
                </a:solidFill>
                <a:latin typeface="Montserrat"/>
                <a:ea typeface="Montserrat"/>
                <a:cs typeface="Montserrat"/>
                <a:sym typeface="Montserrat"/>
              </a:rPr>
              <a:t>Vanishing Gradient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1" name="Google Shape;1301;p29"/>
          <p:cNvSpPr/>
          <p:nvPr/>
        </p:nvSpPr>
        <p:spPr>
          <a:xfrm>
            <a:off x="438912" y="850392"/>
            <a:ext cx="5486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700"/>
              <a:buFont typeface="Montserrat"/>
              <a:buNone/>
            </a:pPr>
            <a:r>
              <a:rPr lang="en" sz="700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Gradient nhỏ dần khi truyền ngược qua nhiều bước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2" name="Google Shape;1302;p29"/>
          <p:cNvSpPr/>
          <p:nvPr/>
        </p:nvSpPr>
        <p:spPr>
          <a:xfrm>
            <a:off x="6054470" y="1010869"/>
            <a:ext cx="514350" cy="514350"/>
          </a:xfrm>
          <a:prstGeom prst="ellipse">
            <a:avLst/>
          </a:prstGeom>
          <a:solidFill>
            <a:srgbClr val="F472B6"/>
          </a:solidFill>
          <a:ln w="12700" cap="flat" cmpd="sng">
            <a:solidFill>
              <a:srgbClr val="F472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3" name="Google Shape;1303;p29"/>
          <p:cNvSpPr/>
          <p:nvPr/>
        </p:nvSpPr>
        <p:spPr>
          <a:xfrm>
            <a:off x="211454" y="1257620"/>
            <a:ext cx="486918" cy="174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</a:pPr>
            <a:r>
              <a:rPr lang="en" sz="9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∂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04" name="Google Shape;1304;p29"/>
          <p:cNvCxnSpPr/>
          <p:nvPr/>
        </p:nvCxnSpPr>
        <p:spPr>
          <a:xfrm rot="10800000">
            <a:off x="573661" y="1373332"/>
            <a:ext cx="563623" cy="1"/>
          </a:xfrm>
          <a:prstGeom prst="straightConnector1">
            <a:avLst/>
          </a:prstGeom>
          <a:noFill/>
          <a:ln w="12700" cap="flat" cmpd="sng">
            <a:solidFill>
              <a:srgbClr val="F472B6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05" name="Google Shape;1305;p29"/>
          <p:cNvSpPr/>
          <p:nvPr/>
        </p:nvSpPr>
        <p:spPr>
          <a:xfrm>
            <a:off x="5245226" y="1057023"/>
            <a:ext cx="473202" cy="473202"/>
          </a:xfrm>
          <a:prstGeom prst="ellipse">
            <a:avLst/>
          </a:prstGeom>
          <a:solidFill>
            <a:srgbClr val="F472B6"/>
          </a:solidFill>
          <a:ln w="12700" cap="flat" cmpd="sng">
            <a:solidFill>
              <a:srgbClr val="F472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6" name="Google Shape;1306;p29"/>
          <p:cNvSpPr/>
          <p:nvPr/>
        </p:nvSpPr>
        <p:spPr>
          <a:xfrm>
            <a:off x="1068704" y="1260226"/>
            <a:ext cx="445770" cy="160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</a:pPr>
            <a:r>
              <a:rPr lang="en" sz="9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∂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7" name="Google Shape;1307;p29"/>
          <p:cNvSpPr/>
          <p:nvPr/>
        </p:nvSpPr>
        <p:spPr>
          <a:xfrm>
            <a:off x="4465621" y="1092308"/>
            <a:ext cx="432054" cy="432054"/>
          </a:xfrm>
          <a:prstGeom prst="ellipse">
            <a:avLst/>
          </a:prstGeom>
          <a:solidFill>
            <a:srgbClr val="F472B6"/>
          </a:solidFill>
          <a:ln w="12700" cap="flat" cmpd="sng">
            <a:solidFill>
              <a:srgbClr val="F472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8" name="Google Shape;1308;p29"/>
          <p:cNvSpPr/>
          <p:nvPr/>
        </p:nvSpPr>
        <p:spPr>
          <a:xfrm>
            <a:off x="1925954" y="1262831"/>
            <a:ext cx="404622" cy="146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ontserrat"/>
              <a:buNone/>
            </a:pPr>
            <a:r>
              <a:rPr lang="en" sz="8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∂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9" name="Google Shape;1309;p29"/>
          <p:cNvSpPr/>
          <p:nvPr/>
        </p:nvSpPr>
        <p:spPr>
          <a:xfrm>
            <a:off x="3597938" y="1141154"/>
            <a:ext cx="390906" cy="390906"/>
          </a:xfrm>
          <a:prstGeom prst="ellipse">
            <a:avLst/>
          </a:prstGeom>
          <a:solidFill>
            <a:srgbClr val="F472B6"/>
          </a:solidFill>
          <a:ln w="12700" cap="flat" cmpd="sng">
            <a:solidFill>
              <a:srgbClr val="F472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0" name="Google Shape;1310;p29"/>
          <p:cNvSpPr/>
          <p:nvPr/>
        </p:nvSpPr>
        <p:spPr>
          <a:xfrm>
            <a:off x="2783204" y="1265438"/>
            <a:ext cx="363474" cy="132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ontserrat"/>
              <a:buNone/>
            </a:pPr>
            <a:r>
              <a:rPr lang="en" sz="8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∂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1" name="Google Shape;1311;p29"/>
          <p:cNvSpPr/>
          <p:nvPr/>
        </p:nvSpPr>
        <p:spPr>
          <a:xfrm>
            <a:off x="3640454" y="1268044"/>
            <a:ext cx="322326" cy="118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ontserrat"/>
              <a:buNone/>
            </a:pPr>
            <a:r>
              <a:rPr lang="en" sz="8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∂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2" name="Google Shape;1312;p29"/>
          <p:cNvSpPr/>
          <p:nvPr/>
        </p:nvSpPr>
        <p:spPr>
          <a:xfrm>
            <a:off x="4497704" y="1270650"/>
            <a:ext cx="281178" cy="104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ontserrat"/>
              <a:buNone/>
            </a:pPr>
            <a:r>
              <a:rPr lang="en" sz="8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∂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3" name="Google Shape;1313;p29"/>
          <p:cNvSpPr/>
          <p:nvPr/>
        </p:nvSpPr>
        <p:spPr>
          <a:xfrm>
            <a:off x="5354954" y="1273256"/>
            <a:ext cx="240030" cy="90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Montserrat"/>
              <a:buNone/>
            </a:pPr>
            <a:r>
              <a:rPr lang="en" sz="7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∂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4" name="Google Shape;1314;p29"/>
          <p:cNvSpPr/>
          <p:nvPr/>
        </p:nvSpPr>
        <p:spPr>
          <a:xfrm>
            <a:off x="6212204" y="1275862"/>
            <a:ext cx="198882" cy="76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Montserrat"/>
              <a:buNone/>
            </a:pPr>
            <a:r>
              <a:rPr lang="en" sz="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∂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5" name="Google Shape;1315;p29"/>
          <p:cNvSpPr/>
          <p:nvPr/>
        </p:nvSpPr>
        <p:spPr>
          <a:xfrm>
            <a:off x="552069" y="4169481"/>
            <a:ext cx="73380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5" tIns="475" rIns="475" bIns="4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-Gradient nhỏ dần khi truyền ngược qua nhiều time step.</a:t>
            </a:r>
            <a:endParaRPr sz="110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-Các bước ở xa nhận tín hiệu học rất yếu.</a:t>
            </a:r>
            <a:endParaRPr sz="110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-RNN khó học long-term dependencies.</a:t>
            </a:r>
            <a:endParaRPr sz="1100"/>
          </a:p>
        </p:txBody>
      </p:sp>
      <p:cxnSp>
        <p:nvCxnSpPr>
          <p:cNvPr id="1316" name="Google Shape;1316;p29"/>
          <p:cNvCxnSpPr/>
          <p:nvPr/>
        </p:nvCxnSpPr>
        <p:spPr>
          <a:xfrm flipH="1">
            <a:off x="1414691" y="1373351"/>
            <a:ext cx="583272" cy="2226"/>
          </a:xfrm>
          <a:prstGeom prst="straightConnector1">
            <a:avLst/>
          </a:prstGeom>
          <a:noFill/>
          <a:ln w="12700" cap="flat" cmpd="sng">
            <a:solidFill>
              <a:srgbClr val="F472B6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17" name="Google Shape;1317;p29"/>
          <p:cNvCxnSpPr/>
          <p:nvPr/>
        </p:nvCxnSpPr>
        <p:spPr>
          <a:xfrm rot="10800000">
            <a:off x="2344292" y="1364192"/>
            <a:ext cx="425196" cy="0"/>
          </a:xfrm>
          <a:prstGeom prst="straightConnector1">
            <a:avLst/>
          </a:prstGeom>
          <a:noFill/>
          <a:ln w="12700" cap="flat" cmpd="sng">
            <a:solidFill>
              <a:srgbClr val="F472B6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18" name="Google Shape;1318;p29"/>
          <p:cNvCxnSpPr/>
          <p:nvPr/>
        </p:nvCxnSpPr>
        <p:spPr>
          <a:xfrm rot="10800000">
            <a:off x="3160394" y="1352809"/>
            <a:ext cx="441313" cy="0"/>
          </a:xfrm>
          <a:prstGeom prst="straightConnector1">
            <a:avLst/>
          </a:prstGeom>
          <a:noFill/>
          <a:ln w="12700" cap="flat" cmpd="sng">
            <a:solidFill>
              <a:srgbClr val="F472B6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19" name="Google Shape;1319;p29"/>
          <p:cNvCxnSpPr/>
          <p:nvPr/>
        </p:nvCxnSpPr>
        <p:spPr>
          <a:xfrm rot="10800000">
            <a:off x="3976496" y="1333020"/>
            <a:ext cx="507492" cy="0"/>
          </a:xfrm>
          <a:prstGeom prst="straightConnector1">
            <a:avLst/>
          </a:prstGeom>
          <a:noFill/>
          <a:ln w="12700" cap="flat" cmpd="sng">
            <a:solidFill>
              <a:srgbClr val="F472B6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20" name="Google Shape;1320;p29"/>
          <p:cNvCxnSpPr/>
          <p:nvPr/>
        </p:nvCxnSpPr>
        <p:spPr>
          <a:xfrm flipH="1">
            <a:off x="4916042" y="1333020"/>
            <a:ext cx="423139" cy="11100"/>
          </a:xfrm>
          <a:prstGeom prst="straightConnector1">
            <a:avLst/>
          </a:prstGeom>
          <a:noFill/>
          <a:ln w="12700" cap="flat" cmpd="sng">
            <a:solidFill>
              <a:srgbClr val="F472B6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21" name="Google Shape;1321;p29"/>
          <p:cNvCxnSpPr/>
          <p:nvPr/>
        </p:nvCxnSpPr>
        <p:spPr>
          <a:xfrm rot="10800000">
            <a:off x="5732144" y="1333020"/>
            <a:ext cx="466343" cy="11103"/>
          </a:xfrm>
          <a:prstGeom prst="straightConnector1">
            <a:avLst/>
          </a:prstGeom>
          <a:noFill/>
          <a:ln w="12700" cap="flat" cmpd="sng">
            <a:solidFill>
              <a:srgbClr val="F472B6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1322" name="Google Shape;1322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90387" y="1597253"/>
            <a:ext cx="3908100" cy="2412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8" name="Google Shape;1328;p30"/>
          <p:cNvCxnSpPr/>
          <p:nvPr/>
        </p:nvCxnSpPr>
        <p:spPr>
          <a:xfrm>
            <a:off x="0" y="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29" name="Google Shape;1329;p30"/>
          <p:cNvCxnSpPr/>
          <p:nvPr/>
        </p:nvCxnSpPr>
        <p:spPr>
          <a:xfrm>
            <a:off x="0" y="65151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30" name="Google Shape;1330;p30"/>
          <p:cNvCxnSpPr/>
          <p:nvPr/>
        </p:nvCxnSpPr>
        <p:spPr>
          <a:xfrm>
            <a:off x="0" y="130302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31" name="Google Shape;1331;p30"/>
          <p:cNvCxnSpPr/>
          <p:nvPr/>
        </p:nvCxnSpPr>
        <p:spPr>
          <a:xfrm>
            <a:off x="0" y="195453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32" name="Google Shape;1332;p30"/>
          <p:cNvCxnSpPr/>
          <p:nvPr/>
        </p:nvCxnSpPr>
        <p:spPr>
          <a:xfrm>
            <a:off x="0" y="260604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33" name="Google Shape;1333;p30"/>
          <p:cNvCxnSpPr/>
          <p:nvPr/>
        </p:nvCxnSpPr>
        <p:spPr>
          <a:xfrm>
            <a:off x="0" y="325755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34" name="Google Shape;1334;p30"/>
          <p:cNvCxnSpPr/>
          <p:nvPr/>
        </p:nvCxnSpPr>
        <p:spPr>
          <a:xfrm>
            <a:off x="0" y="390906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35" name="Google Shape;1335;p30"/>
          <p:cNvCxnSpPr/>
          <p:nvPr/>
        </p:nvCxnSpPr>
        <p:spPr>
          <a:xfrm>
            <a:off x="0" y="456057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36" name="Google Shape;1336;p30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37" name="Google Shape;1337;p30"/>
          <p:cNvCxnSpPr/>
          <p:nvPr/>
        </p:nvCxnSpPr>
        <p:spPr>
          <a:xfrm>
            <a:off x="7886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38" name="Google Shape;1338;p30"/>
          <p:cNvCxnSpPr/>
          <p:nvPr/>
        </p:nvCxnSpPr>
        <p:spPr>
          <a:xfrm>
            <a:off x="157734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39" name="Google Shape;1339;p30"/>
          <p:cNvCxnSpPr/>
          <p:nvPr/>
        </p:nvCxnSpPr>
        <p:spPr>
          <a:xfrm>
            <a:off x="236601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40" name="Google Shape;1340;p30"/>
          <p:cNvCxnSpPr/>
          <p:nvPr/>
        </p:nvCxnSpPr>
        <p:spPr>
          <a:xfrm>
            <a:off x="3154680" y="-1699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41" name="Google Shape;1341;p30"/>
          <p:cNvCxnSpPr/>
          <p:nvPr/>
        </p:nvCxnSpPr>
        <p:spPr>
          <a:xfrm>
            <a:off x="394335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42" name="Google Shape;1342;p30"/>
          <p:cNvCxnSpPr/>
          <p:nvPr/>
        </p:nvCxnSpPr>
        <p:spPr>
          <a:xfrm>
            <a:off x="473202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43" name="Google Shape;1343;p30"/>
          <p:cNvCxnSpPr/>
          <p:nvPr/>
        </p:nvCxnSpPr>
        <p:spPr>
          <a:xfrm>
            <a:off x="552069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44" name="Google Shape;1344;p30"/>
          <p:cNvCxnSpPr/>
          <p:nvPr/>
        </p:nvCxnSpPr>
        <p:spPr>
          <a:xfrm>
            <a:off x="630936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45" name="Google Shape;1345;p30"/>
          <p:cNvCxnSpPr/>
          <p:nvPr/>
        </p:nvCxnSpPr>
        <p:spPr>
          <a:xfrm>
            <a:off x="709803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46" name="Google Shape;1346;p30"/>
          <p:cNvCxnSpPr/>
          <p:nvPr/>
        </p:nvCxnSpPr>
        <p:spPr>
          <a:xfrm>
            <a:off x="788670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47" name="Google Shape;1347;p30"/>
          <p:cNvCxnSpPr/>
          <p:nvPr/>
        </p:nvCxnSpPr>
        <p:spPr>
          <a:xfrm>
            <a:off x="86753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48" name="Google Shape;1348;p30"/>
          <p:cNvSpPr/>
          <p:nvPr/>
        </p:nvSpPr>
        <p:spPr>
          <a:xfrm>
            <a:off x="0" y="0"/>
            <a:ext cx="9143771" cy="246888"/>
          </a:xfrm>
          <a:prstGeom prst="rect">
            <a:avLst/>
          </a:prstGeom>
          <a:solidFill>
            <a:srgbClr val="04101F"/>
          </a:solidFill>
          <a:ln w="12700" cap="flat" cmpd="sng">
            <a:solidFill>
              <a:srgbClr val="0410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9" name="Google Shape;1349;p30"/>
          <p:cNvSpPr/>
          <p:nvPr/>
        </p:nvSpPr>
        <p:spPr>
          <a:xfrm>
            <a:off x="260604" y="68580"/>
            <a:ext cx="322326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RNN · PHÁT TRIỂN HỆ THỐNG THÔNG MINH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0" name="Google Shape;1350;p30"/>
          <p:cNvSpPr/>
          <p:nvPr/>
        </p:nvSpPr>
        <p:spPr>
          <a:xfrm>
            <a:off x="3531870" y="61722"/>
            <a:ext cx="3429000" cy="123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D9E5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14D9E5"/>
                </a:solidFill>
                <a:latin typeface="Montserrat"/>
                <a:ea typeface="Montserrat"/>
                <a:cs typeface="Montserrat"/>
                <a:sym typeface="Montserrat"/>
              </a:rPr>
              <a:t>PHẦN 6 · GIỚI HẠN CỦA RNN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1" name="Google Shape;1351;p30"/>
          <p:cNvSpPr/>
          <p:nvPr/>
        </p:nvSpPr>
        <p:spPr>
          <a:xfrm>
            <a:off x="425195" y="493776"/>
            <a:ext cx="5302159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7FF"/>
              </a:buClr>
              <a:buSzPts val="2000"/>
              <a:buFont typeface="Montserrat"/>
              <a:buNone/>
            </a:pPr>
            <a:r>
              <a:rPr lang="en" sz="2000" b="1">
                <a:solidFill>
                  <a:srgbClr val="F2F7FF"/>
                </a:solidFill>
                <a:latin typeface="Montserrat"/>
                <a:ea typeface="Montserrat"/>
                <a:cs typeface="Montserrat"/>
                <a:sym typeface="Montserrat"/>
              </a:rPr>
              <a:t>Exploding Gradient &amp; Gradient Clipping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2" name="Google Shape;1352;p30"/>
          <p:cNvSpPr/>
          <p:nvPr/>
        </p:nvSpPr>
        <p:spPr>
          <a:xfrm>
            <a:off x="438912" y="912114"/>
            <a:ext cx="5486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700"/>
              <a:buFont typeface="Montserrat"/>
              <a:buNone/>
            </a:pPr>
            <a:r>
              <a:rPr lang="en" sz="700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Gradient quá lớn làm huấn luyện mất ổn định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3" name="Google Shape;1353;p30"/>
          <p:cNvSpPr/>
          <p:nvPr/>
        </p:nvSpPr>
        <p:spPr>
          <a:xfrm>
            <a:off x="4800600" y="1543050"/>
            <a:ext cx="3223260" cy="822960"/>
          </a:xfrm>
          <a:prstGeom prst="roundRect">
            <a:avLst>
              <a:gd name="adj" fmla="val 6667"/>
            </a:avLst>
          </a:prstGeom>
          <a:solidFill>
            <a:srgbClr val="0B1E38"/>
          </a:solidFill>
          <a:ln w="12700" cap="flat" cmpd="sng">
            <a:solidFill>
              <a:srgbClr val="FACC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4" name="Google Shape;1354;p30"/>
          <p:cNvSpPr/>
          <p:nvPr/>
        </p:nvSpPr>
        <p:spPr>
          <a:xfrm>
            <a:off x="4800600" y="1543050"/>
            <a:ext cx="54864" cy="822960"/>
          </a:xfrm>
          <a:prstGeom prst="rect">
            <a:avLst/>
          </a:prstGeom>
          <a:solidFill>
            <a:srgbClr val="FACC15"/>
          </a:solidFill>
          <a:ln w="12700" cap="flat" cmpd="sng">
            <a:solidFill>
              <a:srgbClr val="FACC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5" name="Google Shape;1355;p30"/>
          <p:cNvSpPr/>
          <p:nvPr/>
        </p:nvSpPr>
        <p:spPr>
          <a:xfrm>
            <a:off x="4951476" y="1625346"/>
            <a:ext cx="3017520" cy="150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CC15"/>
              </a:buClr>
              <a:buSzPts val="700"/>
              <a:buFont typeface="Montserrat"/>
              <a:buNone/>
            </a:pPr>
            <a:r>
              <a:rPr lang="en" sz="700" b="1">
                <a:solidFill>
                  <a:srgbClr val="FACC15"/>
                </a:solidFill>
                <a:latin typeface="Montserrat"/>
                <a:ea typeface="Montserrat"/>
                <a:cs typeface="Montserrat"/>
                <a:sym typeface="Montserrat"/>
              </a:rPr>
              <a:t>Gradient clipping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6" name="Google Shape;1356;p30"/>
          <p:cNvSpPr/>
          <p:nvPr/>
        </p:nvSpPr>
        <p:spPr>
          <a:xfrm>
            <a:off x="4951476" y="1872234"/>
            <a:ext cx="2983230" cy="42519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Montserrat"/>
                <a:ea typeface="Montserrat"/>
                <a:cs typeface="Montserrat"/>
                <a:sym typeface="Montserrat"/>
              </a:rPr>
              <a:t> </a:t>
            </a:r>
            <a:endParaRPr sz="1100"/>
          </a:p>
        </p:txBody>
      </p:sp>
      <p:sp>
        <p:nvSpPr>
          <p:cNvPr id="1357" name="Google Shape;1357;p30"/>
          <p:cNvSpPr/>
          <p:nvPr/>
        </p:nvSpPr>
        <p:spPr>
          <a:xfrm>
            <a:off x="4800600" y="2743200"/>
            <a:ext cx="3291840" cy="891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5" tIns="475" rIns="475" bIns="4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-Gradient quá lớn → cập nhật trọng số quá mạnh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-Loss có thể dao động, train mất ổn định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-Có thể xuất hiện NaN/Inf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-Gradient clipping giới hạn độ lớn nhưng giữ hướng gradient</a:t>
            </a:r>
            <a:endParaRPr sz="1100"/>
          </a:p>
        </p:txBody>
      </p:sp>
      <p:pic>
        <p:nvPicPr>
          <p:cNvPr id="1358" name="Google Shape;1358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0658" y="1133621"/>
            <a:ext cx="3506136" cy="3219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4" name="Google Shape;1364;p31"/>
          <p:cNvCxnSpPr/>
          <p:nvPr/>
        </p:nvCxnSpPr>
        <p:spPr>
          <a:xfrm>
            <a:off x="0" y="0"/>
            <a:ext cx="9143700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65" name="Google Shape;1365;p31"/>
          <p:cNvCxnSpPr/>
          <p:nvPr/>
        </p:nvCxnSpPr>
        <p:spPr>
          <a:xfrm>
            <a:off x="0" y="651510"/>
            <a:ext cx="9143700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66" name="Google Shape;1366;p31"/>
          <p:cNvCxnSpPr/>
          <p:nvPr/>
        </p:nvCxnSpPr>
        <p:spPr>
          <a:xfrm>
            <a:off x="0" y="1303020"/>
            <a:ext cx="9143700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67" name="Google Shape;1367;p31"/>
          <p:cNvCxnSpPr/>
          <p:nvPr/>
        </p:nvCxnSpPr>
        <p:spPr>
          <a:xfrm>
            <a:off x="0" y="1954530"/>
            <a:ext cx="9143700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68" name="Google Shape;1368;p31"/>
          <p:cNvCxnSpPr/>
          <p:nvPr/>
        </p:nvCxnSpPr>
        <p:spPr>
          <a:xfrm>
            <a:off x="0" y="2606040"/>
            <a:ext cx="9143700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69" name="Google Shape;1369;p31"/>
          <p:cNvCxnSpPr/>
          <p:nvPr/>
        </p:nvCxnSpPr>
        <p:spPr>
          <a:xfrm>
            <a:off x="0" y="3257550"/>
            <a:ext cx="9143700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70" name="Google Shape;1370;p31"/>
          <p:cNvCxnSpPr/>
          <p:nvPr/>
        </p:nvCxnSpPr>
        <p:spPr>
          <a:xfrm>
            <a:off x="0" y="3909060"/>
            <a:ext cx="9143700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71" name="Google Shape;1371;p31"/>
          <p:cNvCxnSpPr/>
          <p:nvPr/>
        </p:nvCxnSpPr>
        <p:spPr>
          <a:xfrm>
            <a:off x="0" y="4560570"/>
            <a:ext cx="9143700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72" name="Google Shape;1372;p31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1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73" name="Google Shape;1373;p31"/>
          <p:cNvCxnSpPr/>
          <p:nvPr/>
        </p:nvCxnSpPr>
        <p:spPr>
          <a:xfrm>
            <a:off x="7886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1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74" name="Google Shape;1374;p31"/>
          <p:cNvCxnSpPr/>
          <p:nvPr/>
        </p:nvCxnSpPr>
        <p:spPr>
          <a:xfrm>
            <a:off x="157734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1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75" name="Google Shape;1375;p31"/>
          <p:cNvCxnSpPr/>
          <p:nvPr/>
        </p:nvCxnSpPr>
        <p:spPr>
          <a:xfrm>
            <a:off x="236601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1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76" name="Google Shape;1376;p31"/>
          <p:cNvCxnSpPr/>
          <p:nvPr/>
        </p:nvCxnSpPr>
        <p:spPr>
          <a:xfrm>
            <a:off x="3154680" y="-1699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1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77" name="Google Shape;1377;p31"/>
          <p:cNvCxnSpPr/>
          <p:nvPr/>
        </p:nvCxnSpPr>
        <p:spPr>
          <a:xfrm>
            <a:off x="394335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1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78" name="Google Shape;1378;p31"/>
          <p:cNvCxnSpPr/>
          <p:nvPr/>
        </p:nvCxnSpPr>
        <p:spPr>
          <a:xfrm>
            <a:off x="473202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1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79" name="Google Shape;1379;p31"/>
          <p:cNvCxnSpPr/>
          <p:nvPr/>
        </p:nvCxnSpPr>
        <p:spPr>
          <a:xfrm>
            <a:off x="552069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1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80" name="Google Shape;1380;p31"/>
          <p:cNvCxnSpPr/>
          <p:nvPr/>
        </p:nvCxnSpPr>
        <p:spPr>
          <a:xfrm>
            <a:off x="630936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1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81" name="Google Shape;1381;p31"/>
          <p:cNvCxnSpPr/>
          <p:nvPr/>
        </p:nvCxnSpPr>
        <p:spPr>
          <a:xfrm>
            <a:off x="709803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1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82" name="Google Shape;1382;p31"/>
          <p:cNvCxnSpPr/>
          <p:nvPr/>
        </p:nvCxnSpPr>
        <p:spPr>
          <a:xfrm>
            <a:off x="788670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1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83" name="Google Shape;1383;p31"/>
          <p:cNvCxnSpPr/>
          <p:nvPr/>
        </p:nvCxnSpPr>
        <p:spPr>
          <a:xfrm>
            <a:off x="86753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1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84" name="Google Shape;1384;p31"/>
          <p:cNvSpPr/>
          <p:nvPr/>
        </p:nvSpPr>
        <p:spPr>
          <a:xfrm>
            <a:off x="0" y="0"/>
            <a:ext cx="9143700" cy="246900"/>
          </a:xfrm>
          <a:prstGeom prst="rect">
            <a:avLst/>
          </a:prstGeom>
          <a:solidFill>
            <a:srgbClr val="04101F"/>
          </a:solidFill>
          <a:ln w="12700" cap="flat" cmpd="sng">
            <a:solidFill>
              <a:srgbClr val="0410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5" name="Google Shape;1385;p31"/>
          <p:cNvSpPr/>
          <p:nvPr/>
        </p:nvSpPr>
        <p:spPr>
          <a:xfrm>
            <a:off x="260604" y="68580"/>
            <a:ext cx="32232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RNN · PHÁT TRIỂN HỆ THỐNG THÔNG MINH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6" name="Google Shape;1386;p31"/>
          <p:cNvSpPr/>
          <p:nvPr/>
        </p:nvSpPr>
        <p:spPr>
          <a:xfrm>
            <a:off x="3531870" y="61722"/>
            <a:ext cx="3429000" cy="1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D9E5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14D9E5"/>
                </a:solidFill>
                <a:latin typeface="Montserrat"/>
                <a:ea typeface="Montserrat"/>
                <a:cs typeface="Montserrat"/>
                <a:sym typeface="Montserrat"/>
              </a:rPr>
              <a:t>PHẦN 7 - LSTM và GRU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7" name="Google Shape;1387;p31"/>
          <p:cNvSpPr txBox="1"/>
          <p:nvPr/>
        </p:nvSpPr>
        <p:spPr>
          <a:xfrm>
            <a:off x="615700" y="1486750"/>
            <a:ext cx="3238500" cy="25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VẤN ĐỀ CỦA RNN</a:t>
            </a:r>
            <a:endParaRPr sz="1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lvl="0" indent="0" algn="l" rtl="0">
              <a:spcBef>
                <a:spcPts val="45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Vanishing Gradient &amp; Chuỗi dài</a:t>
            </a:r>
            <a:endParaRPr sz="14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457200" lvl="0" indent="-317500" algn="l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 sz="115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Truyền thông tin:</a:t>
            </a:r>
            <a:r>
              <a:rPr lang="en" sz="115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Dữ liệu được truyền qua nhiều bước thời gian liên tiếp.</a:t>
            </a:r>
            <a:endParaRPr sz="115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 sz="115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Suy giảm thông tin:</a:t>
            </a:r>
            <a:r>
              <a:rPr lang="en" sz="115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Với chuỗi dài, các thông tin quan trọng ở xa bị mờ nhạt dần.</a:t>
            </a:r>
            <a:endParaRPr sz="115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 sz="115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Hệ quả:</a:t>
            </a:r>
            <a:r>
              <a:rPr lang="en" sz="115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Dẫn đến hiện tượng Vanishing Gradient, khiến mô hình rất khó học các mối liên hệ dài hạn (long-term dependency).</a:t>
            </a:r>
            <a:endParaRPr sz="115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388" name="Google Shape;1388;p31"/>
          <p:cNvGrpSpPr/>
          <p:nvPr/>
        </p:nvGrpSpPr>
        <p:grpSpPr>
          <a:xfrm>
            <a:off x="4427475" y="1439200"/>
            <a:ext cx="4038600" cy="2667000"/>
            <a:chOff x="190500" y="152400"/>
            <a:chExt cx="4038600" cy="2667000"/>
          </a:xfrm>
        </p:grpSpPr>
        <p:sp>
          <p:nvSpPr>
            <p:cNvPr id="1389" name="Google Shape;1389;p31"/>
            <p:cNvSpPr txBox="1"/>
            <p:nvPr/>
          </p:nvSpPr>
          <p:spPr>
            <a:xfrm>
              <a:off x="190500" y="152400"/>
              <a:ext cx="4038600" cy="7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GIẢI PHÁP: LSTM (1997) &amp; GRU (2014)</a:t>
              </a:r>
              <a:endParaRPr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Bổ sung cơ chế gating để kiểm soát linh hoạt thông tin được giữ lại, cập nhật hoặc loại bỏ qua từng bước.</a:t>
              </a:r>
              <a:endParaRPr sz="105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390" name="Google Shape;1390;p31"/>
            <p:cNvPicPr preferRelativeResize="0"/>
            <p:nvPr/>
          </p:nvPicPr>
          <p:blipFill rotWithShape="1">
            <a:blip r:embed="rId3">
              <a:alphaModFix/>
            </a:blip>
            <a:srcRect t="17924" b="17924"/>
            <a:stretch/>
          </p:blipFill>
          <p:spPr>
            <a:xfrm>
              <a:off x="190500" y="876300"/>
              <a:ext cx="4038600" cy="1943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91" name="Google Shape;1391;p31"/>
          <p:cNvSpPr txBox="1"/>
          <p:nvPr/>
        </p:nvSpPr>
        <p:spPr>
          <a:xfrm>
            <a:off x="457200" y="514350"/>
            <a:ext cx="762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Vấn đề của RNN &amp; Giải pháp LSTM / GRU</a:t>
            </a:r>
            <a:endParaRPr sz="20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2" name="Google Shape;1392;p31"/>
          <p:cNvSpPr/>
          <p:nvPr/>
        </p:nvSpPr>
        <p:spPr>
          <a:xfrm>
            <a:off x="425200" y="1239000"/>
            <a:ext cx="3619500" cy="29529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3" name="Google Shape;1393;p31"/>
          <p:cNvSpPr/>
          <p:nvPr/>
        </p:nvSpPr>
        <p:spPr>
          <a:xfrm>
            <a:off x="4312700" y="1239000"/>
            <a:ext cx="4315500" cy="2952900"/>
          </a:xfrm>
          <a:prstGeom prst="rect">
            <a:avLst/>
          </a:prstGeom>
          <a:noFill/>
          <a:ln w="1905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99" name="Google Shape;1399;p32"/>
          <p:cNvCxnSpPr/>
          <p:nvPr/>
        </p:nvCxnSpPr>
        <p:spPr>
          <a:xfrm>
            <a:off x="0" y="0"/>
            <a:ext cx="9143700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00" name="Google Shape;1400;p32"/>
          <p:cNvCxnSpPr/>
          <p:nvPr/>
        </p:nvCxnSpPr>
        <p:spPr>
          <a:xfrm>
            <a:off x="0" y="651510"/>
            <a:ext cx="9143700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01" name="Google Shape;1401;p32"/>
          <p:cNvCxnSpPr/>
          <p:nvPr/>
        </p:nvCxnSpPr>
        <p:spPr>
          <a:xfrm>
            <a:off x="0" y="1303020"/>
            <a:ext cx="9143700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02" name="Google Shape;1402;p32"/>
          <p:cNvCxnSpPr/>
          <p:nvPr/>
        </p:nvCxnSpPr>
        <p:spPr>
          <a:xfrm>
            <a:off x="0" y="1954530"/>
            <a:ext cx="9143700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03" name="Google Shape;1403;p32"/>
          <p:cNvCxnSpPr/>
          <p:nvPr/>
        </p:nvCxnSpPr>
        <p:spPr>
          <a:xfrm>
            <a:off x="0" y="2606040"/>
            <a:ext cx="9143700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04" name="Google Shape;1404;p32"/>
          <p:cNvCxnSpPr/>
          <p:nvPr/>
        </p:nvCxnSpPr>
        <p:spPr>
          <a:xfrm>
            <a:off x="0" y="3257550"/>
            <a:ext cx="9143700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05" name="Google Shape;1405;p32"/>
          <p:cNvCxnSpPr/>
          <p:nvPr/>
        </p:nvCxnSpPr>
        <p:spPr>
          <a:xfrm>
            <a:off x="0" y="3909060"/>
            <a:ext cx="9143700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06" name="Google Shape;1406;p32"/>
          <p:cNvCxnSpPr/>
          <p:nvPr/>
        </p:nvCxnSpPr>
        <p:spPr>
          <a:xfrm>
            <a:off x="0" y="4560570"/>
            <a:ext cx="9143700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07" name="Google Shape;1407;p32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1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08" name="Google Shape;1408;p32"/>
          <p:cNvCxnSpPr/>
          <p:nvPr/>
        </p:nvCxnSpPr>
        <p:spPr>
          <a:xfrm>
            <a:off x="7886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1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09" name="Google Shape;1409;p32"/>
          <p:cNvCxnSpPr/>
          <p:nvPr/>
        </p:nvCxnSpPr>
        <p:spPr>
          <a:xfrm>
            <a:off x="157734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1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10" name="Google Shape;1410;p32"/>
          <p:cNvCxnSpPr/>
          <p:nvPr/>
        </p:nvCxnSpPr>
        <p:spPr>
          <a:xfrm>
            <a:off x="236601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1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11" name="Google Shape;1411;p32"/>
          <p:cNvCxnSpPr/>
          <p:nvPr/>
        </p:nvCxnSpPr>
        <p:spPr>
          <a:xfrm>
            <a:off x="3154680" y="-1699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1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12" name="Google Shape;1412;p32"/>
          <p:cNvCxnSpPr/>
          <p:nvPr/>
        </p:nvCxnSpPr>
        <p:spPr>
          <a:xfrm>
            <a:off x="394335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1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13" name="Google Shape;1413;p32"/>
          <p:cNvCxnSpPr/>
          <p:nvPr/>
        </p:nvCxnSpPr>
        <p:spPr>
          <a:xfrm>
            <a:off x="473202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1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14" name="Google Shape;1414;p32"/>
          <p:cNvCxnSpPr/>
          <p:nvPr/>
        </p:nvCxnSpPr>
        <p:spPr>
          <a:xfrm>
            <a:off x="552069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1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15" name="Google Shape;1415;p32"/>
          <p:cNvCxnSpPr/>
          <p:nvPr/>
        </p:nvCxnSpPr>
        <p:spPr>
          <a:xfrm>
            <a:off x="630936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1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16" name="Google Shape;1416;p32"/>
          <p:cNvCxnSpPr/>
          <p:nvPr/>
        </p:nvCxnSpPr>
        <p:spPr>
          <a:xfrm>
            <a:off x="709803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1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17" name="Google Shape;1417;p32"/>
          <p:cNvCxnSpPr/>
          <p:nvPr/>
        </p:nvCxnSpPr>
        <p:spPr>
          <a:xfrm>
            <a:off x="788670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1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18" name="Google Shape;1418;p32"/>
          <p:cNvCxnSpPr/>
          <p:nvPr/>
        </p:nvCxnSpPr>
        <p:spPr>
          <a:xfrm>
            <a:off x="86753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1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19" name="Google Shape;1419;p32"/>
          <p:cNvSpPr/>
          <p:nvPr/>
        </p:nvSpPr>
        <p:spPr>
          <a:xfrm>
            <a:off x="0" y="0"/>
            <a:ext cx="9143700" cy="246900"/>
          </a:xfrm>
          <a:prstGeom prst="rect">
            <a:avLst/>
          </a:prstGeom>
          <a:solidFill>
            <a:srgbClr val="04101F"/>
          </a:solidFill>
          <a:ln w="12700" cap="flat" cmpd="sng">
            <a:solidFill>
              <a:srgbClr val="0410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0" name="Google Shape;1420;p32"/>
          <p:cNvSpPr/>
          <p:nvPr/>
        </p:nvSpPr>
        <p:spPr>
          <a:xfrm>
            <a:off x="260604" y="68580"/>
            <a:ext cx="32232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RNN · PHÁT TRIỂN HỆ THỐNG THÔNG MINH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1" name="Google Shape;1421;p32"/>
          <p:cNvSpPr/>
          <p:nvPr/>
        </p:nvSpPr>
        <p:spPr>
          <a:xfrm>
            <a:off x="3531870" y="61722"/>
            <a:ext cx="3429000" cy="1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D9E5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14D9E5"/>
                </a:solidFill>
                <a:latin typeface="Montserrat"/>
                <a:ea typeface="Montserrat"/>
                <a:cs typeface="Montserrat"/>
                <a:sym typeface="Montserrat"/>
              </a:rPr>
              <a:t>PHẦN 7 - LSTM và GRU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2" name="Google Shape;1422;p32"/>
          <p:cNvSpPr txBox="1"/>
          <p:nvPr/>
        </p:nvSpPr>
        <p:spPr>
          <a:xfrm>
            <a:off x="457200" y="514350"/>
            <a:ext cx="76200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LSTM — Bộ nhớ có kiểm soát</a:t>
            </a:r>
            <a:endParaRPr sz="20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3" name="Google Shape;1423;p32"/>
          <p:cNvSpPr txBox="1"/>
          <p:nvPr/>
        </p:nvSpPr>
        <p:spPr>
          <a:xfrm>
            <a:off x="609600" y="1200150"/>
            <a:ext cx="35052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35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Ý TƯỞNG CHÍNH</a:t>
            </a:r>
            <a:endParaRPr sz="935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935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Cell State:</a:t>
            </a:r>
            <a:r>
              <a:rPr lang="en" sz="93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Mang thông tin xuyên suốt qua nhiều timestep liên tiếp.</a:t>
            </a:r>
            <a:endParaRPr sz="935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424" name="Google Shape;1424;p32"/>
          <p:cNvGrpSpPr/>
          <p:nvPr/>
        </p:nvGrpSpPr>
        <p:grpSpPr>
          <a:xfrm>
            <a:off x="457200" y="1924050"/>
            <a:ext cx="3810000" cy="1733700"/>
            <a:chOff x="0" y="0"/>
            <a:chExt cx="3810000" cy="1733700"/>
          </a:xfrm>
        </p:grpSpPr>
        <p:sp>
          <p:nvSpPr>
            <p:cNvPr id="1425" name="Google Shape;1425;p32"/>
            <p:cNvSpPr/>
            <p:nvPr/>
          </p:nvSpPr>
          <p:spPr>
            <a:xfrm>
              <a:off x="0" y="0"/>
              <a:ext cx="3810000" cy="57300"/>
            </a:xfrm>
            <a:prstGeom prst="rect">
              <a:avLst/>
            </a:prstGeom>
            <a:solidFill>
              <a:srgbClr val="E6394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26" name="Google Shape;1426;p32"/>
            <p:cNvSpPr txBox="1"/>
            <p:nvPr/>
          </p:nvSpPr>
          <p:spPr>
            <a:xfrm>
              <a:off x="152400" y="152400"/>
              <a:ext cx="3505200" cy="158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chemeClr val="lt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Cổng kiểm soát dòng thông tin (Gates):</a:t>
              </a:r>
              <a:endParaRPr sz="14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marL="457200" lvl="0" indent="-317500" algn="l" rtl="0">
                <a:spcBef>
                  <a:spcPts val="75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Char char="●"/>
              </a:pPr>
              <a:r>
                <a:rPr lang="en" sz="1100" b="1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Forget Gate:</a:t>
              </a:r>
              <a:r>
                <a:rPr lang="en" sz="11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Bỏ thông tin gì không còn cần thiết?</a:t>
              </a:r>
              <a:endParaRPr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Char char="●"/>
              </a:pPr>
              <a:r>
                <a:rPr lang="en" sz="1100" b="1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Input Gate:</a:t>
              </a:r>
              <a:r>
                <a:rPr lang="en" sz="11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Lưu thông tin mới nào vào bộ nhớ?</a:t>
              </a:r>
              <a:endParaRPr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600"/>
                </a:spcAft>
                <a:buClr>
                  <a:schemeClr val="lt1"/>
                </a:buClr>
                <a:buSzPts val="1400"/>
                <a:buChar char="●"/>
              </a:pPr>
              <a:r>
                <a:rPr lang="en" sz="1100" b="1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Output Gate:</a:t>
              </a:r>
              <a:r>
                <a:rPr lang="en" sz="11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Đưa thông tin gì ra đầu ra?</a:t>
              </a:r>
              <a:endParaRPr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427" name="Google Shape;1427;p32"/>
          <p:cNvGrpSpPr/>
          <p:nvPr/>
        </p:nvGrpSpPr>
        <p:grpSpPr>
          <a:xfrm>
            <a:off x="4572000" y="1085850"/>
            <a:ext cx="4114800" cy="2724300"/>
            <a:chOff x="0" y="0"/>
            <a:chExt cx="4114800" cy="2724300"/>
          </a:xfrm>
        </p:grpSpPr>
        <p:sp>
          <p:nvSpPr>
            <p:cNvPr id="1428" name="Google Shape;1428;p32"/>
            <p:cNvSpPr/>
            <p:nvPr/>
          </p:nvSpPr>
          <p:spPr>
            <a:xfrm>
              <a:off x="0" y="0"/>
              <a:ext cx="4114800" cy="27243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29" name="Google Shape;1429;p3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19150" y="123825"/>
              <a:ext cx="2476500" cy="2476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30" name="Google Shape;1430;p32"/>
          <p:cNvGrpSpPr/>
          <p:nvPr/>
        </p:nvGrpSpPr>
        <p:grpSpPr>
          <a:xfrm>
            <a:off x="457200" y="3962400"/>
            <a:ext cx="8229600" cy="800100"/>
            <a:chOff x="0" y="0"/>
            <a:chExt cx="8229600" cy="800100"/>
          </a:xfrm>
        </p:grpSpPr>
        <p:sp>
          <p:nvSpPr>
            <p:cNvPr id="1431" name="Google Shape;1431;p32"/>
            <p:cNvSpPr/>
            <p:nvPr/>
          </p:nvSpPr>
          <p:spPr>
            <a:xfrm>
              <a:off x="0" y="0"/>
              <a:ext cx="8229600" cy="800100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32"/>
            <p:cNvSpPr/>
            <p:nvPr/>
          </p:nvSpPr>
          <p:spPr>
            <a:xfrm>
              <a:off x="0" y="0"/>
              <a:ext cx="76200" cy="8001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32"/>
            <p:cNvSpPr txBox="1"/>
            <p:nvPr/>
          </p:nvSpPr>
          <p:spPr>
            <a:xfrm>
              <a:off x="266700" y="171450"/>
              <a:ext cx="77154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1A1A1A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BOTTOM TAKEAWAY</a:t>
              </a:r>
              <a:endParaRPr sz="1100">
                <a:solidFill>
                  <a:srgbClr val="1A1A1A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1A1A1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LSTM không nhớ mọi thứ — nó học cách chọn thứ cần nhớ.</a:t>
              </a:r>
              <a:endParaRPr sz="1500" b="1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434" name="Google Shape;1434;p32"/>
          <p:cNvSpPr/>
          <p:nvPr/>
        </p:nvSpPr>
        <p:spPr>
          <a:xfrm>
            <a:off x="457200" y="1085850"/>
            <a:ext cx="3810000" cy="7239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40" name="Google Shape;1440;p33"/>
          <p:cNvCxnSpPr/>
          <p:nvPr/>
        </p:nvCxnSpPr>
        <p:spPr>
          <a:xfrm>
            <a:off x="0" y="0"/>
            <a:ext cx="9143700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41" name="Google Shape;1441;p33"/>
          <p:cNvCxnSpPr/>
          <p:nvPr/>
        </p:nvCxnSpPr>
        <p:spPr>
          <a:xfrm>
            <a:off x="0" y="651510"/>
            <a:ext cx="9143700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42" name="Google Shape;1442;p33"/>
          <p:cNvCxnSpPr/>
          <p:nvPr/>
        </p:nvCxnSpPr>
        <p:spPr>
          <a:xfrm>
            <a:off x="0" y="1303020"/>
            <a:ext cx="9143700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43" name="Google Shape;1443;p33"/>
          <p:cNvCxnSpPr/>
          <p:nvPr/>
        </p:nvCxnSpPr>
        <p:spPr>
          <a:xfrm>
            <a:off x="0" y="1954530"/>
            <a:ext cx="9143700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44" name="Google Shape;1444;p33"/>
          <p:cNvCxnSpPr/>
          <p:nvPr/>
        </p:nvCxnSpPr>
        <p:spPr>
          <a:xfrm>
            <a:off x="0" y="2606040"/>
            <a:ext cx="9143700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45" name="Google Shape;1445;p33"/>
          <p:cNvCxnSpPr/>
          <p:nvPr/>
        </p:nvCxnSpPr>
        <p:spPr>
          <a:xfrm>
            <a:off x="0" y="3257550"/>
            <a:ext cx="9143700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46" name="Google Shape;1446;p33"/>
          <p:cNvCxnSpPr/>
          <p:nvPr/>
        </p:nvCxnSpPr>
        <p:spPr>
          <a:xfrm>
            <a:off x="0" y="3909060"/>
            <a:ext cx="9143700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47" name="Google Shape;1447;p33"/>
          <p:cNvCxnSpPr/>
          <p:nvPr/>
        </p:nvCxnSpPr>
        <p:spPr>
          <a:xfrm>
            <a:off x="0" y="4560570"/>
            <a:ext cx="9143700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48" name="Google Shape;1448;p33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1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49" name="Google Shape;1449;p33"/>
          <p:cNvCxnSpPr/>
          <p:nvPr/>
        </p:nvCxnSpPr>
        <p:spPr>
          <a:xfrm>
            <a:off x="7886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1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50" name="Google Shape;1450;p33"/>
          <p:cNvCxnSpPr/>
          <p:nvPr/>
        </p:nvCxnSpPr>
        <p:spPr>
          <a:xfrm>
            <a:off x="157734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1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51" name="Google Shape;1451;p33"/>
          <p:cNvCxnSpPr/>
          <p:nvPr/>
        </p:nvCxnSpPr>
        <p:spPr>
          <a:xfrm>
            <a:off x="236601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1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52" name="Google Shape;1452;p33"/>
          <p:cNvCxnSpPr/>
          <p:nvPr/>
        </p:nvCxnSpPr>
        <p:spPr>
          <a:xfrm>
            <a:off x="3154680" y="-1699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1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53" name="Google Shape;1453;p33"/>
          <p:cNvCxnSpPr/>
          <p:nvPr/>
        </p:nvCxnSpPr>
        <p:spPr>
          <a:xfrm>
            <a:off x="394335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1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54" name="Google Shape;1454;p33"/>
          <p:cNvCxnSpPr/>
          <p:nvPr/>
        </p:nvCxnSpPr>
        <p:spPr>
          <a:xfrm>
            <a:off x="473202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1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55" name="Google Shape;1455;p33"/>
          <p:cNvCxnSpPr/>
          <p:nvPr/>
        </p:nvCxnSpPr>
        <p:spPr>
          <a:xfrm>
            <a:off x="552069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1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56" name="Google Shape;1456;p33"/>
          <p:cNvCxnSpPr/>
          <p:nvPr/>
        </p:nvCxnSpPr>
        <p:spPr>
          <a:xfrm>
            <a:off x="630936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1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57" name="Google Shape;1457;p33"/>
          <p:cNvCxnSpPr/>
          <p:nvPr/>
        </p:nvCxnSpPr>
        <p:spPr>
          <a:xfrm>
            <a:off x="709803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1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58" name="Google Shape;1458;p33"/>
          <p:cNvCxnSpPr/>
          <p:nvPr/>
        </p:nvCxnSpPr>
        <p:spPr>
          <a:xfrm>
            <a:off x="788670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1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59" name="Google Shape;1459;p33"/>
          <p:cNvCxnSpPr/>
          <p:nvPr/>
        </p:nvCxnSpPr>
        <p:spPr>
          <a:xfrm>
            <a:off x="86753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1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60" name="Google Shape;1460;p33"/>
          <p:cNvSpPr/>
          <p:nvPr/>
        </p:nvSpPr>
        <p:spPr>
          <a:xfrm>
            <a:off x="0" y="0"/>
            <a:ext cx="9143700" cy="246900"/>
          </a:xfrm>
          <a:prstGeom prst="rect">
            <a:avLst/>
          </a:prstGeom>
          <a:solidFill>
            <a:srgbClr val="04101F"/>
          </a:solidFill>
          <a:ln w="12700" cap="flat" cmpd="sng">
            <a:solidFill>
              <a:srgbClr val="0410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1" name="Google Shape;1461;p33"/>
          <p:cNvSpPr/>
          <p:nvPr/>
        </p:nvSpPr>
        <p:spPr>
          <a:xfrm>
            <a:off x="260604" y="68580"/>
            <a:ext cx="32232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RNN · PHÁT TRIỂN HỆ THỐNG THÔNG MINH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2" name="Google Shape;1462;p33"/>
          <p:cNvSpPr/>
          <p:nvPr/>
        </p:nvSpPr>
        <p:spPr>
          <a:xfrm>
            <a:off x="3531870" y="61722"/>
            <a:ext cx="3429000" cy="1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D9E5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14D9E5"/>
                </a:solidFill>
                <a:latin typeface="Montserrat"/>
                <a:ea typeface="Montserrat"/>
                <a:cs typeface="Montserrat"/>
                <a:sym typeface="Montserrat"/>
              </a:rPr>
              <a:t>PHẦN 7 - LSTM và GRU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3" name="Google Shape;1463;p33"/>
          <p:cNvSpPr txBox="1"/>
          <p:nvPr/>
        </p:nvSpPr>
        <p:spPr>
          <a:xfrm>
            <a:off x="457200" y="457200"/>
            <a:ext cx="76200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LSTM hoạt động như thế nào?</a:t>
            </a:r>
            <a:endParaRPr sz="20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464" name="Google Shape;1464;p33"/>
          <p:cNvGrpSpPr/>
          <p:nvPr/>
        </p:nvGrpSpPr>
        <p:grpSpPr>
          <a:xfrm>
            <a:off x="457200" y="1828800"/>
            <a:ext cx="3390900" cy="705000"/>
            <a:chOff x="0" y="0"/>
            <a:chExt cx="3390900" cy="705000"/>
          </a:xfrm>
        </p:grpSpPr>
        <p:sp>
          <p:nvSpPr>
            <p:cNvPr id="1465" name="Google Shape;1465;p33"/>
            <p:cNvSpPr/>
            <p:nvPr/>
          </p:nvSpPr>
          <p:spPr>
            <a:xfrm>
              <a:off x="0" y="0"/>
              <a:ext cx="76200" cy="705000"/>
            </a:xfrm>
            <a:prstGeom prst="rect">
              <a:avLst/>
            </a:prstGeom>
            <a:solidFill>
              <a:srgbClr val="1D355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33"/>
            <p:cNvSpPr txBox="1"/>
            <p:nvPr/>
          </p:nvSpPr>
          <p:spPr>
            <a:xfrm>
              <a:off x="152400" y="95250"/>
              <a:ext cx="3238500" cy="5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2. Input Gate</a:t>
              </a:r>
              <a:endParaRPr sz="11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“Thông tin mới nào cần lưu?”</a:t>
              </a:r>
              <a:endParaRPr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sp>
        <p:nvSpPr>
          <p:cNvPr id="1467" name="Google Shape;1467;p33"/>
          <p:cNvSpPr txBox="1"/>
          <p:nvPr/>
        </p:nvSpPr>
        <p:spPr>
          <a:xfrm>
            <a:off x="501300" y="3492000"/>
            <a:ext cx="33027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FF00"/>
                </a:solidFill>
                <a:latin typeface="Montserrat"/>
                <a:ea typeface="Montserrat"/>
                <a:cs typeface="Montserrat"/>
                <a:sym typeface="Montserrat"/>
              </a:rPr>
              <a:t>Ý tưởng cốt lõi:</a:t>
            </a:r>
            <a:r>
              <a:rPr lang="en">
                <a:solidFill>
                  <a:srgbClr val="00FF00"/>
                </a:solidFill>
                <a:latin typeface="Montserrat"/>
                <a:ea typeface="Montserrat"/>
                <a:cs typeface="Montserrat"/>
                <a:sym typeface="Montserrat"/>
              </a:rPr>
              <a:t> Gate ≈ bộ lọc học được (0 = block, 1 = allow).</a:t>
            </a:r>
            <a:endParaRPr>
              <a:solidFill>
                <a:srgbClr val="00F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468" name="Google Shape;1468;p33"/>
          <p:cNvGrpSpPr/>
          <p:nvPr/>
        </p:nvGrpSpPr>
        <p:grpSpPr>
          <a:xfrm>
            <a:off x="457200" y="1028700"/>
            <a:ext cx="3390900" cy="705000"/>
            <a:chOff x="0" y="0"/>
            <a:chExt cx="3390900" cy="705000"/>
          </a:xfrm>
        </p:grpSpPr>
        <p:sp>
          <p:nvSpPr>
            <p:cNvPr id="1469" name="Google Shape;1469;p33"/>
            <p:cNvSpPr/>
            <p:nvPr/>
          </p:nvSpPr>
          <p:spPr>
            <a:xfrm>
              <a:off x="0" y="0"/>
              <a:ext cx="76200" cy="705000"/>
            </a:xfrm>
            <a:prstGeom prst="rect">
              <a:avLst/>
            </a:prstGeom>
            <a:solidFill>
              <a:srgbClr val="E6394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70" name="Google Shape;1470;p33"/>
            <p:cNvSpPr txBox="1"/>
            <p:nvPr/>
          </p:nvSpPr>
          <p:spPr>
            <a:xfrm>
              <a:off x="152400" y="95250"/>
              <a:ext cx="3238500" cy="5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1. Forget Gate</a:t>
              </a:r>
              <a:endParaRPr sz="11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“Thông tin cũ nào cần bỏ?”</a:t>
              </a:r>
              <a:endParaRPr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pic>
        <p:nvPicPr>
          <p:cNvPr id="1471" name="Google Shape;1471;p33"/>
          <p:cNvPicPr preferRelativeResize="0"/>
          <p:nvPr/>
        </p:nvPicPr>
        <p:blipFill rotWithShape="1">
          <a:blip r:embed="rId3">
            <a:alphaModFix/>
          </a:blip>
          <a:srcRect t="21916" b="21916"/>
          <a:stretch/>
        </p:blipFill>
        <p:spPr>
          <a:xfrm>
            <a:off x="4210050" y="1028700"/>
            <a:ext cx="4476900" cy="2541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72" name="Google Shape;1472;p33"/>
          <p:cNvGrpSpPr/>
          <p:nvPr/>
        </p:nvGrpSpPr>
        <p:grpSpPr>
          <a:xfrm>
            <a:off x="457200" y="2628900"/>
            <a:ext cx="3390900" cy="705000"/>
            <a:chOff x="0" y="0"/>
            <a:chExt cx="3390900" cy="705000"/>
          </a:xfrm>
        </p:grpSpPr>
        <p:sp>
          <p:nvSpPr>
            <p:cNvPr id="1473" name="Google Shape;1473;p33"/>
            <p:cNvSpPr/>
            <p:nvPr/>
          </p:nvSpPr>
          <p:spPr>
            <a:xfrm>
              <a:off x="0" y="0"/>
              <a:ext cx="76200" cy="705000"/>
            </a:xfrm>
            <a:prstGeom prst="rect">
              <a:avLst/>
            </a:prstGeom>
            <a:solidFill>
              <a:srgbClr val="E9C46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33"/>
            <p:cNvSpPr txBox="1"/>
            <p:nvPr/>
          </p:nvSpPr>
          <p:spPr>
            <a:xfrm>
              <a:off x="152400" y="95250"/>
              <a:ext cx="3238500" cy="5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3. Output Gate</a:t>
              </a:r>
              <a:endParaRPr sz="11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lt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“Thông tin nào được đưa ra?”</a:t>
              </a:r>
              <a:endParaRPr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475" name="Google Shape;1475;p33"/>
          <p:cNvGrpSpPr/>
          <p:nvPr/>
        </p:nvGrpSpPr>
        <p:grpSpPr>
          <a:xfrm>
            <a:off x="457200" y="4152900"/>
            <a:ext cx="8229600" cy="609600"/>
            <a:chOff x="0" y="0"/>
            <a:chExt cx="8229600" cy="609600"/>
          </a:xfrm>
        </p:grpSpPr>
        <p:sp>
          <p:nvSpPr>
            <p:cNvPr id="1476" name="Google Shape;1476;p33"/>
            <p:cNvSpPr/>
            <p:nvPr/>
          </p:nvSpPr>
          <p:spPr>
            <a:xfrm>
              <a:off x="0" y="0"/>
              <a:ext cx="8229600" cy="609600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33"/>
            <p:cNvSpPr/>
            <p:nvPr/>
          </p:nvSpPr>
          <p:spPr>
            <a:xfrm>
              <a:off x="0" y="0"/>
              <a:ext cx="57300" cy="6096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33"/>
            <p:cNvSpPr txBox="1"/>
            <p:nvPr/>
          </p:nvSpPr>
          <p:spPr>
            <a:xfrm>
              <a:off x="228600" y="114300"/>
              <a:ext cx="7810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1A1A1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Bottom takeaway: LSTM dùng các gate để “lọc” thông tin trước khi cập nhật bộ nhớ.</a:t>
              </a:r>
              <a:endParaRPr sz="1300" b="1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479" name="Google Shape;1479;p33"/>
          <p:cNvSpPr/>
          <p:nvPr/>
        </p:nvSpPr>
        <p:spPr>
          <a:xfrm>
            <a:off x="460350" y="1028700"/>
            <a:ext cx="3483000" cy="705000"/>
          </a:xfrm>
          <a:prstGeom prst="rect">
            <a:avLst/>
          </a:prstGeom>
          <a:noFill/>
          <a:ln w="19050" cap="flat" cmpd="sng">
            <a:solidFill>
              <a:srgbClr val="E639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0" name="Google Shape;1480;p33"/>
          <p:cNvSpPr/>
          <p:nvPr/>
        </p:nvSpPr>
        <p:spPr>
          <a:xfrm>
            <a:off x="457200" y="1828800"/>
            <a:ext cx="3524400" cy="705000"/>
          </a:xfrm>
          <a:prstGeom prst="rect">
            <a:avLst/>
          </a:prstGeom>
          <a:noFill/>
          <a:ln w="19050" cap="flat" cmpd="sng">
            <a:solidFill>
              <a:srgbClr val="1D3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1" name="Google Shape;1481;p33"/>
          <p:cNvSpPr/>
          <p:nvPr/>
        </p:nvSpPr>
        <p:spPr>
          <a:xfrm>
            <a:off x="457200" y="2628900"/>
            <a:ext cx="3524400" cy="705000"/>
          </a:xfrm>
          <a:prstGeom prst="rect">
            <a:avLst/>
          </a:prstGeom>
          <a:noFill/>
          <a:ln w="19050" cap="flat" cmpd="sng">
            <a:solidFill>
              <a:srgbClr val="E9C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87" name="Google Shape;1487;p34"/>
          <p:cNvCxnSpPr/>
          <p:nvPr/>
        </p:nvCxnSpPr>
        <p:spPr>
          <a:xfrm>
            <a:off x="0" y="0"/>
            <a:ext cx="9143700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88" name="Google Shape;1488;p34"/>
          <p:cNvCxnSpPr/>
          <p:nvPr/>
        </p:nvCxnSpPr>
        <p:spPr>
          <a:xfrm>
            <a:off x="0" y="651510"/>
            <a:ext cx="9143700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89" name="Google Shape;1489;p34"/>
          <p:cNvCxnSpPr/>
          <p:nvPr/>
        </p:nvCxnSpPr>
        <p:spPr>
          <a:xfrm>
            <a:off x="0" y="1303020"/>
            <a:ext cx="9143700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90" name="Google Shape;1490;p34"/>
          <p:cNvCxnSpPr/>
          <p:nvPr/>
        </p:nvCxnSpPr>
        <p:spPr>
          <a:xfrm>
            <a:off x="0" y="1954530"/>
            <a:ext cx="9143700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91" name="Google Shape;1491;p34"/>
          <p:cNvCxnSpPr/>
          <p:nvPr/>
        </p:nvCxnSpPr>
        <p:spPr>
          <a:xfrm>
            <a:off x="0" y="2606040"/>
            <a:ext cx="9143700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92" name="Google Shape;1492;p34"/>
          <p:cNvCxnSpPr/>
          <p:nvPr/>
        </p:nvCxnSpPr>
        <p:spPr>
          <a:xfrm>
            <a:off x="0" y="3257550"/>
            <a:ext cx="9143700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93" name="Google Shape;1493;p34"/>
          <p:cNvCxnSpPr/>
          <p:nvPr/>
        </p:nvCxnSpPr>
        <p:spPr>
          <a:xfrm>
            <a:off x="0" y="3909060"/>
            <a:ext cx="9143700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94" name="Google Shape;1494;p34"/>
          <p:cNvCxnSpPr/>
          <p:nvPr/>
        </p:nvCxnSpPr>
        <p:spPr>
          <a:xfrm>
            <a:off x="0" y="4560570"/>
            <a:ext cx="9143700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95" name="Google Shape;1495;p34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1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96" name="Google Shape;1496;p34"/>
          <p:cNvCxnSpPr/>
          <p:nvPr/>
        </p:nvCxnSpPr>
        <p:spPr>
          <a:xfrm>
            <a:off x="7886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1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97" name="Google Shape;1497;p34"/>
          <p:cNvCxnSpPr/>
          <p:nvPr/>
        </p:nvCxnSpPr>
        <p:spPr>
          <a:xfrm>
            <a:off x="157734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1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98" name="Google Shape;1498;p34"/>
          <p:cNvCxnSpPr/>
          <p:nvPr/>
        </p:nvCxnSpPr>
        <p:spPr>
          <a:xfrm>
            <a:off x="236601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1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99" name="Google Shape;1499;p34"/>
          <p:cNvCxnSpPr/>
          <p:nvPr/>
        </p:nvCxnSpPr>
        <p:spPr>
          <a:xfrm>
            <a:off x="3154680" y="-1699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1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00" name="Google Shape;1500;p34"/>
          <p:cNvCxnSpPr/>
          <p:nvPr/>
        </p:nvCxnSpPr>
        <p:spPr>
          <a:xfrm>
            <a:off x="394335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1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01" name="Google Shape;1501;p34"/>
          <p:cNvCxnSpPr/>
          <p:nvPr/>
        </p:nvCxnSpPr>
        <p:spPr>
          <a:xfrm>
            <a:off x="473202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1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02" name="Google Shape;1502;p34"/>
          <p:cNvCxnSpPr/>
          <p:nvPr/>
        </p:nvCxnSpPr>
        <p:spPr>
          <a:xfrm>
            <a:off x="552069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1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03" name="Google Shape;1503;p34"/>
          <p:cNvCxnSpPr/>
          <p:nvPr/>
        </p:nvCxnSpPr>
        <p:spPr>
          <a:xfrm>
            <a:off x="630936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1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04" name="Google Shape;1504;p34"/>
          <p:cNvCxnSpPr/>
          <p:nvPr/>
        </p:nvCxnSpPr>
        <p:spPr>
          <a:xfrm>
            <a:off x="709803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1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05" name="Google Shape;1505;p34"/>
          <p:cNvCxnSpPr/>
          <p:nvPr/>
        </p:nvCxnSpPr>
        <p:spPr>
          <a:xfrm>
            <a:off x="788670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1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06" name="Google Shape;1506;p34"/>
          <p:cNvCxnSpPr/>
          <p:nvPr/>
        </p:nvCxnSpPr>
        <p:spPr>
          <a:xfrm>
            <a:off x="86753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1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07" name="Google Shape;1507;p34"/>
          <p:cNvSpPr/>
          <p:nvPr/>
        </p:nvSpPr>
        <p:spPr>
          <a:xfrm>
            <a:off x="0" y="0"/>
            <a:ext cx="9143700" cy="246900"/>
          </a:xfrm>
          <a:prstGeom prst="rect">
            <a:avLst/>
          </a:prstGeom>
          <a:solidFill>
            <a:srgbClr val="04101F"/>
          </a:solidFill>
          <a:ln w="12700" cap="flat" cmpd="sng">
            <a:solidFill>
              <a:srgbClr val="0410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8" name="Google Shape;1508;p34"/>
          <p:cNvSpPr/>
          <p:nvPr/>
        </p:nvSpPr>
        <p:spPr>
          <a:xfrm>
            <a:off x="260604" y="68580"/>
            <a:ext cx="32232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RNN · PHÁT TRIỂN HỆ THỐNG THÔNG MINH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9" name="Google Shape;1509;p34"/>
          <p:cNvSpPr/>
          <p:nvPr/>
        </p:nvSpPr>
        <p:spPr>
          <a:xfrm>
            <a:off x="3531870" y="61722"/>
            <a:ext cx="3429000" cy="1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D9E5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14D9E5"/>
                </a:solidFill>
                <a:latin typeface="Montserrat"/>
                <a:ea typeface="Montserrat"/>
                <a:cs typeface="Montserrat"/>
                <a:sym typeface="Montserrat"/>
              </a:rPr>
              <a:t>PHẦN 7 - LSTM và GRU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0" name="Google Shape;1510;p34"/>
          <p:cNvSpPr txBox="1"/>
          <p:nvPr/>
        </p:nvSpPr>
        <p:spPr>
          <a:xfrm>
            <a:off x="457200" y="533400"/>
            <a:ext cx="762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GRU — Đơn giản hóa cơ chế ghi nhớ</a:t>
            </a:r>
            <a:endParaRPr sz="20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511" name="Google Shape;1511;p34"/>
          <p:cNvGrpSpPr/>
          <p:nvPr/>
        </p:nvGrpSpPr>
        <p:grpSpPr>
          <a:xfrm>
            <a:off x="457200" y="1066800"/>
            <a:ext cx="4191000" cy="2895600"/>
            <a:chOff x="457200" y="1066800"/>
            <a:chExt cx="4191000" cy="2895600"/>
          </a:xfrm>
        </p:grpSpPr>
        <p:sp>
          <p:nvSpPr>
            <p:cNvPr id="1512" name="Google Shape;1512;p34"/>
            <p:cNvSpPr/>
            <p:nvPr/>
          </p:nvSpPr>
          <p:spPr>
            <a:xfrm>
              <a:off x="457200" y="1066800"/>
              <a:ext cx="4191000" cy="57300"/>
            </a:xfrm>
            <a:prstGeom prst="rect">
              <a:avLst/>
            </a:prstGeom>
            <a:solidFill>
              <a:srgbClr val="22C9C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34"/>
            <p:cNvSpPr txBox="1"/>
            <p:nvPr/>
          </p:nvSpPr>
          <p:spPr>
            <a:xfrm>
              <a:off x="647700" y="1219200"/>
              <a:ext cx="3810000" cy="274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Khái niệm cốt lõi</a:t>
              </a:r>
              <a:endParaRPr sz="11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GRU = Gated Recurrent Unit</a:t>
              </a:r>
              <a:endParaRPr sz="11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Các cổng điều khiển (Gates):</a:t>
              </a:r>
              <a:endParaRPr sz="11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457200" lvl="0" indent="-298450" algn="l" rtl="0">
                <a:spcBef>
                  <a:spcPts val="60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Char char="●"/>
              </a:pPr>
              <a:r>
                <a:rPr lang="en" sz="1100" b="1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Update Gate:</a:t>
              </a:r>
              <a:r>
                <a:rPr lang="en" sz="11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Bao nhiêu thông tin cũ được giữ lại / cập nhật?</a:t>
              </a:r>
              <a:endParaRPr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457200" lvl="0" indent="-298450" algn="l" rtl="0">
                <a:spcBef>
                  <a:spcPts val="75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Char char="●"/>
              </a:pPr>
              <a:r>
                <a:rPr lang="en" sz="1100" b="1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Reset Gate:</a:t>
              </a:r>
              <a:r>
                <a:rPr lang="en" sz="11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Bao nhiêu thông tin cũ được bỏ qua khi tạo thông tin mới?</a:t>
              </a:r>
              <a:endParaRPr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Khác biệt so với LSTM:</a:t>
              </a:r>
              <a:endParaRPr sz="11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457200" lvl="0" indent="-298450" algn="l" rtl="0">
                <a:spcBef>
                  <a:spcPts val="60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Char char="●"/>
              </a:pPr>
              <a:r>
                <a:rPr lang="en" sz="11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Không có </a:t>
              </a:r>
              <a:r>
                <a:rPr lang="en" sz="1100" b="1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Cell State</a:t>
              </a:r>
              <a:r>
                <a:rPr lang="en" sz="11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riêng.</a:t>
              </a:r>
              <a:endParaRPr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457200" lvl="0" indent="-298450" algn="l" rtl="0">
                <a:spcBef>
                  <a:spcPts val="75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Char char="●"/>
              </a:pPr>
              <a:r>
                <a:rPr lang="en" sz="11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Không có </a:t>
              </a:r>
              <a:r>
                <a:rPr lang="en" sz="1100" b="1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Output Gate</a:t>
              </a:r>
              <a:r>
                <a:rPr lang="en" sz="11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riêng.</a:t>
              </a:r>
              <a:endParaRPr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457200" lvl="0" indent="-298450" algn="l" rtl="0">
                <a:spcBef>
                  <a:spcPts val="750"/>
                </a:spcBef>
                <a:spcAft>
                  <a:spcPts val="750"/>
                </a:spcAft>
                <a:buClr>
                  <a:schemeClr val="lt1"/>
                </a:buClr>
                <a:buSzPts val="1100"/>
                <a:buChar char="●"/>
              </a:pPr>
              <a:r>
                <a:rPr lang="en" sz="11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Chỉ duy trì </a:t>
              </a:r>
              <a:r>
                <a:rPr lang="en" sz="1100" b="1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Hidden State</a:t>
              </a:r>
              <a:r>
                <a:rPr lang="en" sz="11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.</a:t>
              </a:r>
              <a:endParaRPr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514" name="Google Shape;1514;p34"/>
          <p:cNvGrpSpPr/>
          <p:nvPr/>
        </p:nvGrpSpPr>
        <p:grpSpPr>
          <a:xfrm>
            <a:off x="457200" y="4210050"/>
            <a:ext cx="8229600" cy="609600"/>
            <a:chOff x="0" y="0"/>
            <a:chExt cx="8229600" cy="609600"/>
          </a:xfrm>
        </p:grpSpPr>
        <p:sp>
          <p:nvSpPr>
            <p:cNvPr id="1515" name="Google Shape;1515;p34"/>
            <p:cNvSpPr/>
            <p:nvPr/>
          </p:nvSpPr>
          <p:spPr>
            <a:xfrm>
              <a:off x="0" y="0"/>
              <a:ext cx="8229600" cy="609600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34"/>
            <p:cNvSpPr/>
            <p:nvPr/>
          </p:nvSpPr>
          <p:spPr>
            <a:xfrm>
              <a:off x="0" y="0"/>
              <a:ext cx="57300" cy="6096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34"/>
            <p:cNvSpPr txBox="1"/>
            <p:nvPr/>
          </p:nvSpPr>
          <p:spPr>
            <a:xfrm>
              <a:off x="228600" y="114300"/>
              <a:ext cx="7810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GRU = ít gate hơn → kiến trúc đơn giản hơn → ít tham số hơn LSTM.</a:t>
              </a:r>
              <a:endParaRPr sz="13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1518" name="Google Shape;151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5850" y="1327763"/>
            <a:ext cx="4237800" cy="255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24" name="Google Shape;1524;p35"/>
          <p:cNvCxnSpPr/>
          <p:nvPr/>
        </p:nvCxnSpPr>
        <p:spPr>
          <a:xfrm>
            <a:off x="0" y="0"/>
            <a:ext cx="9143700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25" name="Google Shape;1525;p35"/>
          <p:cNvCxnSpPr/>
          <p:nvPr/>
        </p:nvCxnSpPr>
        <p:spPr>
          <a:xfrm>
            <a:off x="0" y="651510"/>
            <a:ext cx="9143700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26" name="Google Shape;1526;p35"/>
          <p:cNvCxnSpPr/>
          <p:nvPr/>
        </p:nvCxnSpPr>
        <p:spPr>
          <a:xfrm>
            <a:off x="0" y="1303020"/>
            <a:ext cx="9143700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27" name="Google Shape;1527;p35"/>
          <p:cNvCxnSpPr/>
          <p:nvPr/>
        </p:nvCxnSpPr>
        <p:spPr>
          <a:xfrm>
            <a:off x="0" y="1954530"/>
            <a:ext cx="9143700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28" name="Google Shape;1528;p35"/>
          <p:cNvCxnSpPr/>
          <p:nvPr/>
        </p:nvCxnSpPr>
        <p:spPr>
          <a:xfrm>
            <a:off x="0" y="2606040"/>
            <a:ext cx="9143700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29" name="Google Shape;1529;p35"/>
          <p:cNvCxnSpPr/>
          <p:nvPr/>
        </p:nvCxnSpPr>
        <p:spPr>
          <a:xfrm>
            <a:off x="0" y="3257550"/>
            <a:ext cx="9143700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30" name="Google Shape;1530;p35"/>
          <p:cNvCxnSpPr/>
          <p:nvPr/>
        </p:nvCxnSpPr>
        <p:spPr>
          <a:xfrm>
            <a:off x="0" y="3909060"/>
            <a:ext cx="9143700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31" name="Google Shape;1531;p35"/>
          <p:cNvCxnSpPr/>
          <p:nvPr/>
        </p:nvCxnSpPr>
        <p:spPr>
          <a:xfrm>
            <a:off x="0" y="4560570"/>
            <a:ext cx="9143700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32" name="Google Shape;1532;p35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1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33" name="Google Shape;1533;p35"/>
          <p:cNvCxnSpPr/>
          <p:nvPr/>
        </p:nvCxnSpPr>
        <p:spPr>
          <a:xfrm>
            <a:off x="7886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1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34" name="Google Shape;1534;p35"/>
          <p:cNvCxnSpPr/>
          <p:nvPr/>
        </p:nvCxnSpPr>
        <p:spPr>
          <a:xfrm>
            <a:off x="157734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1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35" name="Google Shape;1535;p35"/>
          <p:cNvCxnSpPr/>
          <p:nvPr/>
        </p:nvCxnSpPr>
        <p:spPr>
          <a:xfrm>
            <a:off x="236601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1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36" name="Google Shape;1536;p35"/>
          <p:cNvCxnSpPr/>
          <p:nvPr/>
        </p:nvCxnSpPr>
        <p:spPr>
          <a:xfrm>
            <a:off x="3154680" y="-1699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1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37" name="Google Shape;1537;p35"/>
          <p:cNvCxnSpPr/>
          <p:nvPr/>
        </p:nvCxnSpPr>
        <p:spPr>
          <a:xfrm>
            <a:off x="394335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1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38" name="Google Shape;1538;p35"/>
          <p:cNvCxnSpPr/>
          <p:nvPr/>
        </p:nvCxnSpPr>
        <p:spPr>
          <a:xfrm>
            <a:off x="473202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1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39" name="Google Shape;1539;p35"/>
          <p:cNvCxnSpPr/>
          <p:nvPr/>
        </p:nvCxnSpPr>
        <p:spPr>
          <a:xfrm>
            <a:off x="552069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1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40" name="Google Shape;1540;p35"/>
          <p:cNvCxnSpPr/>
          <p:nvPr/>
        </p:nvCxnSpPr>
        <p:spPr>
          <a:xfrm>
            <a:off x="630936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1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41" name="Google Shape;1541;p35"/>
          <p:cNvCxnSpPr/>
          <p:nvPr/>
        </p:nvCxnSpPr>
        <p:spPr>
          <a:xfrm>
            <a:off x="709803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1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42" name="Google Shape;1542;p35"/>
          <p:cNvCxnSpPr/>
          <p:nvPr/>
        </p:nvCxnSpPr>
        <p:spPr>
          <a:xfrm>
            <a:off x="788670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1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43" name="Google Shape;1543;p35"/>
          <p:cNvCxnSpPr/>
          <p:nvPr/>
        </p:nvCxnSpPr>
        <p:spPr>
          <a:xfrm>
            <a:off x="86753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1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44" name="Google Shape;1544;p35"/>
          <p:cNvSpPr/>
          <p:nvPr/>
        </p:nvSpPr>
        <p:spPr>
          <a:xfrm>
            <a:off x="0" y="0"/>
            <a:ext cx="9143700" cy="246900"/>
          </a:xfrm>
          <a:prstGeom prst="rect">
            <a:avLst/>
          </a:prstGeom>
          <a:solidFill>
            <a:srgbClr val="04101F"/>
          </a:solidFill>
          <a:ln w="12700" cap="flat" cmpd="sng">
            <a:solidFill>
              <a:srgbClr val="0410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5" name="Google Shape;1545;p35"/>
          <p:cNvSpPr/>
          <p:nvPr/>
        </p:nvSpPr>
        <p:spPr>
          <a:xfrm>
            <a:off x="260604" y="68580"/>
            <a:ext cx="32232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RNN · PHÁT TRIỂN HỆ THỐNG THÔNG MINH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6" name="Google Shape;1546;p35"/>
          <p:cNvSpPr/>
          <p:nvPr/>
        </p:nvSpPr>
        <p:spPr>
          <a:xfrm>
            <a:off x="3531870" y="61722"/>
            <a:ext cx="3429000" cy="1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D9E5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14D9E5"/>
                </a:solidFill>
                <a:latin typeface="Montserrat"/>
                <a:ea typeface="Montserrat"/>
                <a:cs typeface="Montserrat"/>
                <a:sym typeface="Montserrat"/>
              </a:rPr>
              <a:t>PHẦN 7 - LSTM và GRU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7" name="Google Shape;1547;p35"/>
          <p:cNvSpPr txBox="1"/>
          <p:nvPr/>
        </p:nvSpPr>
        <p:spPr>
          <a:xfrm>
            <a:off x="457200" y="266700"/>
            <a:ext cx="7620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So sánh kiến trúc: </a:t>
            </a:r>
            <a:r>
              <a:rPr lang="en" sz="2000" b="1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LSTM</a:t>
            </a:r>
            <a:r>
              <a:rPr lang="en"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vs </a:t>
            </a:r>
            <a:r>
              <a:rPr lang="en" sz="2000" b="1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GRU</a:t>
            </a:r>
            <a:endParaRPr sz="2000" b="1">
              <a:solidFill>
                <a:srgbClr val="CC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8" name="Google Shape;1548;p35"/>
          <p:cNvSpPr txBox="1"/>
          <p:nvPr/>
        </p:nvSpPr>
        <p:spPr>
          <a:xfrm>
            <a:off x="647700" y="876300"/>
            <a:ext cx="3581400" cy="190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LSTM (Long Short-Term Memory)</a:t>
            </a:r>
            <a:endParaRPr sz="1100" b="1">
              <a:solidFill>
                <a:schemeClr val="accent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• Memory: </a:t>
            </a: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Cell State + Hidden State (Tách biệt)</a:t>
            </a:r>
            <a:endParaRPr sz="11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• Gates: </a:t>
            </a: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3 Cổng (Forget, Input, Output)</a:t>
            </a:r>
            <a:endParaRPr sz="11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• Độ phức tạp: </a:t>
            </a:r>
            <a:r>
              <a:rPr lang="en" sz="11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Cao hơn</a:t>
            </a:r>
            <a:endParaRPr sz="11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• Tham số: </a:t>
            </a:r>
            <a:r>
              <a:rPr lang="en" sz="11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Nhiều hơn</a:t>
            </a:r>
            <a:endParaRPr sz="11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549" name="Google Shape;1549;p35"/>
          <p:cNvGrpSpPr/>
          <p:nvPr/>
        </p:nvGrpSpPr>
        <p:grpSpPr>
          <a:xfrm>
            <a:off x="457200" y="3067050"/>
            <a:ext cx="8077200" cy="914400"/>
            <a:chOff x="0" y="0"/>
            <a:chExt cx="8077200" cy="914400"/>
          </a:xfrm>
        </p:grpSpPr>
        <p:sp>
          <p:nvSpPr>
            <p:cNvPr id="1550" name="Google Shape;1550;p35"/>
            <p:cNvSpPr/>
            <p:nvPr/>
          </p:nvSpPr>
          <p:spPr>
            <a:xfrm>
              <a:off x="0" y="0"/>
              <a:ext cx="57300" cy="914400"/>
            </a:xfrm>
            <a:prstGeom prst="rect">
              <a:avLst/>
            </a:prstGeom>
            <a:solidFill>
              <a:srgbClr val="FFD21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35"/>
            <p:cNvSpPr txBox="1"/>
            <p:nvPr/>
          </p:nvSpPr>
          <p:spPr>
            <a:xfrm>
              <a:off x="190500" y="114300"/>
              <a:ext cx="78867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QUY TẮC CHỌN MÔ HÌNH</a:t>
              </a:r>
              <a:endParaRPr sz="11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chemeClr val="accent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Chọn LSTM</a:t>
              </a:r>
              <a:r>
                <a:rPr lang="en" sz="1100" b="1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</a:t>
              </a:r>
              <a:r>
                <a:rPr lang="en" sz="11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Khi cần cơ chế bộ nhớ &amp; gating linh hoạt hơn cho chuỗi phức tạp.</a:t>
              </a:r>
              <a:endParaRPr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CC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Chọn GRU</a:t>
              </a:r>
              <a:r>
                <a:rPr lang="en" sz="1100" b="1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</a:t>
              </a:r>
              <a:r>
                <a:rPr lang="en" sz="11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Khi muốn kiến trúc đơn giản, ít tham số hơn và huấn luyện nhanh hơn.</a:t>
              </a:r>
              <a:endParaRPr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552" name="Google Shape;1552;p35"/>
          <p:cNvGrpSpPr/>
          <p:nvPr/>
        </p:nvGrpSpPr>
        <p:grpSpPr>
          <a:xfrm>
            <a:off x="457200" y="4152900"/>
            <a:ext cx="8229600" cy="685800"/>
            <a:chOff x="0" y="0"/>
            <a:chExt cx="8229600" cy="685800"/>
          </a:xfrm>
        </p:grpSpPr>
        <p:sp>
          <p:nvSpPr>
            <p:cNvPr id="1553" name="Google Shape;1553;p35"/>
            <p:cNvSpPr/>
            <p:nvPr/>
          </p:nvSpPr>
          <p:spPr>
            <a:xfrm>
              <a:off x="0" y="0"/>
              <a:ext cx="8229600" cy="6858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35"/>
            <p:cNvSpPr/>
            <p:nvPr/>
          </p:nvSpPr>
          <p:spPr>
            <a:xfrm>
              <a:off x="0" y="0"/>
              <a:ext cx="57300" cy="685800"/>
            </a:xfrm>
            <a:prstGeom prst="rect">
              <a:avLst/>
            </a:prstGeom>
            <a:solidFill>
              <a:srgbClr val="E6394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35"/>
            <p:cNvSpPr txBox="1"/>
            <p:nvPr/>
          </p:nvSpPr>
          <p:spPr>
            <a:xfrm>
              <a:off x="190500" y="114300"/>
              <a:ext cx="78867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>
                  <a:solidFill>
                    <a:srgbClr val="E9C46A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BOTTOM TAKEAWAY</a:t>
              </a:r>
              <a:endParaRPr sz="900" b="1">
                <a:solidFill>
                  <a:srgbClr val="E9C46A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200" b="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LSTM và GRU đều là RNN có gating; GRU đơn giản hơn, còn LSTM có cơ chế bộ nhớ riêng biệt.</a:t>
              </a:r>
              <a:endParaRPr sz="1200" b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1556" name="Google Shape;1556;p35"/>
          <p:cNvSpPr/>
          <p:nvPr/>
        </p:nvSpPr>
        <p:spPr>
          <a:xfrm>
            <a:off x="457200" y="731113"/>
            <a:ext cx="3962400" cy="22563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7" name="Google Shape;1557;p35"/>
          <p:cNvSpPr/>
          <p:nvPr/>
        </p:nvSpPr>
        <p:spPr>
          <a:xfrm>
            <a:off x="4732025" y="731125"/>
            <a:ext cx="3962400" cy="2256300"/>
          </a:xfrm>
          <a:prstGeom prst="rect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8" name="Google Shape;1558;p35"/>
          <p:cNvSpPr txBox="1"/>
          <p:nvPr/>
        </p:nvSpPr>
        <p:spPr>
          <a:xfrm>
            <a:off x="4914900" y="876300"/>
            <a:ext cx="3581400" cy="190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GRU (Gated Recurrent Unit)</a:t>
            </a:r>
            <a:endParaRPr sz="1100" b="1">
              <a:solidFill>
                <a:srgbClr val="CC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• Memory: </a:t>
            </a: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Hidden State (Tích hợp)</a:t>
            </a:r>
            <a:endParaRPr sz="11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• Gates: </a:t>
            </a: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 Cổng (Reset, Update)</a:t>
            </a:r>
            <a:endParaRPr sz="11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• Độ phức tạp: </a:t>
            </a:r>
            <a:r>
              <a:rPr lang="en" sz="11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Thấp hơn</a:t>
            </a:r>
            <a:endParaRPr sz="11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• Tham số: </a:t>
            </a:r>
            <a:r>
              <a:rPr lang="en" sz="11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Ít hơn</a:t>
            </a:r>
            <a:endParaRPr sz="11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64" name="Google Shape;1564;p36"/>
          <p:cNvCxnSpPr/>
          <p:nvPr/>
        </p:nvCxnSpPr>
        <p:spPr>
          <a:xfrm>
            <a:off x="0" y="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65" name="Google Shape;1565;p36"/>
          <p:cNvCxnSpPr/>
          <p:nvPr/>
        </p:nvCxnSpPr>
        <p:spPr>
          <a:xfrm>
            <a:off x="0" y="65151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66" name="Google Shape;1566;p36"/>
          <p:cNvCxnSpPr/>
          <p:nvPr/>
        </p:nvCxnSpPr>
        <p:spPr>
          <a:xfrm>
            <a:off x="0" y="130302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67" name="Google Shape;1567;p36"/>
          <p:cNvCxnSpPr/>
          <p:nvPr/>
        </p:nvCxnSpPr>
        <p:spPr>
          <a:xfrm>
            <a:off x="0" y="195453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68" name="Google Shape;1568;p36"/>
          <p:cNvCxnSpPr/>
          <p:nvPr/>
        </p:nvCxnSpPr>
        <p:spPr>
          <a:xfrm>
            <a:off x="0" y="260604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69" name="Google Shape;1569;p36"/>
          <p:cNvCxnSpPr/>
          <p:nvPr/>
        </p:nvCxnSpPr>
        <p:spPr>
          <a:xfrm>
            <a:off x="0" y="325755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70" name="Google Shape;1570;p36"/>
          <p:cNvCxnSpPr/>
          <p:nvPr/>
        </p:nvCxnSpPr>
        <p:spPr>
          <a:xfrm>
            <a:off x="0" y="390906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71" name="Google Shape;1571;p36"/>
          <p:cNvCxnSpPr/>
          <p:nvPr/>
        </p:nvCxnSpPr>
        <p:spPr>
          <a:xfrm>
            <a:off x="0" y="456057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72" name="Google Shape;1572;p36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73" name="Google Shape;1573;p36"/>
          <p:cNvCxnSpPr/>
          <p:nvPr/>
        </p:nvCxnSpPr>
        <p:spPr>
          <a:xfrm>
            <a:off x="7886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74" name="Google Shape;1574;p36"/>
          <p:cNvCxnSpPr/>
          <p:nvPr/>
        </p:nvCxnSpPr>
        <p:spPr>
          <a:xfrm>
            <a:off x="157734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75" name="Google Shape;1575;p36"/>
          <p:cNvCxnSpPr/>
          <p:nvPr/>
        </p:nvCxnSpPr>
        <p:spPr>
          <a:xfrm>
            <a:off x="236601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76" name="Google Shape;1576;p36"/>
          <p:cNvCxnSpPr/>
          <p:nvPr/>
        </p:nvCxnSpPr>
        <p:spPr>
          <a:xfrm>
            <a:off x="315468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77" name="Google Shape;1577;p36"/>
          <p:cNvCxnSpPr/>
          <p:nvPr/>
        </p:nvCxnSpPr>
        <p:spPr>
          <a:xfrm>
            <a:off x="394335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78" name="Google Shape;1578;p36"/>
          <p:cNvCxnSpPr/>
          <p:nvPr/>
        </p:nvCxnSpPr>
        <p:spPr>
          <a:xfrm>
            <a:off x="473202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79" name="Google Shape;1579;p36"/>
          <p:cNvCxnSpPr/>
          <p:nvPr/>
        </p:nvCxnSpPr>
        <p:spPr>
          <a:xfrm>
            <a:off x="552069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80" name="Google Shape;1580;p36"/>
          <p:cNvCxnSpPr/>
          <p:nvPr/>
        </p:nvCxnSpPr>
        <p:spPr>
          <a:xfrm>
            <a:off x="630936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81" name="Google Shape;1581;p36"/>
          <p:cNvCxnSpPr/>
          <p:nvPr/>
        </p:nvCxnSpPr>
        <p:spPr>
          <a:xfrm>
            <a:off x="709803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82" name="Google Shape;1582;p36"/>
          <p:cNvCxnSpPr/>
          <p:nvPr/>
        </p:nvCxnSpPr>
        <p:spPr>
          <a:xfrm>
            <a:off x="788670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83" name="Google Shape;1583;p36"/>
          <p:cNvCxnSpPr/>
          <p:nvPr/>
        </p:nvCxnSpPr>
        <p:spPr>
          <a:xfrm>
            <a:off x="86753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84" name="Google Shape;1584;p36"/>
          <p:cNvSpPr/>
          <p:nvPr/>
        </p:nvSpPr>
        <p:spPr>
          <a:xfrm>
            <a:off x="0" y="0"/>
            <a:ext cx="9143771" cy="246888"/>
          </a:xfrm>
          <a:prstGeom prst="rect">
            <a:avLst/>
          </a:prstGeom>
          <a:solidFill>
            <a:srgbClr val="04101F"/>
          </a:solidFill>
          <a:ln w="12700" cap="flat" cmpd="sng">
            <a:solidFill>
              <a:srgbClr val="0410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5" name="Google Shape;1585;p36"/>
          <p:cNvSpPr/>
          <p:nvPr/>
        </p:nvSpPr>
        <p:spPr>
          <a:xfrm>
            <a:off x="260604" y="68580"/>
            <a:ext cx="322326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RNN · PHÁT TRIỂN HỆ THỐNG THÔNG MINH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6" name="Google Shape;1586;p36"/>
          <p:cNvSpPr/>
          <p:nvPr/>
        </p:nvSpPr>
        <p:spPr>
          <a:xfrm>
            <a:off x="3531870" y="61722"/>
            <a:ext cx="3429000" cy="123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D9E5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14D9E5"/>
                </a:solidFill>
                <a:latin typeface="Montserrat"/>
                <a:ea typeface="Montserrat"/>
                <a:cs typeface="Montserrat"/>
                <a:sym typeface="Montserrat"/>
              </a:rPr>
              <a:t>PHẦN 8 · ỨNG DỤNG &amp; KẾT LUẬN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7" name="Google Shape;1587;p36"/>
          <p:cNvSpPr/>
          <p:nvPr/>
        </p:nvSpPr>
        <p:spPr>
          <a:xfrm>
            <a:off x="425196" y="493776"/>
            <a:ext cx="507492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7FF"/>
              </a:buClr>
              <a:buSzPts val="2000"/>
              <a:buFont typeface="Montserrat"/>
              <a:buNone/>
            </a:pPr>
            <a:r>
              <a:rPr lang="en" sz="2000" b="1">
                <a:solidFill>
                  <a:srgbClr val="F2F7FF"/>
                </a:solidFill>
                <a:latin typeface="Montserrat"/>
                <a:ea typeface="Montserrat"/>
                <a:cs typeface="Montserrat"/>
                <a:sym typeface="Montserrat"/>
              </a:rPr>
              <a:t>Ứng dụng của RNN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8" name="Google Shape;1588;p36"/>
          <p:cNvSpPr/>
          <p:nvPr/>
        </p:nvSpPr>
        <p:spPr>
          <a:xfrm>
            <a:off x="438912" y="850392"/>
            <a:ext cx="5486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700"/>
              <a:buFont typeface="Montserrat"/>
              <a:buNone/>
            </a:pPr>
            <a:r>
              <a:rPr lang="en" sz="700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Dữ liệu có cấu trúc chuỗi là nơi RNN có thể làm baseline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9" name="Google Shape;1589;p36"/>
          <p:cNvSpPr/>
          <p:nvPr/>
        </p:nvSpPr>
        <p:spPr>
          <a:xfrm>
            <a:off x="514350" y="1371600"/>
            <a:ext cx="1885950" cy="2400300"/>
          </a:xfrm>
          <a:prstGeom prst="roundRect">
            <a:avLst>
              <a:gd name="adj" fmla="val 2909"/>
            </a:avLst>
          </a:prstGeom>
          <a:solidFill>
            <a:srgbClr val="0A1D35"/>
          </a:solidFill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0" name="Google Shape;1590;p36"/>
          <p:cNvSpPr/>
          <p:nvPr/>
        </p:nvSpPr>
        <p:spPr>
          <a:xfrm>
            <a:off x="651510" y="1543050"/>
            <a:ext cx="161163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D9E5"/>
              </a:buClr>
              <a:buSzPts val="1300"/>
              <a:buFont typeface="Montserrat"/>
              <a:buNone/>
            </a:pPr>
            <a:r>
              <a:rPr lang="en" sz="1300" b="1">
                <a:solidFill>
                  <a:srgbClr val="14D9E5"/>
                </a:solidFill>
                <a:latin typeface="Montserrat"/>
                <a:ea typeface="Montserrat"/>
                <a:cs typeface="Montserrat"/>
                <a:sym typeface="Montserrat"/>
              </a:rPr>
              <a:t>NLP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1" name="Google Shape;1591;p36"/>
          <p:cNvSpPr/>
          <p:nvPr/>
        </p:nvSpPr>
        <p:spPr>
          <a:xfrm>
            <a:off x="822960" y="2366010"/>
            <a:ext cx="233172" cy="233172"/>
          </a:xfrm>
          <a:prstGeom prst="ellipse">
            <a:avLst/>
          </a:prstGeom>
          <a:solidFill>
            <a:srgbClr val="14D9E5"/>
          </a:solidFill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2" name="Google Shape;1592;p36"/>
          <p:cNvSpPr/>
          <p:nvPr/>
        </p:nvSpPr>
        <p:spPr>
          <a:xfrm>
            <a:off x="836676" y="2428967"/>
            <a:ext cx="205740" cy="79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Montserrat"/>
              <a:buNone/>
            </a:pPr>
            <a:r>
              <a:rPr lang="en" sz="4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x1</a:t>
            </a:r>
            <a:endParaRPr sz="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3" name="Google Shape;1593;p36"/>
          <p:cNvSpPr/>
          <p:nvPr/>
        </p:nvSpPr>
        <p:spPr>
          <a:xfrm>
            <a:off x="1152144" y="2366010"/>
            <a:ext cx="233172" cy="233172"/>
          </a:xfrm>
          <a:prstGeom prst="ellipse">
            <a:avLst/>
          </a:prstGeom>
          <a:solidFill>
            <a:srgbClr val="14D9E5"/>
          </a:solidFill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4" name="Google Shape;1594;p36"/>
          <p:cNvSpPr/>
          <p:nvPr/>
        </p:nvSpPr>
        <p:spPr>
          <a:xfrm>
            <a:off x="1165860" y="2428967"/>
            <a:ext cx="205740" cy="79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Montserrat"/>
              <a:buNone/>
            </a:pPr>
            <a:r>
              <a:rPr lang="en" sz="4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x2</a:t>
            </a:r>
            <a:endParaRPr sz="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5" name="Google Shape;1595;p36"/>
          <p:cNvSpPr/>
          <p:nvPr/>
        </p:nvSpPr>
        <p:spPr>
          <a:xfrm>
            <a:off x="1481328" y="2366010"/>
            <a:ext cx="233172" cy="233172"/>
          </a:xfrm>
          <a:prstGeom prst="ellipse">
            <a:avLst/>
          </a:prstGeom>
          <a:solidFill>
            <a:srgbClr val="14D9E5"/>
          </a:solidFill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6" name="Google Shape;1596;p36"/>
          <p:cNvSpPr/>
          <p:nvPr/>
        </p:nvSpPr>
        <p:spPr>
          <a:xfrm>
            <a:off x="1495044" y="2428967"/>
            <a:ext cx="205740" cy="79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Montserrat"/>
              <a:buNone/>
            </a:pPr>
            <a:r>
              <a:rPr lang="en" sz="4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x3</a:t>
            </a:r>
            <a:endParaRPr sz="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7" name="Google Shape;1597;p36"/>
          <p:cNvSpPr/>
          <p:nvPr/>
        </p:nvSpPr>
        <p:spPr>
          <a:xfrm>
            <a:off x="1810512" y="2366010"/>
            <a:ext cx="233172" cy="233172"/>
          </a:xfrm>
          <a:prstGeom prst="ellipse">
            <a:avLst/>
          </a:prstGeom>
          <a:solidFill>
            <a:srgbClr val="14D9E5"/>
          </a:solidFill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8" name="Google Shape;1598;p36"/>
          <p:cNvSpPr/>
          <p:nvPr/>
        </p:nvSpPr>
        <p:spPr>
          <a:xfrm>
            <a:off x="1824228" y="2428967"/>
            <a:ext cx="205740" cy="79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Montserrat"/>
              <a:buNone/>
            </a:pPr>
            <a:r>
              <a:rPr lang="en" sz="4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x4</a:t>
            </a:r>
            <a:endParaRPr sz="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99" name="Google Shape;1599;p36"/>
          <p:cNvCxnSpPr/>
          <p:nvPr/>
        </p:nvCxnSpPr>
        <p:spPr>
          <a:xfrm>
            <a:off x="1056132" y="2482596"/>
            <a:ext cx="96012" cy="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00" name="Google Shape;1600;p36"/>
          <p:cNvCxnSpPr/>
          <p:nvPr/>
        </p:nvCxnSpPr>
        <p:spPr>
          <a:xfrm>
            <a:off x="1385316" y="2482596"/>
            <a:ext cx="96012" cy="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01" name="Google Shape;1601;p36"/>
          <p:cNvCxnSpPr/>
          <p:nvPr/>
        </p:nvCxnSpPr>
        <p:spPr>
          <a:xfrm>
            <a:off x="1714500" y="2482596"/>
            <a:ext cx="96012" cy="0"/>
          </a:xfrm>
          <a:prstGeom prst="straightConnector1">
            <a:avLst/>
          </a:prstGeom>
          <a:noFill/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02" name="Google Shape;1602;p36"/>
          <p:cNvSpPr/>
          <p:nvPr/>
        </p:nvSpPr>
        <p:spPr>
          <a:xfrm>
            <a:off x="685800" y="3257550"/>
            <a:ext cx="150876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800"/>
              <a:buFont typeface="Montserrat"/>
              <a:buNone/>
            </a:pPr>
            <a:r>
              <a:rPr lang="en" sz="800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sentiment · tagging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3" name="Google Shape;1603;p36"/>
          <p:cNvSpPr/>
          <p:nvPr/>
        </p:nvSpPr>
        <p:spPr>
          <a:xfrm>
            <a:off x="2640330" y="1371600"/>
            <a:ext cx="1885950" cy="2400300"/>
          </a:xfrm>
          <a:prstGeom prst="roundRect">
            <a:avLst>
              <a:gd name="adj" fmla="val 2909"/>
            </a:avLst>
          </a:prstGeom>
          <a:solidFill>
            <a:srgbClr val="0A1D35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4" name="Google Shape;1604;p36"/>
          <p:cNvSpPr/>
          <p:nvPr/>
        </p:nvSpPr>
        <p:spPr>
          <a:xfrm>
            <a:off x="2777490" y="1543050"/>
            <a:ext cx="161163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300"/>
              <a:buFont typeface="Montserrat"/>
              <a:buNone/>
            </a:pPr>
            <a:r>
              <a:rPr lang="en" sz="1300" b="1">
                <a:solidFill>
                  <a:srgbClr val="A78BFA"/>
                </a:solidFill>
                <a:latin typeface="Montserrat"/>
                <a:ea typeface="Montserrat"/>
                <a:cs typeface="Montserrat"/>
                <a:sym typeface="Montserrat"/>
              </a:rPr>
              <a:t>Speech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05" name="Google Shape;1605;p36"/>
          <p:cNvCxnSpPr/>
          <p:nvPr/>
        </p:nvCxnSpPr>
        <p:spPr>
          <a:xfrm>
            <a:off x="2880360" y="2571750"/>
            <a:ext cx="0" cy="0"/>
          </a:xfrm>
          <a:prstGeom prst="straightConnector1">
            <a:avLst/>
          </a:prstGeom>
          <a:noFill/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06" name="Google Shape;1606;p36"/>
          <p:cNvCxnSpPr/>
          <p:nvPr/>
        </p:nvCxnSpPr>
        <p:spPr>
          <a:xfrm>
            <a:off x="2931795" y="2330008"/>
            <a:ext cx="0" cy="483485"/>
          </a:xfrm>
          <a:prstGeom prst="straightConnector1">
            <a:avLst/>
          </a:prstGeom>
          <a:noFill/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07" name="Google Shape;1607;p36"/>
          <p:cNvCxnSpPr/>
          <p:nvPr/>
        </p:nvCxnSpPr>
        <p:spPr>
          <a:xfrm>
            <a:off x="2983230" y="2271211"/>
            <a:ext cx="0" cy="601079"/>
          </a:xfrm>
          <a:prstGeom prst="straightConnector1">
            <a:avLst/>
          </a:prstGeom>
          <a:noFill/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08" name="Google Shape;1608;p36"/>
          <p:cNvCxnSpPr/>
          <p:nvPr/>
        </p:nvCxnSpPr>
        <p:spPr>
          <a:xfrm>
            <a:off x="3034665" y="2439857"/>
            <a:ext cx="0" cy="263788"/>
          </a:xfrm>
          <a:prstGeom prst="straightConnector1">
            <a:avLst/>
          </a:prstGeom>
          <a:noFill/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09" name="Google Shape;1609;p36"/>
          <p:cNvCxnSpPr/>
          <p:nvPr/>
        </p:nvCxnSpPr>
        <p:spPr>
          <a:xfrm>
            <a:off x="3086100" y="2708316"/>
            <a:ext cx="0" cy="0"/>
          </a:xfrm>
          <a:prstGeom prst="straightConnector1">
            <a:avLst/>
          </a:prstGeom>
          <a:noFill/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10" name="Google Shape;1610;p36"/>
          <p:cNvCxnSpPr/>
          <p:nvPr/>
        </p:nvCxnSpPr>
        <p:spPr>
          <a:xfrm>
            <a:off x="3137535" y="2873425"/>
            <a:ext cx="0" cy="0"/>
          </a:xfrm>
          <a:prstGeom prst="straightConnector1">
            <a:avLst/>
          </a:prstGeom>
          <a:noFill/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11" name="Google Shape;1611;p36"/>
          <p:cNvCxnSpPr/>
          <p:nvPr/>
        </p:nvCxnSpPr>
        <p:spPr>
          <a:xfrm>
            <a:off x="3188970" y="2810233"/>
            <a:ext cx="0" cy="0"/>
          </a:xfrm>
          <a:prstGeom prst="straightConnector1">
            <a:avLst/>
          </a:prstGeom>
          <a:noFill/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12" name="Google Shape;1612;p36"/>
          <p:cNvCxnSpPr/>
          <p:nvPr/>
        </p:nvCxnSpPr>
        <p:spPr>
          <a:xfrm>
            <a:off x="3240405" y="2566561"/>
            <a:ext cx="0" cy="10378"/>
          </a:xfrm>
          <a:prstGeom prst="straightConnector1">
            <a:avLst/>
          </a:prstGeom>
          <a:noFill/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13" name="Google Shape;1613;p36"/>
          <p:cNvCxnSpPr/>
          <p:nvPr/>
        </p:nvCxnSpPr>
        <p:spPr>
          <a:xfrm>
            <a:off x="3291840" y="2326817"/>
            <a:ext cx="0" cy="489868"/>
          </a:xfrm>
          <a:prstGeom prst="straightConnector1">
            <a:avLst/>
          </a:prstGeom>
          <a:noFill/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14" name="Google Shape;1614;p36"/>
          <p:cNvCxnSpPr/>
          <p:nvPr/>
        </p:nvCxnSpPr>
        <p:spPr>
          <a:xfrm>
            <a:off x="3343275" y="2272432"/>
            <a:ext cx="0" cy="598636"/>
          </a:xfrm>
          <a:prstGeom prst="straightConnector1">
            <a:avLst/>
          </a:prstGeom>
          <a:noFill/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15" name="Google Shape;1615;p36"/>
          <p:cNvCxnSpPr/>
          <p:nvPr/>
        </p:nvCxnSpPr>
        <p:spPr>
          <a:xfrm>
            <a:off x="3394710" y="2444566"/>
            <a:ext cx="0" cy="254368"/>
          </a:xfrm>
          <a:prstGeom prst="straightConnector1">
            <a:avLst/>
          </a:prstGeom>
          <a:noFill/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16" name="Google Shape;1616;p36"/>
          <p:cNvCxnSpPr/>
          <p:nvPr/>
        </p:nvCxnSpPr>
        <p:spPr>
          <a:xfrm>
            <a:off x="3446145" y="2712950"/>
            <a:ext cx="0" cy="0"/>
          </a:xfrm>
          <a:prstGeom prst="straightConnector1">
            <a:avLst/>
          </a:prstGeom>
          <a:noFill/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17" name="Google Shape;1617;p36"/>
          <p:cNvCxnSpPr/>
          <p:nvPr/>
        </p:nvCxnSpPr>
        <p:spPr>
          <a:xfrm>
            <a:off x="3497580" y="2874477"/>
            <a:ext cx="0" cy="0"/>
          </a:xfrm>
          <a:prstGeom prst="straightConnector1">
            <a:avLst/>
          </a:prstGeom>
          <a:noFill/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18" name="Google Shape;1618;p36"/>
          <p:cNvCxnSpPr/>
          <p:nvPr/>
        </p:nvCxnSpPr>
        <p:spPr>
          <a:xfrm>
            <a:off x="3549015" y="2806906"/>
            <a:ext cx="0" cy="0"/>
          </a:xfrm>
          <a:prstGeom prst="straightConnector1">
            <a:avLst/>
          </a:prstGeom>
          <a:noFill/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19" name="Google Shape;1619;p36"/>
          <p:cNvCxnSpPr/>
          <p:nvPr/>
        </p:nvCxnSpPr>
        <p:spPr>
          <a:xfrm>
            <a:off x="3600450" y="2561374"/>
            <a:ext cx="0" cy="20753"/>
          </a:xfrm>
          <a:prstGeom prst="straightConnector1">
            <a:avLst/>
          </a:prstGeom>
          <a:noFill/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20" name="Google Shape;1620;p36"/>
          <p:cNvCxnSpPr/>
          <p:nvPr/>
        </p:nvCxnSpPr>
        <p:spPr>
          <a:xfrm>
            <a:off x="3651885" y="2323694"/>
            <a:ext cx="0" cy="496112"/>
          </a:xfrm>
          <a:prstGeom prst="straightConnector1">
            <a:avLst/>
          </a:prstGeom>
          <a:noFill/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21" name="Google Shape;1621;p36"/>
          <p:cNvCxnSpPr/>
          <p:nvPr/>
        </p:nvCxnSpPr>
        <p:spPr>
          <a:xfrm>
            <a:off x="3703320" y="2273738"/>
            <a:ext cx="0" cy="596024"/>
          </a:xfrm>
          <a:prstGeom prst="straightConnector1">
            <a:avLst/>
          </a:prstGeom>
          <a:noFill/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22" name="Google Shape;1622;p36"/>
          <p:cNvCxnSpPr/>
          <p:nvPr/>
        </p:nvCxnSpPr>
        <p:spPr>
          <a:xfrm>
            <a:off x="3754755" y="2449312"/>
            <a:ext cx="0" cy="244876"/>
          </a:xfrm>
          <a:prstGeom prst="straightConnector1">
            <a:avLst/>
          </a:prstGeom>
          <a:noFill/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23" name="Google Shape;1623;p36"/>
          <p:cNvCxnSpPr/>
          <p:nvPr/>
        </p:nvCxnSpPr>
        <p:spPr>
          <a:xfrm>
            <a:off x="3806190" y="2717544"/>
            <a:ext cx="0" cy="0"/>
          </a:xfrm>
          <a:prstGeom prst="straightConnector1">
            <a:avLst/>
          </a:prstGeom>
          <a:noFill/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24" name="Google Shape;1624;p36"/>
          <p:cNvCxnSpPr/>
          <p:nvPr/>
        </p:nvCxnSpPr>
        <p:spPr>
          <a:xfrm>
            <a:off x="3857625" y="2875442"/>
            <a:ext cx="0" cy="0"/>
          </a:xfrm>
          <a:prstGeom prst="straightConnector1">
            <a:avLst/>
          </a:prstGeom>
          <a:noFill/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25" name="Google Shape;1625;p36"/>
          <p:cNvCxnSpPr/>
          <p:nvPr/>
        </p:nvCxnSpPr>
        <p:spPr>
          <a:xfrm>
            <a:off x="3909060" y="2803512"/>
            <a:ext cx="0" cy="0"/>
          </a:xfrm>
          <a:prstGeom prst="straightConnector1">
            <a:avLst/>
          </a:prstGeom>
          <a:noFill/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26" name="Google Shape;1626;p36"/>
          <p:cNvCxnSpPr/>
          <p:nvPr/>
        </p:nvCxnSpPr>
        <p:spPr>
          <a:xfrm>
            <a:off x="3960495" y="2556189"/>
            <a:ext cx="0" cy="31122"/>
          </a:xfrm>
          <a:prstGeom prst="straightConnector1">
            <a:avLst/>
          </a:prstGeom>
          <a:noFill/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27" name="Google Shape;1627;p36"/>
          <p:cNvCxnSpPr/>
          <p:nvPr/>
        </p:nvCxnSpPr>
        <p:spPr>
          <a:xfrm>
            <a:off x="4011930" y="2320643"/>
            <a:ext cx="0" cy="502216"/>
          </a:xfrm>
          <a:prstGeom prst="straightConnector1">
            <a:avLst/>
          </a:prstGeom>
          <a:noFill/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28" name="Google Shape;1628;p36"/>
          <p:cNvCxnSpPr/>
          <p:nvPr/>
        </p:nvCxnSpPr>
        <p:spPr>
          <a:xfrm>
            <a:off x="4063365" y="2275129"/>
            <a:ext cx="0" cy="593242"/>
          </a:xfrm>
          <a:prstGeom prst="straightConnector1">
            <a:avLst/>
          </a:prstGeom>
          <a:noFill/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29" name="Google Shape;1629;p36"/>
          <p:cNvCxnSpPr/>
          <p:nvPr/>
        </p:nvCxnSpPr>
        <p:spPr>
          <a:xfrm>
            <a:off x="4114800" y="2454092"/>
            <a:ext cx="0" cy="235315"/>
          </a:xfrm>
          <a:prstGeom prst="straightConnector1">
            <a:avLst/>
          </a:prstGeom>
          <a:noFill/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30" name="Google Shape;1630;p36"/>
          <p:cNvCxnSpPr/>
          <p:nvPr/>
        </p:nvCxnSpPr>
        <p:spPr>
          <a:xfrm>
            <a:off x="4166235" y="2722097"/>
            <a:ext cx="0" cy="0"/>
          </a:xfrm>
          <a:prstGeom prst="straightConnector1">
            <a:avLst/>
          </a:prstGeom>
          <a:noFill/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31" name="Google Shape;1631;p36"/>
          <p:cNvCxnSpPr/>
          <p:nvPr/>
        </p:nvCxnSpPr>
        <p:spPr>
          <a:xfrm>
            <a:off x="4217670" y="2876322"/>
            <a:ext cx="0" cy="0"/>
          </a:xfrm>
          <a:prstGeom prst="straightConnector1">
            <a:avLst/>
          </a:prstGeom>
          <a:noFill/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32" name="Google Shape;1632;p36"/>
          <p:cNvCxnSpPr/>
          <p:nvPr/>
        </p:nvCxnSpPr>
        <p:spPr>
          <a:xfrm>
            <a:off x="4269105" y="2800053"/>
            <a:ext cx="0" cy="0"/>
          </a:xfrm>
          <a:prstGeom prst="straightConnector1">
            <a:avLst/>
          </a:prstGeom>
          <a:noFill/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33" name="Google Shape;1633;p36"/>
          <p:cNvSpPr/>
          <p:nvPr/>
        </p:nvSpPr>
        <p:spPr>
          <a:xfrm>
            <a:off x="2811780" y="3257550"/>
            <a:ext cx="150876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800"/>
              <a:buFont typeface="Montserrat"/>
              <a:buNone/>
            </a:pPr>
            <a:r>
              <a:rPr lang="en" sz="800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waveform · audio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4" name="Google Shape;1634;p36"/>
          <p:cNvSpPr/>
          <p:nvPr/>
        </p:nvSpPr>
        <p:spPr>
          <a:xfrm>
            <a:off x="4766310" y="1371600"/>
            <a:ext cx="1885950" cy="2400300"/>
          </a:xfrm>
          <a:prstGeom prst="roundRect">
            <a:avLst>
              <a:gd name="adj" fmla="val 2909"/>
            </a:avLst>
          </a:prstGeom>
          <a:solidFill>
            <a:srgbClr val="0A1D35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5" name="Google Shape;1635;p36"/>
          <p:cNvSpPr/>
          <p:nvPr/>
        </p:nvSpPr>
        <p:spPr>
          <a:xfrm>
            <a:off x="4903470" y="1543050"/>
            <a:ext cx="161163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300"/>
              <a:buFont typeface="Montserrat"/>
              <a:buNone/>
            </a:pPr>
            <a:r>
              <a:rPr lang="en" sz="1300" b="1">
                <a:solidFill>
                  <a:srgbClr val="34D399"/>
                </a:solidFill>
                <a:latin typeface="Montserrat"/>
                <a:ea typeface="Montserrat"/>
                <a:cs typeface="Montserrat"/>
                <a:sym typeface="Montserrat"/>
              </a:rPr>
              <a:t>Time Series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6" name="Google Shape;1636;p36"/>
          <p:cNvSpPr/>
          <p:nvPr/>
        </p:nvSpPr>
        <p:spPr>
          <a:xfrm>
            <a:off x="4937760" y="2057400"/>
            <a:ext cx="1474470" cy="822960"/>
          </a:xfrm>
          <a:prstGeom prst="roundRect">
            <a:avLst>
              <a:gd name="adj" fmla="val 6667"/>
            </a:avLst>
          </a:prstGeom>
          <a:solidFill>
            <a:srgbClr val="091B31"/>
          </a:solidFill>
          <a:ln w="12700" cap="flat" cmpd="sng">
            <a:solidFill>
              <a:srgbClr val="173A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37" name="Google Shape;1637;p36"/>
          <p:cNvCxnSpPr/>
          <p:nvPr/>
        </p:nvCxnSpPr>
        <p:spPr>
          <a:xfrm>
            <a:off x="5040630" y="2263140"/>
            <a:ext cx="1268730" cy="0"/>
          </a:xfrm>
          <a:prstGeom prst="straightConnector1">
            <a:avLst/>
          </a:prstGeom>
          <a:noFill/>
          <a:ln w="12700" cap="flat" cmpd="sng">
            <a:solidFill>
              <a:srgbClr val="24466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38" name="Google Shape;1638;p36"/>
          <p:cNvCxnSpPr/>
          <p:nvPr/>
        </p:nvCxnSpPr>
        <p:spPr>
          <a:xfrm>
            <a:off x="5040630" y="2468880"/>
            <a:ext cx="1268730" cy="0"/>
          </a:xfrm>
          <a:prstGeom prst="straightConnector1">
            <a:avLst/>
          </a:prstGeom>
          <a:noFill/>
          <a:ln w="12700" cap="flat" cmpd="sng">
            <a:solidFill>
              <a:srgbClr val="24466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39" name="Google Shape;1639;p36"/>
          <p:cNvCxnSpPr/>
          <p:nvPr/>
        </p:nvCxnSpPr>
        <p:spPr>
          <a:xfrm>
            <a:off x="5040630" y="2674620"/>
            <a:ext cx="1268730" cy="0"/>
          </a:xfrm>
          <a:prstGeom prst="straightConnector1">
            <a:avLst/>
          </a:prstGeom>
          <a:noFill/>
          <a:ln w="12700" cap="flat" cmpd="sng">
            <a:solidFill>
              <a:srgbClr val="24466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40" name="Google Shape;1640;p36"/>
          <p:cNvCxnSpPr/>
          <p:nvPr/>
        </p:nvCxnSpPr>
        <p:spPr>
          <a:xfrm>
            <a:off x="5055718" y="2600554"/>
            <a:ext cx="147447" cy="0"/>
          </a:xfrm>
          <a:prstGeom prst="straightConnector1">
            <a:avLst/>
          </a:prstGeom>
          <a:noFill/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41" name="Google Shape;1641;p36"/>
          <p:cNvCxnSpPr/>
          <p:nvPr/>
        </p:nvCxnSpPr>
        <p:spPr>
          <a:xfrm>
            <a:off x="5203165" y="2411273"/>
            <a:ext cx="147447" cy="0"/>
          </a:xfrm>
          <a:prstGeom prst="straightConnector1">
            <a:avLst/>
          </a:prstGeom>
          <a:noFill/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42" name="Google Shape;1642;p36"/>
          <p:cNvCxnSpPr/>
          <p:nvPr/>
        </p:nvCxnSpPr>
        <p:spPr>
          <a:xfrm>
            <a:off x="5350612" y="2320748"/>
            <a:ext cx="147447" cy="98756"/>
          </a:xfrm>
          <a:prstGeom prst="straightConnector1">
            <a:avLst/>
          </a:prstGeom>
          <a:noFill/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43" name="Google Shape;1643;p36"/>
          <p:cNvCxnSpPr/>
          <p:nvPr/>
        </p:nvCxnSpPr>
        <p:spPr>
          <a:xfrm>
            <a:off x="5498059" y="2419502"/>
            <a:ext cx="176936" cy="312724"/>
          </a:xfrm>
          <a:prstGeom prst="straightConnector1">
            <a:avLst/>
          </a:prstGeom>
          <a:noFill/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44" name="Google Shape;1644;p36"/>
          <p:cNvCxnSpPr/>
          <p:nvPr/>
        </p:nvCxnSpPr>
        <p:spPr>
          <a:xfrm>
            <a:off x="5674995" y="2732227"/>
            <a:ext cx="176936" cy="0"/>
          </a:xfrm>
          <a:prstGeom prst="straightConnector1">
            <a:avLst/>
          </a:prstGeom>
          <a:noFill/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45" name="Google Shape;1645;p36"/>
          <p:cNvCxnSpPr/>
          <p:nvPr/>
        </p:nvCxnSpPr>
        <p:spPr>
          <a:xfrm>
            <a:off x="5851931" y="2649932"/>
            <a:ext cx="147447" cy="0"/>
          </a:xfrm>
          <a:prstGeom prst="straightConnector1">
            <a:avLst/>
          </a:prstGeom>
          <a:noFill/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46" name="Google Shape;1646;p36"/>
          <p:cNvCxnSpPr/>
          <p:nvPr/>
        </p:nvCxnSpPr>
        <p:spPr>
          <a:xfrm>
            <a:off x="5999378" y="2444192"/>
            <a:ext cx="147447" cy="0"/>
          </a:xfrm>
          <a:prstGeom prst="straightConnector1">
            <a:avLst/>
          </a:prstGeom>
          <a:noFill/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47" name="Google Shape;1647;p36"/>
          <p:cNvCxnSpPr/>
          <p:nvPr/>
        </p:nvCxnSpPr>
        <p:spPr>
          <a:xfrm>
            <a:off x="6146825" y="2263140"/>
            <a:ext cx="176936" cy="246888"/>
          </a:xfrm>
          <a:prstGeom prst="straightConnector1">
            <a:avLst/>
          </a:prstGeom>
          <a:noFill/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48" name="Google Shape;1648;p36"/>
          <p:cNvSpPr/>
          <p:nvPr/>
        </p:nvSpPr>
        <p:spPr>
          <a:xfrm>
            <a:off x="5031715" y="2576551"/>
            <a:ext cx="48006" cy="48006"/>
          </a:xfrm>
          <a:prstGeom prst="ellipse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9" name="Google Shape;1649;p36"/>
          <p:cNvSpPr/>
          <p:nvPr/>
        </p:nvSpPr>
        <p:spPr>
          <a:xfrm>
            <a:off x="5045431" y="2589512"/>
            <a:ext cx="20574" cy="16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Montserrat"/>
              <a:buNone/>
            </a:pPr>
            <a:endParaRPr sz="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0" name="Google Shape;1650;p36"/>
          <p:cNvSpPr/>
          <p:nvPr/>
        </p:nvSpPr>
        <p:spPr>
          <a:xfrm>
            <a:off x="5179162" y="2387270"/>
            <a:ext cx="48006" cy="48006"/>
          </a:xfrm>
          <a:prstGeom prst="ellipse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1" name="Google Shape;1651;p36"/>
          <p:cNvSpPr/>
          <p:nvPr/>
        </p:nvSpPr>
        <p:spPr>
          <a:xfrm>
            <a:off x="5192878" y="2400232"/>
            <a:ext cx="20574" cy="16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Montserrat"/>
              <a:buNone/>
            </a:pPr>
            <a:endParaRPr sz="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2" name="Google Shape;1652;p36"/>
          <p:cNvSpPr/>
          <p:nvPr/>
        </p:nvSpPr>
        <p:spPr>
          <a:xfrm>
            <a:off x="5326609" y="2296745"/>
            <a:ext cx="48006" cy="48006"/>
          </a:xfrm>
          <a:prstGeom prst="ellipse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3" name="Google Shape;1653;p36"/>
          <p:cNvSpPr/>
          <p:nvPr/>
        </p:nvSpPr>
        <p:spPr>
          <a:xfrm>
            <a:off x="5340325" y="2309706"/>
            <a:ext cx="20574" cy="16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Montserrat"/>
              <a:buNone/>
            </a:pPr>
            <a:endParaRPr sz="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4" name="Google Shape;1654;p36"/>
          <p:cNvSpPr/>
          <p:nvPr/>
        </p:nvSpPr>
        <p:spPr>
          <a:xfrm>
            <a:off x="5474056" y="2395499"/>
            <a:ext cx="48006" cy="48006"/>
          </a:xfrm>
          <a:prstGeom prst="ellipse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5" name="Google Shape;1655;p36"/>
          <p:cNvSpPr/>
          <p:nvPr/>
        </p:nvSpPr>
        <p:spPr>
          <a:xfrm>
            <a:off x="5487772" y="2408461"/>
            <a:ext cx="20574" cy="16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Montserrat"/>
              <a:buNone/>
            </a:pPr>
            <a:endParaRPr sz="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6" name="Google Shape;1656;p36"/>
          <p:cNvSpPr/>
          <p:nvPr/>
        </p:nvSpPr>
        <p:spPr>
          <a:xfrm>
            <a:off x="5650992" y="2708225"/>
            <a:ext cx="48006" cy="48006"/>
          </a:xfrm>
          <a:prstGeom prst="ellipse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7" name="Google Shape;1657;p36"/>
          <p:cNvSpPr/>
          <p:nvPr/>
        </p:nvSpPr>
        <p:spPr>
          <a:xfrm>
            <a:off x="5664708" y="2721186"/>
            <a:ext cx="20574" cy="16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Montserrat"/>
              <a:buNone/>
            </a:pPr>
            <a:endParaRPr sz="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8" name="Google Shape;1658;p36"/>
          <p:cNvSpPr/>
          <p:nvPr/>
        </p:nvSpPr>
        <p:spPr>
          <a:xfrm>
            <a:off x="5827928" y="2625928"/>
            <a:ext cx="48006" cy="48006"/>
          </a:xfrm>
          <a:prstGeom prst="ellipse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9" name="Google Shape;1659;p36"/>
          <p:cNvSpPr/>
          <p:nvPr/>
        </p:nvSpPr>
        <p:spPr>
          <a:xfrm>
            <a:off x="5841644" y="2638890"/>
            <a:ext cx="20574" cy="16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Montserrat"/>
              <a:buNone/>
            </a:pPr>
            <a:endParaRPr sz="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0" name="Google Shape;1660;p36"/>
          <p:cNvSpPr/>
          <p:nvPr/>
        </p:nvSpPr>
        <p:spPr>
          <a:xfrm>
            <a:off x="5975375" y="2420189"/>
            <a:ext cx="48006" cy="48006"/>
          </a:xfrm>
          <a:prstGeom prst="ellipse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1" name="Google Shape;1661;p36"/>
          <p:cNvSpPr/>
          <p:nvPr/>
        </p:nvSpPr>
        <p:spPr>
          <a:xfrm>
            <a:off x="5989091" y="2433150"/>
            <a:ext cx="20574" cy="16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Montserrat"/>
              <a:buNone/>
            </a:pPr>
            <a:endParaRPr sz="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2" name="Google Shape;1662;p36"/>
          <p:cNvSpPr/>
          <p:nvPr/>
        </p:nvSpPr>
        <p:spPr>
          <a:xfrm>
            <a:off x="6122822" y="2239137"/>
            <a:ext cx="48006" cy="48006"/>
          </a:xfrm>
          <a:prstGeom prst="ellipse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3" name="Google Shape;1663;p36"/>
          <p:cNvSpPr/>
          <p:nvPr/>
        </p:nvSpPr>
        <p:spPr>
          <a:xfrm>
            <a:off x="6136538" y="2252099"/>
            <a:ext cx="20574" cy="16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Montserrat"/>
              <a:buNone/>
            </a:pPr>
            <a:endParaRPr sz="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4" name="Google Shape;1664;p36"/>
          <p:cNvSpPr/>
          <p:nvPr/>
        </p:nvSpPr>
        <p:spPr>
          <a:xfrm>
            <a:off x="6299759" y="2486025"/>
            <a:ext cx="48006" cy="48006"/>
          </a:xfrm>
          <a:prstGeom prst="ellipse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5" name="Google Shape;1665;p36"/>
          <p:cNvSpPr/>
          <p:nvPr/>
        </p:nvSpPr>
        <p:spPr>
          <a:xfrm>
            <a:off x="6313475" y="2498987"/>
            <a:ext cx="20574" cy="16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Montserrat"/>
              <a:buNone/>
            </a:pPr>
            <a:endParaRPr sz="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6" name="Google Shape;1666;p36"/>
          <p:cNvSpPr/>
          <p:nvPr/>
        </p:nvSpPr>
        <p:spPr>
          <a:xfrm>
            <a:off x="4937760" y="3257550"/>
            <a:ext cx="150876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800"/>
              <a:buFont typeface="Montserrat"/>
              <a:buNone/>
            </a:pPr>
            <a:r>
              <a:rPr lang="en" sz="800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forecasting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7" name="Google Shape;1667;p36"/>
          <p:cNvSpPr/>
          <p:nvPr/>
        </p:nvSpPr>
        <p:spPr>
          <a:xfrm>
            <a:off x="6892290" y="1371600"/>
            <a:ext cx="1885950" cy="2400300"/>
          </a:xfrm>
          <a:prstGeom prst="roundRect">
            <a:avLst>
              <a:gd name="adj" fmla="val 2909"/>
            </a:avLst>
          </a:prstGeom>
          <a:solidFill>
            <a:srgbClr val="0A1D35"/>
          </a:solidFill>
          <a:ln w="12700" cap="flat" cmpd="sng">
            <a:solidFill>
              <a:srgbClr val="FACC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8" name="Google Shape;1668;p36"/>
          <p:cNvSpPr/>
          <p:nvPr/>
        </p:nvSpPr>
        <p:spPr>
          <a:xfrm>
            <a:off x="7029450" y="1543050"/>
            <a:ext cx="161163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CC15"/>
              </a:buClr>
              <a:buSzPts val="1300"/>
              <a:buFont typeface="Montserrat"/>
              <a:buNone/>
            </a:pPr>
            <a:r>
              <a:rPr lang="en" sz="1300" b="1">
                <a:solidFill>
                  <a:srgbClr val="FACC15"/>
                </a:solidFill>
                <a:latin typeface="Montserrat"/>
                <a:ea typeface="Montserrat"/>
                <a:cs typeface="Montserrat"/>
                <a:sym typeface="Montserrat"/>
              </a:rPr>
              <a:t>Sensor / Logs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9" name="Google Shape;1669;p36"/>
          <p:cNvSpPr/>
          <p:nvPr/>
        </p:nvSpPr>
        <p:spPr>
          <a:xfrm>
            <a:off x="7200900" y="2366010"/>
            <a:ext cx="233172" cy="233172"/>
          </a:xfrm>
          <a:prstGeom prst="ellipse">
            <a:avLst/>
          </a:prstGeom>
          <a:solidFill>
            <a:srgbClr val="FACC15"/>
          </a:solidFill>
          <a:ln w="12700" cap="flat" cmpd="sng">
            <a:solidFill>
              <a:srgbClr val="FACC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0" name="Google Shape;1670;p36"/>
          <p:cNvSpPr/>
          <p:nvPr/>
        </p:nvSpPr>
        <p:spPr>
          <a:xfrm>
            <a:off x="7214616" y="2428967"/>
            <a:ext cx="205740" cy="79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Montserrat"/>
              <a:buNone/>
            </a:pPr>
            <a:r>
              <a:rPr lang="en" sz="4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x1</a:t>
            </a:r>
            <a:endParaRPr sz="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1" name="Google Shape;1671;p36"/>
          <p:cNvSpPr/>
          <p:nvPr/>
        </p:nvSpPr>
        <p:spPr>
          <a:xfrm>
            <a:off x="7530084" y="2366010"/>
            <a:ext cx="233172" cy="233172"/>
          </a:xfrm>
          <a:prstGeom prst="ellipse">
            <a:avLst/>
          </a:prstGeom>
          <a:solidFill>
            <a:srgbClr val="FACC15"/>
          </a:solidFill>
          <a:ln w="12700" cap="flat" cmpd="sng">
            <a:solidFill>
              <a:srgbClr val="FACC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2" name="Google Shape;1672;p36"/>
          <p:cNvSpPr/>
          <p:nvPr/>
        </p:nvSpPr>
        <p:spPr>
          <a:xfrm>
            <a:off x="7543800" y="2428967"/>
            <a:ext cx="205740" cy="79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Montserrat"/>
              <a:buNone/>
            </a:pPr>
            <a:r>
              <a:rPr lang="en" sz="4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x2</a:t>
            </a:r>
            <a:endParaRPr sz="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3" name="Google Shape;1673;p36"/>
          <p:cNvSpPr/>
          <p:nvPr/>
        </p:nvSpPr>
        <p:spPr>
          <a:xfrm>
            <a:off x="7859268" y="2366010"/>
            <a:ext cx="233172" cy="233172"/>
          </a:xfrm>
          <a:prstGeom prst="ellipse">
            <a:avLst/>
          </a:prstGeom>
          <a:solidFill>
            <a:srgbClr val="FACC15"/>
          </a:solidFill>
          <a:ln w="12700" cap="flat" cmpd="sng">
            <a:solidFill>
              <a:srgbClr val="FACC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4" name="Google Shape;1674;p36"/>
          <p:cNvSpPr/>
          <p:nvPr/>
        </p:nvSpPr>
        <p:spPr>
          <a:xfrm>
            <a:off x="7872984" y="2428967"/>
            <a:ext cx="205740" cy="79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Montserrat"/>
              <a:buNone/>
            </a:pPr>
            <a:r>
              <a:rPr lang="en" sz="4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x3</a:t>
            </a:r>
            <a:endParaRPr sz="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5" name="Google Shape;1675;p36"/>
          <p:cNvSpPr/>
          <p:nvPr/>
        </p:nvSpPr>
        <p:spPr>
          <a:xfrm>
            <a:off x="8188452" y="2366010"/>
            <a:ext cx="233172" cy="233172"/>
          </a:xfrm>
          <a:prstGeom prst="ellipse">
            <a:avLst/>
          </a:prstGeom>
          <a:solidFill>
            <a:srgbClr val="FACC15"/>
          </a:solidFill>
          <a:ln w="12700" cap="flat" cmpd="sng">
            <a:solidFill>
              <a:srgbClr val="FACC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6" name="Google Shape;1676;p36"/>
          <p:cNvSpPr/>
          <p:nvPr/>
        </p:nvSpPr>
        <p:spPr>
          <a:xfrm>
            <a:off x="8202168" y="2428967"/>
            <a:ext cx="205740" cy="79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Montserrat"/>
              <a:buNone/>
            </a:pPr>
            <a:r>
              <a:rPr lang="en" sz="4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x4</a:t>
            </a:r>
            <a:endParaRPr sz="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77" name="Google Shape;1677;p36"/>
          <p:cNvCxnSpPr/>
          <p:nvPr/>
        </p:nvCxnSpPr>
        <p:spPr>
          <a:xfrm>
            <a:off x="7434072" y="2482596"/>
            <a:ext cx="96012" cy="0"/>
          </a:xfrm>
          <a:prstGeom prst="straightConnector1">
            <a:avLst/>
          </a:prstGeom>
          <a:noFill/>
          <a:ln w="12700" cap="flat" cmpd="sng">
            <a:solidFill>
              <a:srgbClr val="FACC15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78" name="Google Shape;1678;p36"/>
          <p:cNvCxnSpPr/>
          <p:nvPr/>
        </p:nvCxnSpPr>
        <p:spPr>
          <a:xfrm>
            <a:off x="7763256" y="2482596"/>
            <a:ext cx="96012" cy="0"/>
          </a:xfrm>
          <a:prstGeom prst="straightConnector1">
            <a:avLst/>
          </a:prstGeom>
          <a:noFill/>
          <a:ln w="12700" cap="flat" cmpd="sng">
            <a:solidFill>
              <a:srgbClr val="FACC15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79" name="Google Shape;1679;p36"/>
          <p:cNvCxnSpPr/>
          <p:nvPr/>
        </p:nvCxnSpPr>
        <p:spPr>
          <a:xfrm>
            <a:off x="8092440" y="2482596"/>
            <a:ext cx="96012" cy="0"/>
          </a:xfrm>
          <a:prstGeom prst="straightConnector1">
            <a:avLst/>
          </a:prstGeom>
          <a:noFill/>
          <a:ln w="12700" cap="flat" cmpd="sng">
            <a:solidFill>
              <a:srgbClr val="FACC1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80" name="Google Shape;1680;p36"/>
          <p:cNvSpPr/>
          <p:nvPr/>
        </p:nvSpPr>
        <p:spPr>
          <a:xfrm>
            <a:off x="7063740" y="3257550"/>
            <a:ext cx="150876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800"/>
              <a:buFont typeface="Montserrat"/>
              <a:buNone/>
            </a:pPr>
            <a:r>
              <a:rPr lang="en" sz="800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event sequence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86" name="Google Shape;1686;p37"/>
          <p:cNvCxnSpPr/>
          <p:nvPr/>
        </p:nvCxnSpPr>
        <p:spPr>
          <a:xfrm>
            <a:off x="0" y="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87" name="Google Shape;1687;p37"/>
          <p:cNvCxnSpPr/>
          <p:nvPr/>
        </p:nvCxnSpPr>
        <p:spPr>
          <a:xfrm>
            <a:off x="0" y="65151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88" name="Google Shape;1688;p37"/>
          <p:cNvCxnSpPr/>
          <p:nvPr/>
        </p:nvCxnSpPr>
        <p:spPr>
          <a:xfrm>
            <a:off x="0" y="130302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89" name="Google Shape;1689;p37"/>
          <p:cNvCxnSpPr/>
          <p:nvPr/>
        </p:nvCxnSpPr>
        <p:spPr>
          <a:xfrm>
            <a:off x="0" y="195453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90" name="Google Shape;1690;p37"/>
          <p:cNvCxnSpPr/>
          <p:nvPr/>
        </p:nvCxnSpPr>
        <p:spPr>
          <a:xfrm>
            <a:off x="0" y="260604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91" name="Google Shape;1691;p37"/>
          <p:cNvCxnSpPr/>
          <p:nvPr/>
        </p:nvCxnSpPr>
        <p:spPr>
          <a:xfrm>
            <a:off x="0" y="325755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92" name="Google Shape;1692;p37"/>
          <p:cNvCxnSpPr/>
          <p:nvPr/>
        </p:nvCxnSpPr>
        <p:spPr>
          <a:xfrm>
            <a:off x="0" y="390906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93" name="Google Shape;1693;p37"/>
          <p:cNvCxnSpPr/>
          <p:nvPr/>
        </p:nvCxnSpPr>
        <p:spPr>
          <a:xfrm>
            <a:off x="0" y="4560570"/>
            <a:ext cx="9143771" cy="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94" name="Google Shape;1694;p37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95" name="Google Shape;1695;p37"/>
          <p:cNvCxnSpPr/>
          <p:nvPr/>
        </p:nvCxnSpPr>
        <p:spPr>
          <a:xfrm>
            <a:off x="7886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96" name="Google Shape;1696;p37"/>
          <p:cNvCxnSpPr/>
          <p:nvPr/>
        </p:nvCxnSpPr>
        <p:spPr>
          <a:xfrm>
            <a:off x="157734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97" name="Google Shape;1697;p37"/>
          <p:cNvCxnSpPr/>
          <p:nvPr/>
        </p:nvCxnSpPr>
        <p:spPr>
          <a:xfrm>
            <a:off x="236601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98" name="Google Shape;1698;p37"/>
          <p:cNvCxnSpPr/>
          <p:nvPr/>
        </p:nvCxnSpPr>
        <p:spPr>
          <a:xfrm>
            <a:off x="315468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99" name="Google Shape;1699;p37"/>
          <p:cNvCxnSpPr/>
          <p:nvPr/>
        </p:nvCxnSpPr>
        <p:spPr>
          <a:xfrm>
            <a:off x="394335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00" name="Google Shape;1700;p37"/>
          <p:cNvCxnSpPr/>
          <p:nvPr/>
        </p:nvCxnSpPr>
        <p:spPr>
          <a:xfrm>
            <a:off x="473202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01" name="Google Shape;1701;p37"/>
          <p:cNvCxnSpPr/>
          <p:nvPr/>
        </p:nvCxnSpPr>
        <p:spPr>
          <a:xfrm>
            <a:off x="552069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02" name="Google Shape;1702;p37"/>
          <p:cNvCxnSpPr/>
          <p:nvPr/>
        </p:nvCxnSpPr>
        <p:spPr>
          <a:xfrm>
            <a:off x="630936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03" name="Google Shape;1703;p37"/>
          <p:cNvCxnSpPr/>
          <p:nvPr/>
        </p:nvCxnSpPr>
        <p:spPr>
          <a:xfrm>
            <a:off x="709803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04" name="Google Shape;1704;p37"/>
          <p:cNvCxnSpPr/>
          <p:nvPr/>
        </p:nvCxnSpPr>
        <p:spPr>
          <a:xfrm>
            <a:off x="788670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05" name="Google Shape;1705;p37"/>
          <p:cNvCxnSpPr/>
          <p:nvPr/>
        </p:nvCxnSpPr>
        <p:spPr>
          <a:xfrm>
            <a:off x="8675370" y="0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B2545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06" name="Google Shape;1706;p37"/>
          <p:cNvSpPr/>
          <p:nvPr/>
        </p:nvSpPr>
        <p:spPr>
          <a:xfrm>
            <a:off x="0" y="0"/>
            <a:ext cx="9143771" cy="246888"/>
          </a:xfrm>
          <a:prstGeom prst="rect">
            <a:avLst/>
          </a:prstGeom>
          <a:solidFill>
            <a:srgbClr val="04101F"/>
          </a:solidFill>
          <a:ln w="12700" cap="flat" cmpd="sng">
            <a:solidFill>
              <a:srgbClr val="0410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7" name="Google Shape;1707;p37"/>
          <p:cNvSpPr/>
          <p:nvPr/>
        </p:nvSpPr>
        <p:spPr>
          <a:xfrm>
            <a:off x="260604" y="68580"/>
            <a:ext cx="322326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RNN · PHÁT TRIỂN HỆ THỐNG THÔNG MINH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8" name="Google Shape;1708;p37"/>
          <p:cNvSpPr/>
          <p:nvPr/>
        </p:nvSpPr>
        <p:spPr>
          <a:xfrm>
            <a:off x="3531870" y="61722"/>
            <a:ext cx="3429000" cy="123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D9E5"/>
              </a:buClr>
              <a:buSzPts val="500"/>
              <a:buFont typeface="Montserrat"/>
              <a:buNone/>
            </a:pPr>
            <a:r>
              <a:rPr lang="en" sz="500" b="1">
                <a:solidFill>
                  <a:srgbClr val="14D9E5"/>
                </a:solidFill>
                <a:latin typeface="Montserrat"/>
                <a:ea typeface="Montserrat"/>
                <a:cs typeface="Montserrat"/>
                <a:sym typeface="Montserrat"/>
              </a:rPr>
              <a:t>PHẦN 8 · ỨNG DỤNG &amp; KẾT LUẬN</a:t>
            </a:r>
            <a:endParaRPr sz="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9" name="Google Shape;1709;p37"/>
          <p:cNvSpPr/>
          <p:nvPr/>
        </p:nvSpPr>
        <p:spPr>
          <a:xfrm>
            <a:off x="425196" y="493776"/>
            <a:ext cx="507492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7FF"/>
              </a:buClr>
              <a:buSzPts val="2000"/>
              <a:buFont typeface="Montserrat"/>
              <a:buNone/>
            </a:pPr>
            <a:r>
              <a:rPr lang="en" sz="2000" b="1">
                <a:solidFill>
                  <a:srgbClr val="F2F7FF"/>
                </a:solidFill>
                <a:latin typeface="Montserrat"/>
                <a:ea typeface="Montserrat"/>
                <a:cs typeface="Montserrat"/>
                <a:sym typeface="Montserrat"/>
              </a:rPr>
              <a:t>Kết luận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0" name="Google Shape;1710;p37"/>
          <p:cNvSpPr/>
          <p:nvPr/>
        </p:nvSpPr>
        <p:spPr>
          <a:xfrm>
            <a:off x="438912" y="850392"/>
            <a:ext cx="5486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B3C9"/>
              </a:buClr>
              <a:buSzPts val="700"/>
              <a:buFont typeface="Montserrat"/>
              <a:buNone/>
            </a:pPr>
            <a:r>
              <a:rPr lang="en" sz="700">
                <a:solidFill>
                  <a:srgbClr val="9EB3C9"/>
                </a:solidFill>
                <a:latin typeface="Montserrat"/>
                <a:ea typeface="Montserrat"/>
                <a:cs typeface="Montserrat"/>
                <a:sym typeface="Montserrat"/>
              </a:rPr>
              <a:t>RNN là nền tảng để hiểu học chuỗi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1" name="Google Shape;1711;p37"/>
          <p:cNvSpPr/>
          <p:nvPr/>
        </p:nvSpPr>
        <p:spPr>
          <a:xfrm>
            <a:off x="582930" y="1234440"/>
            <a:ext cx="2640330" cy="2674620"/>
          </a:xfrm>
          <a:prstGeom prst="roundRect">
            <a:avLst>
              <a:gd name="adj" fmla="val 2078"/>
            </a:avLst>
          </a:prstGeom>
          <a:solidFill>
            <a:srgbClr val="0A1D35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2" name="Google Shape;1712;p37"/>
          <p:cNvSpPr/>
          <p:nvPr/>
        </p:nvSpPr>
        <p:spPr>
          <a:xfrm>
            <a:off x="788670" y="1440180"/>
            <a:ext cx="219456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300"/>
              <a:buFont typeface="Montserrat"/>
              <a:buNone/>
            </a:pPr>
            <a:r>
              <a:rPr lang="en" sz="1300" b="1">
                <a:solidFill>
                  <a:srgbClr val="34D399"/>
                </a:solidFill>
                <a:latin typeface="Montserrat"/>
                <a:ea typeface="Montserrat"/>
                <a:cs typeface="Montserrat"/>
                <a:sym typeface="Montserrat"/>
              </a:rPr>
              <a:t>Ưu điểm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3" name="Google Shape;1713;p37"/>
          <p:cNvSpPr/>
          <p:nvPr/>
        </p:nvSpPr>
        <p:spPr>
          <a:xfrm>
            <a:off x="788670" y="1920240"/>
            <a:ext cx="212598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5" tIns="475" rIns="475" bIns="4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2F7FF"/>
                </a:solidFill>
                <a:latin typeface="Montserrat"/>
                <a:ea typeface="Montserrat"/>
                <a:cs typeface="Montserrat"/>
                <a:sym typeface="Montserrat"/>
              </a:rPr>
              <a:t>Xử lý tự nhiên dữ liệu tuần tự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2F7FF"/>
                </a:solidFill>
                <a:latin typeface="Montserrat"/>
                <a:ea typeface="Montserrat"/>
                <a:cs typeface="Montserrat"/>
                <a:sym typeface="Montserrat"/>
              </a:rPr>
              <a:t>Hidden state mang ngữ cảnh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2F7FF"/>
                </a:solidFill>
                <a:latin typeface="Montserrat"/>
                <a:ea typeface="Montserrat"/>
                <a:cs typeface="Montserrat"/>
                <a:sym typeface="Montserrat"/>
              </a:rPr>
              <a:t>Weight sharing tiết kiệm tham số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4" name="Google Shape;1714;p37"/>
          <p:cNvSpPr/>
          <p:nvPr/>
        </p:nvSpPr>
        <p:spPr>
          <a:xfrm>
            <a:off x="3394710" y="1234440"/>
            <a:ext cx="2640330" cy="2674620"/>
          </a:xfrm>
          <a:prstGeom prst="roundRect">
            <a:avLst>
              <a:gd name="adj" fmla="val 2078"/>
            </a:avLst>
          </a:prstGeom>
          <a:solidFill>
            <a:srgbClr val="0A1D35"/>
          </a:solidFill>
          <a:ln w="12700" cap="flat" cmpd="sng">
            <a:solidFill>
              <a:srgbClr val="FB718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5" name="Google Shape;1715;p37"/>
          <p:cNvSpPr/>
          <p:nvPr/>
        </p:nvSpPr>
        <p:spPr>
          <a:xfrm>
            <a:off x="3600450" y="1440180"/>
            <a:ext cx="219456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B7185"/>
              </a:buClr>
              <a:buSzPts val="1300"/>
              <a:buFont typeface="Montserrat"/>
              <a:buNone/>
            </a:pPr>
            <a:r>
              <a:rPr lang="en" sz="1300" b="1">
                <a:solidFill>
                  <a:srgbClr val="FB7185"/>
                </a:solidFill>
                <a:latin typeface="Montserrat"/>
                <a:ea typeface="Montserrat"/>
                <a:cs typeface="Montserrat"/>
                <a:sym typeface="Montserrat"/>
              </a:rPr>
              <a:t>Hạn chế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6" name="Google Shape;1716;p37"/>
          <p:cNvSpPr/>
          <p:nvPr/>
        </p:nvSpPr>
        <p:spPr>
          <a:xfrm>
            <a:off x="3600450" y="1920240"/>
            <a:ext cx="212598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5" tIns="475" rIns="475" bIns="4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2F7FF"/>
                </a:solidFill>
                <a:latin typeface="Montserrat"/>
                <a:ea typeface="Montserrat"/>
                <a:cs typeface="Montserrat"/>
                <a:sym typeface="Montserrat"/>
              </a:rPr>
              <a:t>Khó học phụ thuộc dài hạn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2F7FF"/>
                </a:solidFill>
                <a:latin typeface="Montserrat"/>
                <a:ea typeface="Montserrat"/>
                <a:cs typeface="Montserrat"/>
                <a:sym typeface="Montserrat"/>
              </a:rPr>
              <a:t>Vanishing / Exploding gradient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2F7FF"/>
                </a:solidFill>
                <a:latin typeface="Montserrat"/>
                <a:ea typeface="Montserrat"/>
                <a:cs typeface="Montserrat"/>
                <a:sym typeface="Montserrat"/>
              </a:rPr>
              <a:t>Khó song song hóa theo thời gian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7" name="Google Shape;1717;p37"/>
          <p:cNvSpPr/>
          <p:nvPr/>
        </p:nvSpPr>
        <p:spPr>
          <a:xfrm>
            <a:off x="6206490" y="1234440"/>
            <a:ext cx="2366010" cy="2674620"/>
          </a:xfrm>
          <a:prstGeom prst="roundRect">
            <a:avLst>
              <a:gd name="adj" fmla="val 2319"/>
            </a:avLst>
          </a:prstGeom>
          <a:solidFill>
            <a:srgbClr val="0A1D35"/>
          </a:solidFill>
          <a:ln w="12700" cap="flat" cmpd="sng">
            <a:solidFill>
              <a:srgbClr val="14D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8" name="Google Shape;1718;p37"/>
          <p:cNvSpPr/>
          <p:nvPr/>
        </p:nvSpPr>
        <p:spPr>
          <a:xfrm>
            <a:off x="6412230" y="1440180"/>
            <a:ext cx="195453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4D9E5"/>
              </a:buClr>
              <a:buSzPts val="1200"/>
              <a:buFont typeface="Montserrat"/>
              <a:buNone/>
            </a:pPr>
            <a:r>
              <a:rPr lang="en" sz="1200" b="1">
                <a:solidFill>
                  <a:srgbClr val="14D9E5"/>
                </a:solidFill>
                <a:latin typeface="Montserrat"/>
                <a:ea typeface="Montserrat"/>
                <a:cs typeface="Montserrat"/>
                <a:sym typeface="Montserrat"/>
              </a:rPr>
              <a:t>Key takeaway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9" name="Google Shape;1719;p37"/>
          <p:cNvSpPr/>
          <p:nvPr/>
        </p:nvSpPr>
        <p:spPr>
          <a:xfrm>
            <a:off x="6432804" y="1954530"/>
            <a:ext cx="192024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7FF"/>
              </a:buClr>
              <a:buSzPts val="1100"/>
              <a:buFont typeface="Montserrat"/>
              <a:buNone/>
            </a:pPr>
            <a:r>
              <a:rPr lang="en" sz="1100" b="1">
                <a:solidFill>
                  <a:srgbClr val="F2F7FF"/>
                </a:solidFill>
                <a:latin typeface="Montserrat"/>
                <a:ea typeface="Montserrat"/>
                <a:cs typeface="Montserrat"/>
                <a:sym typeface="Montserrat"/>
              </a:rPr>
              <a:t>RNN truyền hidden state qua các time step, cho phép thông tin quá khứ ảnh hưởng đến xử lý hiện tại.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20" name="Google Shape;1720;p37"/>
          <p:cNvSpPr/>
          <p:nvPr/>
        </p:nvSpPr>
        <p:spPr>
          <a:xfrm>
            <a:off x="2880360" y="4423410"/>
            <a:ext cx="329184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" tIns="200" rIns="200" bIns="2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Montserrat"/>
              <a:buNone/>
            </a:pP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3254</Words>
  <Application>Microsoft Office PowerPoint</Application>
  <PresentationFormat>On-screen Show (16:9)</PresentationFormat>
  <Paragraphs>518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Space Grotesk</vt:lpstr>
      <vt:lpstr>Montserrat SemiBold</vt:lpstr>
      <vt:lpstr>Montserrat</vt:lpstr>
      <vt:lpstr>Arial</vt:lpstr>
      <vt:lpstr>Inter Medium</vt:lpstr>
      <vt:lpstr>Montserrat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11Z</dc:creator>
  <cp:lastModifiedBy>Mai Anh Tuấn Anh</cp:lastModifiedBy>
  <cp:revision>3</cp:revision>
  <dcterms:modified xsi:type="dcterms:W3CDTF">2026-10-06T12:57:47Z</dcterms:modified>
</cp:coreProperties>
</file>