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01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bài thuyết trình: giới thiệu chủ đề RNN, nhấn mạnh đây là kiến trúc nền tảng cho dữ liệu tuần tự.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các thành viên nhóm và phạm vi. Nói rõ phần demo sẽ làm riêng sau lý thuyết, không nhồi vào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sequential data. Nhấn mạnh không chỉ là nhiều dữ liệu, mà thứ tự của phần tử có ý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ví dụ câu để giải thích vì sao mô hình cần quan tâm đến thứ tự.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feedforward và RNN. Đây là động lực dẫn vào hidden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trực giác RNN: lấy thông tin hiện tại cộng với bộ nhớ trước đó, tạo bộ nhớ mới.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Làm rõ hidden state là vector biểu diễn, không phải “bộ nhớ” lưu toàn bộ câu.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Dẫn giải một chuỗi 4 phần tử. Nói theo từng bước để người nghe hiểu cách state được cập nhật.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unroll là cách biểu diễn, không phải tạo nhiều mạng riêng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Wxh, Whh, Why. Nhấn mạnh giảm tham số và cho phép xử lý chuỗi độ dài linh hoạt.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Đọc công thức và giải thích từng thành phần bằng ngôn ngữ đơn giản.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sự khác biệt giữa hidden state và output. Output phụ thuộc bài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đồ thị tanh; nhấn mạnh đây là lý do tanh xuất hiện trong công thức hidden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Kể câu chuyện qua từng step. Không cần tính số, chỉ cần người nghe hiểu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tổng quan bốn dạng. Không cần đi quá sâu one-to-one.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1 input, nhiều output. Chỉ nói theo cấu trúc, không đi sâu sang mô hình khác.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Nối với demo sau này: sentiment analysis là dạng many-to-one rất trực quan.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many-to-many cùng độ dài bằng sequence labeling để tránh nhầm với dịch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quan trước khi đi sâu forward và backward.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forward có tính tuần tự: h(t) phụ thuộc h(t-1).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Chỉ rõ forward một màu, backward một màu. BPTT là backprop trên mạng đã unroll.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BPTT bằng 5 bước dễ nhớ.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hình chuỗi dài để giải thích long-term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vanishing gradient bằng trực giác: tín hiệu học yếu dần khi đi ngược rất 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exploding gradient và gradient clipping một cách đơn giản.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nối ứng dụng với kiểu dữ liệu chuỗi. Nói rõ vanilla RNN là baseline/học nền tảng.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kết: RNN xử lý chuỗi bằng hidden state, nhưng gặp khó khăn khi chuỗi dài. Mời thầy/các bạn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87782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8" name="Shape 6"/>
          <p:cNvSpPr/>
          <p:nvPr/>
        </p:nvSpPr>
        <p:spPr>
          <a:xfrm>
            <a:off x="87782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0" name="Shape 8"/>
          <p:cNvSpPr/>
          <p:nvPr/>
        </p:nvSpPr>
        <p:spPr>
          <a:xfrm>
            <a:off x="87782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2" name="Shape 10"/>
          <p:cNvSpPr/>
          <p:nvPr/>
        </p:nvSpPr>
        <p:spPr>
          <a:xfrm>
            <a:off x="87782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4" name="Shape 12"/>
          <p:cNvSpPr/>
          <p:nvPr/>
        </p:nvSpPr>
        <p:spPr>
          <a:xfrm>
            <a:off x="301752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8950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7" name="Shape 15"/>
          <p:cNvSpPr/>
          <p:nvPr/>
        </p:nvSpPr>
        <p:spPr>
          <a:xfrm>
            <a:off x="288950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0779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9" name="Shape 17"/>
          <p:cNvSpPr/>
          <p:nvPr/>
        </p:nvSpPr>
        <p:spPr>
          <a:xfrm>
            <a:off x="288950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0779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21" name="Shape 19"/>
          <p:cNvSpPr/>
          <p:nvPr/>
        </p:nvSpPr>
        <p:spPr>
          <a:xfrm>
            <a:off x="288950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0779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23" name="Shape 21"/>
          <p:cNvSpPr/>
          <p:nvPr/>
        </p:nvSpPr>
        <p:spPr>
          <a:xfrm>
            <a:off x="288950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0779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25" name="Shape 23"/>
          <p:cNvSpPr/>
          <p:nvPr/>
        </p:nvSpPr>
        <p:spPr>
          <a:xfrm>
            <a:off x="502920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0118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28" name="Shape 26"/>
          <p:cNvSpPr/>
          <p:nvPr/>
        </p:nvSpPr>
        <p:spPr>
          <a:xfrm>
            <a:off x="490118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30" name="Shape 28"/>
          <p:cNvSpPr/>
          <p:nvPr/>
        </p:nvSpPr>
        <p:spPr>
          <a:xfrm>
            <a:off x="490118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32" name="Shape 30"/>
          <p:cNvSpPr/>
          <p:nvPr/>
        </p:nvSpPr>
        <p:spPr>
          <a:xfrm>
            <a:off x="490118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34" name="Shape 32"/>
          <p:cNvSpPr/>
          <p:nvPr/>
        </p:nvSpPr>
        <p:spPr>
          <a:xfrm>
            <a:off x="490118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36" name="Shape 34"/>
          <p:cNvSpPr/>
          <p:nvPr/>
        </p:nvSpPr>
        <p:spPr>
          <a:xfrm>
            <a:off x="704088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1286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3115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39" name="Shape 37"/>
          <p:cNvSpPr/>
          <p:nvPr/>
        </p:nvSpPr>
        <p:spPr>
          <a:xfrm>
            <a:off x="691286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3115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1" name="Shape 39"/>
          <p:cNvSpPr/>
          <p:nvPr/>
        </p:nvSpPr>
        <p:spPr>
          <a:xfrm>
            <a:off x="691286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3115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3" name="Shape 41"/>
          <p:cNvSpPr/>
          <p:nvPr/>
        </p:nvSpPr>
        <p:spPr>
          <a:xfrm>
            <a:off x="691286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3115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5" name="Shape 43"/>
          <p:cNvSpPr/>
          <p:nvPr/>
        </p:nvSpPr>
        <p:spPr>
          <a:xfrm>
            <a:off x="691286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3115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47" name="Shape 45"/>
          <p:cNvSpPr/>
          <p:nvPr/>
        </p:nvSpPr>
        <p:spPr>
          <a:xfrm>
            <a:off x="905256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92454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94283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0" name="Shape 48"/>
          <p:cNvSpPr/>
          <p:nvPr/>
        </p:nvSpPr>
        <p:spPr>
          <a:xfrm>
            <a:off x="892454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4283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2" name="Shape 50"/>
          <p:cNvSpPr/>
          <p:nvPr/>
        </p:nvSpPr>
        <p:spPr>
          <a:xfrm>
            <a:off x="892454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94283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4" name="Shape 52"/>
          <p:cNvSpPr/>
          <p:nvPr/>
        </p:nvSpPr>
        <p:spPr>
          <a:xfrm>
            <a:off x="892454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94283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6" name="Shape 54"/>
          <p:cNvSpPr/>
          <p:nvPr/>
        </p:nvSpPr>
        <p:spPr>
          <a:xfrm>
            <a:off x="892454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94283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8" name="Shape 56"/>
          <p:cNvSpPr/>
          <p:nvPr/>
        </p:nvSpPr>
        <p:spPr>
          <a:xfrm>
            <a:off x="11064240" y="731520"/>
            <a:ext cx="0" cy="5577840"/>
          </a:xfrm>
          <a:prstGeom prst="line">
            <a:avLst/>
          </a:prstGeom>
          <a:noFill/>
          <a:ln w="12700">
            <a:solidFill>
              <a:srgbClr val="0C3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936224" y="91440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954512" y="98352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1" name="Shape 59"/>
          <p:cNvSpPr/>
          <p:nvPr/>
        </p:nvSpPr>
        <p:spPr>
          <a:xfrm>
            <a:off x="10936224" y="19202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954512" y="198936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3" name="Shape 61"/>
          <p:cNvSpPr/>
          <p:nvPr/>
        </p:nvSpPr>
        <p:spPr>
          <a:xfrm>
            <a:off x="10936224" y="292608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954512" y="299520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5" name="Shape 63"/>
          <p:cNvSpPr/>
          <p:nvPr/>
        </p:nvSpPr>
        <p:spPr>
          <a:xfrm>
            <a:off x="10936224" y="39319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954512" y="400104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7" name="Shape 65"/>
          <p:cNvSpPr/>
          <p:nvPr/>
        </p:nvSpPr>
        <p:spPr>
          <a:xfrm>
            <a:off x="10936224" y="4937760"/>
            <a:ext cx="256032" cy="25603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954512" y="5006889"/>
            <a:ext cx="219456" cy="8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9" name="Shape 67"/>
          <p:cNvSpPr/>
          <p:nvPr/>
        </p:nvSpPr>
        <p:spPr>
          <a:xfrm>
            <a:off x="822960" y="6080760"/>
            <a:ext cx="30175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0080" y="640080"/>
            <a:ext cx="5029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PHÁT TRIỂN HỆ THỐNG THÔNG MINH 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40080" y="1965960"/>
            <a:ext cx="6858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Recurrent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</a:t>
            </a:r>
            <a:endParaRPr lang="en-US" sz="4400" dirty="0"/>
          </a:p>
        </p:txBody>
      </p:sp>
      <p:sp>
        <p:nvSpPr>
          <p:cNvPr id="72" name="Text 70"/>
          <p:cNvSpPr/>
          <p:nvPr/>
        </p:nvSpPr>
        <p:spPr>
          <a:xfrm>
            <a:off x="685800" y="3657600"/>
            <a:ext cx="6949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601200" y="731520"/>
            <a:ext cx="1371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4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0469880" y="5577840"/>
            <a:ext cx="1005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31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MỞ ĐẦU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Thành viên nhóm 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Danh sách thành viên và phạm vi bài thuyết trình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2960" y="187452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2416" y="2130552"/>
            <a:ext cx="457200" cy="45720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0704" y="225399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215798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 Anh Tuấn Anh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80760" y="187452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00216" y="213055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18504" y="225399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215798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Nguyễn Trọng Bảo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22960" y="329184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42416" y="3547872"/>
            <a:ext cx="457200" cy="45720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60704" y="367131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45920" y="357530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Phạm Tùng Dương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80760" y="329184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00216" y="354787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18504" y="3671316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357530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Trần Hải Đăng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22960" y="507492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Phạm vi: Vanilla RNN · không trình bày sâu LSTM/GRU/Transformer · demo thực hiện riêng sau phần lý thuyết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A27D8-AB2E-DD58-E1F3-B6D7BE57ADB1}"/>
              </a:ext>
            </a:extLst>
          </p:cNvPr>
          <p:cNvSpPr txBox="1"/>
          <p:nvPr/>
        </p:nvSpPr>
        <p:spPr>
          <a:xfrm>
            <a:off x="566928" y="658368"/>
            <a:ext cx="1790555" cy="4462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900" b="1" dirty="0" err="1">
                <a:solidFill>
                  <a:srgbClr val="F4F8FF"/>
                </a:solidFill>
                <a:latin typeface="Montserrat"/>
              </a:rPr>
              <a:t>Nội</a:t>
            </a:r>
            <a:r>
              <a:rPr lang="en-US" sz="2900" b="1" dirty="0">
                <a:solidFill>
                  <a:srgbClr val="F4F8FF"/>
                </a:solidFill>
                <a:latin typeface="Montserrat"/>
              </a:rPr>
              <a:t> dung</a:t>
            </a:r>
            <a:endParaRPr sz="2900" b="1" dirty="0">
              <a:solidFill>
                <a:srgbClr val="F4F8FF"/>
              </a:solidFill>
              <a:latin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63B53-2C26-A883-D791-9451E7B3A36A}"/>
              </a:ext>
            </a:extLst>
          </p:cNvPr>
          <p:cNvSpPr txBox="1"/>
          <p:nvPr/>
        </p:nvSpPr>
        <p:spPr>
          <a:xfrm>
            <a:off x="585216" y="1097280"/>
            <a:ext cx="108813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20" b="0">
                <a:solidFill>
                  <a:srgbClr val="A9BDD3"/>
                </a:solidFill>
                <a:latin typeface="Montserrat"/>
              </a:rPr>
              <a:t>7 phần nội dung chính được sắp theo mạch: từ dữ liệu tuần tự → kiến trúc RNN → huấn luyện → giới hạn → ứng dụng.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A38892B3-0B22-F4E2-1BA8-5AC6A36A9878}"/>
              </a:ext>
            </a:extLst>
          </p:cNvPr>
          <p:cNvSpPr/>
          <p:nvPr/>
        </p:nvSpPr>
        <p:spPr>
          <a:xfrm>
            <a:off x="713232" y="1572768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EDABBE-2938-AE80-B43E-40F2FEE4BB31}"/>
              </a:ext>
            </a:extLst>
          </p:cNvPr>
          <p:cNvSpPr/>
          <p:nvPr/>
        </p:nvSpPr>
        <p:spPr>
          <a:xfrm>
            <a:off x="877824" y="1737360"/>
            <a:ext cx="384048" cy="384048"/>
          </a:xfrm>
          <a:prstGeom prst="ellipse">
            <a:avLst/>
          </a:prstGeom>
          <a:solidFill>
            <a:srgbClr val="9B7CFF"/>
          </a:solidFill>
          <a:ln>
            <a:solidFill>
              <a:srgbClr val="9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EDB02-BAA1-F469-EE1E-FBC254B58F69}"/>
              </a:ext>
            </a:extLst>
          </p:cNvPr>
          <p:cNvSpPr txBox="1"/>
          <p:nvPr/>
        </p:nvSpPr>
        <p:spPr>
          <a:xfrm>
            <a:off x="1371600" y="1700784"/>
            <a:ext cx="843180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350" b="1" dirty="0" err="1">
                <a:solidFill>
                  <a:srgbClr val="9B7CFF"/>
                </a:solidFill>
                <a:latin typeface="Montserrat"/>
              </a:rPr>
              <a:t>Nền</a:t>
            </a:r>
            <a:r>
              <a:rPr lang="en-US" sz="1350" b="1" dirty="0">
                <a:solidFill>
                  <a:srgbClr val="9B7CFF"/>
                </a:solidFill>
                <a:latin typeface="Montserrat"/>
              </a:rPr>
              <a:t> </a:t>
            </a:r>
            <a:r>
              <a:rPr lang="en-US" sz="1350" b="1" dirty="0" err="1">
                <a:solidFill>
                  <a:srgbClr val="9B7CFF"/>
                </a:solidFill>
                <a:latin typeface="Montserrat"/>
              </a:rPr>
              <a:t>tảng</a:t>
            </a:r>
            <a:endParaRPr sz="1350" b="1" dirty="0">
              <a:solidFill>
                <a:srgbClr val="9B7CFF"/>
              </a:solidFill>
              <a:latin typeface="Montserra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95718-79CD-82AB-3BF8-5A850A224C2D}"/>
              </a:ext>
            </a:extLst>
          </p:cNvPr>
          <p:cNvSpPr txBox="1"/>
          <p:nvPr/>
        </p:nvSpPr>
        <p:spPr>
          <a:xfrm>
            <a:off x="1371600" y="1965960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Sequential data và lý do mô hình cần hiểu thứ tự, ngữ cảnh.</a:t>
            </a:r>
          </a:p>
        </p:txBody>
      </p:sp>
      <p:sp>
        <p:nvSpPr>
          <p:cNvPr id="15" name="Rounded Rectangle 31">
            <a:extLst>
              <a:ext uri="{FF2B5EF4-FFF2-40B4-BE49-F238E27FC236}">
                <a16:creationId xmlns:a16="http://schemas.microsoft.com/office/drawing/2014/main" id="{867C7D5B-F64A-5C37-3CD8-5A89538BA13E}"/>
              </a:ext>
            </a:extLst>
          </p:cNvPr>
          <p:cNvSpPr/>
          <p:nvPr/>
        </p:nvSpPr>
        <p:spPr>
          <a:xfrm>
            <a:off x="713232" y="2587752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5F9891-F354-50F2-9E92-C4E27114211B}"/>
              </a:ext>
            </a:extLst>
          </p:cNvPr>
          <p:cNvSpPr/>
          <p:nvPr/>
        </p:nvSpPr>
        <p:spPr>
          <a:xfrm>
            <a:off x="877824" y="2752344"/>
            <a:ext cx="384048" cy="384048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AC3646-22C9-61FC-F475-54461CD2F937}"/>
              </a:ext>
            </a:extLst>
          </p:cNvPr>
          <p:cNvSpPr txBox="1"/>
          <p:nvPr/>
        </p:nvSpPr>
        <p:spPr>
          <a:xfrm>
            <a:off x="1371600" y="2715768"/>
            <a:ext cx="128721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350" b="1" dirty="0" err="1">
                <a:solidFill>
                  <a:srgbClr val="00D8FF"/>
                </a:solidFill>
                <a:latin typeface="Montserrat"/>
              </a:rPr>
              <a:t>Kiến</a:t>
            </a:r>
            <a:r>
              <a:rPr lang="en-US" sz="1350" b="1" dirty="0">
                <a:solidFill>
                  <a:srgbClr val="00D8FF"/>
                </a:solidFill>
                <a:latin typeface="Montserrat"/>
              </a:rPr>
              <a:t> </a:t>
            </a:r>
            <a:r>
              <a:rPr lang="en-US" sz="1350" b="1" dirty="0" err="1">
                <a:solidFill>
                  <a:srgbClr val="00D8FF"/>
                </a:solidFill>
                <a:latin typeface="Montserrat"/>
              </a:rPr>
              <a:t>trúc</a:t>
            </a:r>
            <a:r>
              <a:rPr sz="1350" b="1" dirty="0">
                <a:solidFill>
                  <a:srgbClr val="00D8FF"/>
                </a:solidFill>
                <a:latin typeface="Montserrat"/>
              </a:rPr>
              <a:t> RNN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BF7688-9724-72ED-F4F2-87D289F4D2E7}"/>
              </a:ext>
            </a:extLst>
          </p:cNvPr>
          <p:cNvSpPr txBox="1"/>
          <p:nvPr/>
        </p:nvSpPr>
        <p:spPr>
          <a:xfrm>
            <a:off x="1371600" y="2980944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Hidden state mang thông tin từ bước trước sang bước sau.</a:t>
            </a:r>
          </a:p>
        </p:txBody>
      </p:sp>
      <p:sp>
        <p:nvSpPr>
          <p:cNvPr id="23" name="Rounded Rectangle 35">
            <a:extLst>
              <a:ext uri="{FF2B5EF4-FFF2-40B4-BE49-F238E27FC236}">
                <a16:creationId xmlns:a16="http://schemas.microsoft.com/office/drawing/2014/main" id="{328E5E68-D2F9-0D39-5265-35E563996FB4}"/>
              </a:ext>
            </a:extLst>
          </p:cNvPr>
          <p:cNvSpPr/>
          <p:nvPr/>
        </p:nvSpPr>
        <p:spPr>
          <a:xfrm>
            <a:off x="713232" y="3602736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3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FF6D9E4-C56A-2675-0220-0205AAAD786B}"/>
              </a:ext>
            </a:extLst>
          </p:cNvPr>
          <p:cNvSpPr/>
          <p:nvPr/>
        </p:nvSpPr>
        <p:spPr>
          <a:xfrm>
            <a:off x="877824" y="3767328"/>
            <a:ext cx="384048" cy="384048"/>
          </a:xfrm>
          <a:prstGeom prst="ellipse">
            <a:avLst/>
          </a:prstGeom>
          <a:solidFill>
            <a:srgbClr val="35D6A4"/>
          </a:solidFill>
          <a:ln>
            <a:solidFill>
              <a:srgbClr val="35D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7D81A-8D24-1DFE-A9F6-2FCDD24FEFD3}"/>
              </a:ext>
            </a:extLst>
          </p:cNvPr>
          <p:cNvSpPr txBox="1"/>
          <p:nvPr/>
        </p:nvSpPr>
        <p:spPr>
          <a:xfrm>
            <a:off x="1371600" y="3730752"/>
            <a:ext cx="2013372" cy="20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350" b="1" dirty="0">
                <a:solidFill>
                  <a:srgbClr val="35D6A4"/>
                </a:solidFill>
                <a:latin typeface="Montserrat"/>
              </a:rPr>
              <a:t>Công </a:t>
            </a:r>
            <a:r>
              <a:rPr lang="en-US" sz="1350" b="1" dirty="0" err="1">
                <a:solidFill>
                  <a:srgbClr val="35D6A4"/>
                </a:solidFill>
                <a:latin typeface="Montserrat"/>
              </a:rPr>
              <a:t>thức</a:t>
            </a:r>
            <a:r>
              <a:rPr sz="1350" b="1" dirty="0">
                <a:solidFill>
                  <a:srgbClr val="35D6A4"/>
                </a:solidFill>
                <a:latin typeface="Montserrat"/>
              </a:rPr>
              <a:t> &amp; </a:t>
            </a:r>
            <a:r>
              <a:rPr lang="en-US" sz="1350" b="1" dirty="0" err="1">
                <a:solidFill>
                  <a:srgbClr val="35D6A4"/>
                </a:solidFill>
                <a:latin typeface="Montserrat"/>
              </a:rPr>
              <a:t>tính</a:t>
            </a:r>
            <a:r>
              <a:rPr lang="en-US" sz="1350" b="1" dirty="0">
                <a:solidFill>
                  <a:srgbClr val="35D6A4"/>
                </a:solidFill>
                <a:latin typeface="Montserrat"/>
              </a:rPr>
              <a:t> </a:t>
            </a:r>
            <a:r>
              <a:rPr lang="en-US" sz="1350" b="1" dirty="0" err="1">
                <a:solidFill>
                  <a:srgbClr val="35D6A4"/>
                </a:solidFill>
                <a:latin typeface="Montserrat"/>
              </a:rPr>
              <a:t>toán</a:t>
            </a:r>
            <a:endParaRPr sz="1350" b="1" dirty="0">
              <a:solidFill>
                <a:srgbClr val="35D6A4"/>
              </a:solidFill>
              <a:latin typeface="Montserra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B94EDB-6CE0-B462-BF3F-CB190A8717AE}"/>
              </a:ext>
            </a:extLst>
          </p:cNvPr>
          <p:cNvSpPr txBox="1"/>
          <p:nvPr/>
        </p:nvSpPr>
        <p:spPr>
          <a:xfrm>
            <a:off x="1371600" y="3995928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RNN Cell, x(t), h(t), y(t), tanh và weight sharing.</a:t>
            </a:r>
          </a:p>
        </p:txBody>
      </p:sp>
      <p:sp>
        <p:nvSpPr>
          <p:cNvPr id="31" name="Rounded Rectangle 39">
            <a:extLst>
              <a:ext uri="{FF2B5EF4-FFF2-40B4-BE49-F238E27FC236}">
                <a16:creationId xmlns:a16="http://schemas.microsoft.com/office/drawing/2014/main" id="{95D894DC-B671-DC66-A10D-D769436E46D3}"/>
              </a:ext>
            </a:extLst>
          </p:cNvPr>
          <p:cNvSpPr/>
          <p:nvPr/>
        </p:nvSpPr>
        <p:spPr>
          <a:xfrm>
            <a:off x="713232" y="4617720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FFD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DBDB694-1061-D591-CD11-532DA420B6C2}"/>
              </a:ext>
            </a:extLst>
          </p:cNvPr>
          <p:cNvSpPr/>
          <p:nvPr/>
        </p:nvSpPr>
        <p:spPr>
          <a:xfrm>
            <a:off x="877824" y="4782312"/>
            <a:ext cx="384048" cy="384048"/>
          </a:xfrm>
          <a:prstGeom prst="ellipse">
            <a:avLst/>
          </a:prstGeom>
          <a:solidFill>
            <a:srgbClr val="FFD21E"/>
          </a:solidFill>
          <a:ln>
            <a:solidFill>
              <a:srgbClr val="FFD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C9D506-485B-EAC8-CBF3-5096DE340BCA}"/>
              </a:ext>
            </a:extLst>
          </p:cNvPr>
          <p:cNvSpPr txBox="1"/>
          <p:nvPr/>
        </p:nvSpPr>
        <p:spPr>
          <a:xfrm>
            <a:off x="1371600" y="4745736"/>
            <a:ext cx="425195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FD21E"/>
                </a:solidFill>
                <a:latin typeface="Montserrat"/>
              </a:rPr>
              <a:t>Các dạng RNN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ACEBA9-EA83-EB77-5EF3-4C7F4731F411}"/>
              </a:ext>
            </a:extLst>
          </p:cNvPr>
          <p:cNvSpPr txBox="1"/>
          <p:nvPr/>
        </p:nvSpPr>
        <p:spPr>
          <a:xfrm>
            <a:off x="1371600" y="5010912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One-to-Many, Many-to-One, Many-to-Many và ví dụ tương ứng.</a:t>
            </a:r>
          </a:p>
        </p:txBody>
      </p:sp>
      <p:sp>
        <p:nvSpPr>
          <p:cNvPr id="39" name="Rounded Rectangle 43">
            <a:extLst>
              <a:ext uri="{FF2B5EF4-FFF2-40B4-BE49-F238E27FC236}">
                <a16:creationId xmlns:a16="http://schemas.microsoft.com/office/drawing/2014/main" id="{945109EA-518F-D1F2-548F-8B2D42FD31BF}"/>
              </a:ext>
            </a:extLst>
          </p:cNvPr>
          <p:cNvSpPr/>
          <p:nvPr/>
        </p:nvSpPr>
        <p:spPr>
          <a:xfrm>
            <a:off x="6355080" y="1874519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EF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33ED0B-212B-0C95-B634-80EB7AC32DF6}"/>
              </a:ext>
            </a:extLst>
          </p:cNvPr>
          <p:cNvSpPr/>
          <p:nvPr/>
        </p:nvSpPr>
        <p:spPr>
          <a:xfrm>
            <a:off x="6519672" y="2039112"/>
            <a:ext cx="384048" cy="384048"/>
          </a:xfrm>
          <a:prstGeom prst="ellipse">
            <a:avLst/>
          </a:prstGeom>
          <a:solidFill>
            <a:srgbClr val="EF5DA8"/>
          </a:solidFill>
          <a:ln>
            <a:solidFill>
              <a:srgbClr val="EF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EE2C22-648A-4675-56F4-DCE58423DE26}"/>
              </a:ext>
            </a:extLst>
          </p:cNvPr>
          <p:cNvSpPr txBox="1"/>
          <p:nvPr/>
        </p:nvSpPr>
        <p:spPr>
          <a:xfrm>
            <a:off x="7013448" y="2002536"/>
            <a:ext cx="425195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F5DA8"/>
                </a:solidFill>
                <a:latin typeface="Montserrat"/>
              </a:rPr>
              <a:t>Huấn luyện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9872D3-555C-2D3A-2989-B7E5BED4F15F}"/>
              </a:ext>
            </a:extLst>
          </p:cNvPr>
          <p:cNvSpPr txBox="1"/>
          <p:nvPr/>
        </p:nvSpPr>
        <p:spPr>
          <a:xfrm>
            <a:off x="7013448" y="2267712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Forward through time, tính loss và Backpropagation Through Time.</a:t>
            </a:r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6E3AD401-0061-98DA-6AF4-05E497C2264C}"/>
              </a:ext>
            </a:extLst>
          </p:cNvPr>
          <p:cNvSpPr/>
          <p:nvPr/>
        </p:nvSpPr>
        <p:spPr>
          <a:xfrm>
            <a:off x="6355080" y="3063240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22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78624D0-3C39-B33C-4971-5C8F4B2F0206}"/>
              </a:ext>
            </a:extLst>
          </p:cNvPr>
          <p:cNvSpPr/>
          <p:nvPr/>
        </p:nvSpPr>
        <p:spPr>
          <a:xfrm>
            <a:off x="6519672" y="3227832"/>
            <a:ext cx="384048" cy="384048"/>
          </a:xfrm>
          <a:prstGeom prst="ellipse">
            <a:avLst/>
          </a:prstGeom>
          <a:solidFill>
            <a:srgbClr val="22C9C9"/>
          </a:solidFill>
          <a:ln>
            <a:solidFill>
              <a:srgbClr val="22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62075C-1495-3CF6-66AA-B1DA3DA57ACD}"/>
              </a:ext>
            </a:extLst>
          </p:cNvPr>
          <p:cNvSpPr txBox="1"/>
          <p:nvPr/>
        </p:nvSpPr>
        <p:spPr>
          <a:xfrm>
            <a:off x="7013448" y="3191256"/>
            <a:ext cx="425195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1">
                <a:solidFill>
                  <a:srgbClr val="22C9C9"/>
                </a:solidFill>
                <a:latin typeface="Montserrat"/>
              </a:rPr>
              <a:t>Giới hạn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BA31FC-B48D-169C-53BB-018B9DB268EA}"/>
              </a:ext>
            </a:extLst>
          </p:cNvPr>
          <p:cNvSpPr txBox="1"/>
          <p:nvPr/>
        </p:nvSpPr>
        <p:spPr>
          <a:xfrm>
            <a:off x="7013448" y="3456432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Long-term dependency, vanishing gradient và exploding gradient.</a:t>
            </a:r>
          </a:p>
        </p:txBody>
      </p:sp>
      <p:sp>
        <p:nvSpPr>
          <p:cNvPr id="55" name="Rounded Rectangle 51">
            <a:extLst>
              <a:ext uri="{FF2B5EF4-FFF2-40B4-BE49-F238E27FC236}">
                <a16:creationId xmlns:a16="http://schemas.microsoft.com/office/drawing/2014/main" id="{32715642-8DDA-6744-9A22-FC3D31C61454}"/>
              </a:ext>
            </a:extLst>
          </p:cNvPr>
          <p:cNvSpPr/>
          <p:nvPr/>
        </p:nvSpPr>
        <p:spPr>
          <a:xfrm>
            <a:off x="6355080" y="4251960"/>
            <a:ext cx="5074920" cy="841248"/>
          </a:xfrm>
          <a:prstGeom prst="roundRect">
            <a:avLst/>
          </a:prstGeom>
          <a:solidFill>
            <a:srgbClr val="0A1D35"/>
          </a:solidFill>
          <a:ln w="16510">
            <a:solidFill>
              <a:srgbClr val="7BE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742B56D-8BA3-F8B5-9973-8526D4843749}"/>
              </a:ext>
            </a:extLst>
          </p:cNvPr>
          <p:cNvSpPr/>
          <p:nvPr/>
        </p:nvSpPr>
        <p:spPr>
          <a:xfrm>
            <a:off x="6519672" y="4416552"/>
            <a:ext cx="384048" cy="384048"/>
          </a:xfrm>
          <a:prstGeom prst="ellipse">
            <a:avLst/>
          </a:prstGeom>
          <a:solidFill>
            <a:srgbClr val="7BE495"/>
          </a:solidFill>
          <a:ln>
            <a:solidFill>
              <a:srgbClr val="7BE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F7F7C0-A898-C929-882C-6BDBB3F0A678}"/>
              </a:ext>
            </a:extLst>
          </p:cNvPr>
          <p:cNvSpPr txBox="1"/>
          <p:nvPr/>
        </p:nvSpPr>
        <p:spPr>
          <a:xfrm>
            <a:off x="7013448" y="4379976"/>
            <a:ext cx="4251959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50" b="1">
                <a:solidFill>
                  <a:srgbClr val="7BE495"/>
                </a:solidFill>
                <a:latin typeface="Montserrat"/>
              </a:rPr>
              <a:t>Ứng dụng &amp; kết luận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CA2703-92D9-A5F6-B098-0CF1FD671910}"/>
              </a:ext>
            </a:extLst>
          </p:cNvPr>
          <p:cNvSpPr txBox="1"/>
          <p:nvPr/>
        </p:nvSpPr>
        <p:spPr>
          <a:xfrm>
            <a:off x="7013448" y="4645152"/>
            <a:ext cx="4251959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80" b="0">
                <a:solidFill>
                  <a:srgbClr val="B9C9DC"/>
                </a:solidFill>
                <a:latin typeface="Montserrat"/>
              </a:rPr>
              <a:t>RNN như nền tảng để hiểu học dữ liệu chuỗi.</a:t>
            </a:r>
          </a:p>
        </p:txBody>
      </p:sp>
    </p:spTree>
    <p:extLst>
      <p:ext uri="{BB962C8B-B14F-4D97-AF65-F5344CB8AC3E}">
        <p14:creationId xmlns:p14="http://schemas.microsoft.com/office/powerpoint/2010/main" val="110609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1 · NỀN TẢNG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liệu tuần tự là gì?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 phần tử có thứ tự theo thời gian hoặc vị trí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85800" y="196596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039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Văn bản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Tôi / thích / RNN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520440" y="196596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8503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Âm thanh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21608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waveform theo thời gian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55080" y="196596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967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56248" y="260604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091B31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693408" y="2926080"/>
            <a:ext cx="182880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93408" y="3246120"/>
            <a:ext cx="182880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93408" y="3566160"/>
            <a:ext cx="182880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24498" y="3450946"/>
            <a:ext cx="21031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34810" y="3156509"/>
            <a:ext cx="21031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145122" y="3015691"/>
            <a:ext cx="210312" cy="153619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55434" y="3169310"/>
            <a:ext cx="252374" cy="486461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607808" y="3655771"/>
            <a:ext cx="252374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860182" y="3527755"/>
            <a:ext cx="21031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70494" y="3207715"/>
            <a:ext cx="210312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280806" y="2926080"/>
            <a:ext cx="252374" cy="384048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692494" y="341894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10782" y="3436224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0" name="Shape 48"/>
          <p:cNvSpPr/>
          <p:nvPr/>
        </p:nvSpPr>
        <p:spPr>
          <a:xfrm>
            <a:off x="6902806" y="3124505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21094" y="3141787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2" name="Shape 50"/>
          <p:cNvSpPr/>
          <p:nvPr/>
        </p:nvSpPr>
        <p:spPr>
          <a:xfrm>
            <a:off x="7113118" y="2983687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31406" y="3000969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4" name="Shape 52"/>
          <p:cNvSpPr/>
          <p:nvPr/>
        </p:nvSpPr>
        <p:spPr>
          <a:xfrm>
            <a:off x="7323430" y="313730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41718" y="3154589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6" name="Shape 54"/>
          <p:cNvSpPr/>
          <p:nvPr/>
        </p:nvSpPr>
        <p:spPr>
          <a:xfrm>
            <a:off x="7575804" y="3623767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94092" y="3641049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58" name="Shape 56"/>
          <p:cNvSpPr/>
          <p:nvPr/>
        </p:nvSpPr>
        <p:spPr>
          <a:xfrm>
            <a:off x="7828178" y="3495751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846466" y="3513033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0" name="Shape 58"/>
          <p:cNvSpPr/>
          <p:nvPr/>
        </p:nvSpPr>
        <p:spPr>
          <a:xfrm>
            <a:off x="8038490" y="3175711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056778" y="3192993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2" name="Shape 60"/>
          <p:cNvSpPr/>
          <p:nvPr/>
        </p:nvSpPr>
        <p:spPr>
          <a:xfrm>
            <a:off x="8248802" y="289407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267090" y="2911358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4" name="Shape 62"/>
          <p:cNvSpPr/>
          <p:nvPr/>
        </p:nvSpPr>
        <p:spPr>
          <a:xfrm>
            <a:off x="8501177" y="3278124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519465" y="3295406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66" name="Shape 64"/>
          <p:cNvSpPr/>
          <p:nvPr/>
        </p:nvSpPr>
        <p:spPr>
          <a:xfrm>
            <a:off x="9189720" y="196596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35431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ACC1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Cảm biến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9390888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event/log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22960" y="5166360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Điểm cốt lõi: thứ tự mang thông tin. Mô hình cần hiểu phần tử hiện tại trong ngữ cảnh trước đó.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1 · NỀN TẢNG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Thứ tự làm thay đổi ý nghĩa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Cùng tập từ nhưng khác thứ tự có thể tạo ý nghĩa hoàn toàn khác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2960" y="187452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78992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“Con chó cắn người”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828800" y="318211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ngữ nghĩa thường gặp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87452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1D3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56832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“Người cắn con chó”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03720" y="3182112"/>
            <a:ext cx="3566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B71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cùng từ · khác thứ tự · khác nghĩa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880360"/>
            <a:ext cx="54864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80160" y="5120640"/>
            <a:ext cx="9601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được thiết kế để xử lý dữ liệu theo trình tự, nơi thông tin ở bước trước ảnh hưởng đến cách hiểu bước sau.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1 · NỀN TẢNG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 của Feedforward Neural Network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input được xử lý độc lập, không có bộ nhớ tuần tự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31520" y="182880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6012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Feedforward NN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9728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556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15568" y="27171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307592" y="3520440"/>
            <a:ext cx="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4028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5856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40280" y="260604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258568" y="27171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450592" y="3520440"/>
            <a:ext cx="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8328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0156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x3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383280" y="260604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01568" y="27171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593592" y="3520440"/>
            <a:ext cx="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4399" y="4297679"/>
            <a:ext cx="4251959" cy="4114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Mỗi</a:t>
            </a:r>
            <a:r>
              <a:rPr lang="en-US" sz="1200" dirty="0">
                <a:solidFill>
                  <a:schemeClr val="bg1"/>
                </a:solidFill>
              </a:rPr>
              <a:t> input </a:t>
            </a:r>
            <a:r>
              <a:rPr lang="en-US" sz="1200" dirty="0" err="1">
                <a:solidFill>
                  <a:schemeClr val="bg1"/>
                </a:solidFill>
              </a:rPr>
              <a:t>được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xử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lý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độc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lập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không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có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trạng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thái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truyền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giữa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các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bước</a:t>
            </a: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00800" y="182880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2940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62940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64768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629400" y="2697480"/>
            <a:ext cx="457200" cy="45720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47688" y="28209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839712" y="3520440"/>
            <a:ext cx="18288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77240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79068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x2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772400" y="2697480"/>
            <a:ext cx="457200" cy="45720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790688" y="28209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982712" y="3520440"/>
            <a:ext cx="18288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086600" y="2926080"/>
            <a:ext cx="68580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915400" y="35204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933688" y="36315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x3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15400" y="2697480"/>
            <a:ext cx="457200" cy="45720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933688" y="282092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125712" y="3520440"/>
            <a:ext cx="18288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229600" y="2926080"/>
            <a:ext cx="68580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766560" y="4297680"/>
            <a:ext cx="3794760" cy="4114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Hidden state </a:t>
            </a:r>
            <a:r>
              <a:rPr lang="en-US" sz="1200" dirty="0" err="1">
                <a:solidFill>
                  <a:schemeClr val="bg1"/>
                </a:solidFill>
              </a:rPr>
              <a:t>được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truyền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từ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bước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trước</a:t>
            </a:r>
            <a:r>
              <a:rPr lang="en-US" sz="1200" dirty="0">
                <a:solidFill>
                  <a:schemeClr val="bg1"/>
                </a:solidFill>
              </a:rPr>
              <a:t> sang </a:t>
            </a:r>
            <a:r>
              <a:rPr lang="en-US" sz="1200" dirty="0" err="1">
                <a:solidFill>
                  <a:schemeClr val="bg1"/>
                </a:solidFill>
              </a:rPr>
              <a:t>bước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sau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EEA3CF-63B9-5050-A5F9-86239BB08755}"/>
              </a:ext>
            </a:extLst>
          </p:cNvPr>
          <p:cNvCxnSpPr>
            <a:stCxn id="30" idx="0"/>
            <a:endCxn id="32" idx="4"/>
          </p:cNvCxnSpPr>
          <p:nvPr/>
        </p:nvCxnSpPr>
        <p:spPr>
          <a:xfrm flipV="1">
            <a:off x="1303020" y="3017520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1603090-3C09-C888-B553-2818C66D8D15}"/>
              </a:ext>
            </a:extLst>
          </p:cNvPr>
          <p:cNvCxnSpPr>
            <a:stCxn id="35" idx="0"/>
            <a:endCxn id="37" idx="4"/>
          </p:cNvCxnSpPr>
          <p:nvPr/>
        </p:nvCxnSpPr>
        <p:spPr>
          <a:xfrm flipV="1">
            <a:off x="2446020" y="3017520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893AC36-3EA1-7D1D-ABEE-384A7B8F7EAD}"/>
              </a:ext>
            </a:extLst>
          </p:cNvPr>
          <p:cNvCxnSpPr>
            <a:stCxn id="40" idx="0"/>
            <a:endCxn id="42" idx="4"/>
          </p:cNvCxnSpPr>
          <p:nvPr/>
        </p:nvCxnSpPr>
        <p:spPr>
          <a:xfrm flipV="1">
            <a:off x="3589020" y="3017520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7EA90A9-B9E9-E36D-37DB-0A21CDFBEAE0}"/>
              </a:ext>
            </a:extLst>
          </p:cNvPr>
          <p:cNvCxnSpPr>
            <a:stCxn id="48" idx="0"/>
          </p:cNvCxnSpPr>
          <p:nvPr/>
        </p:nvCxnSpPr>
        <p:spPr>
          <a:xfrm flipV="1">
            <a:off x="6835140" y="3154680"/>
            <a:ext cx="13716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3920C68-8E72-EF80-44EB-8DA8F5E6BA9A}"/>
              </a:ext>
            </a:extLst>
          </p:cNvPr>
          <p:cNvCxnSpPr>
            <a:stCxn id="53" idx="0"/>
            <a:endCxn id="55" idx="4"/>
          </p:cNvCxnSpPr>
          <p:nvPr/>
        </p:nvCxnSpPr>
        <p:spPr>
          <a:xfrm flipV="1">
            <a:off x="7978140" y="3154680"/>
            <a:ext cx="2286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BE94C72-5D76-268C-1E1D-4CE03BE628B5}"/>
              </a:ext>
            </a:extLst>
          </p:cNvPr>
          <p:cNvCxnSpPr>
            <a:stCxn id="63" idx="0"/>
            <a:endCxn id="61" idx="4"/>
          </p:cNvCxnSpPr>
          <p:nvPr/>
        </p:nvCxnSpPr>
        <p:spPr>
          <a:xfrm flipV="1">
            <a:off x="9125712" y="3154680"/>
            <a:ext cx="18288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34693" y="34290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0" y="5879237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1 · NỀN TẢNG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Ý </a:t>
            </a:r>
            <a:r>
              <a:rPr lang="en-US" sz="2600" b="1" dirty="0" err="1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tưởng</a:t>
            </a: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600" b="1" dirty="0" err="1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và</a:t>
            </a: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600" b="1" dirty="0" err="1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kiến</a:t>
            </a: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600" b="1" dirty="0" err="1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trúc</a:t>
            </a: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của RNN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840230" y="2834640"/>
            <a:ext cx="822960" cy="8229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58518" y="3056839"/>
            <a:ext cx="78638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x(t)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97680" y="2514600"/>
            <a:ext cx="2514600" cy="1428750"/>
          </a:xfrm>
          <a:prstGeom prst="roundRect">
            <a:avLst>
              <a:gd name="adj" fmla="val 512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34256" y="2642616"/>
            <a:ext cx="2441448" cy="11932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40980" y="2834640"/>
            <a:ext cx="822960" cy="8229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59268" y="3056839"/>
            <a:ext cx="78638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y(t)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54830" y="1085850"/>
            <a:ext cx="822960" cy="8229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73118" y="1308049"/>
            <a:ext cx="786384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h(t−1)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69330" y="1085850"/>
            <a:ext cx="822960" cy="82296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7618" y="1308048"/>
            <a:ext cx="786384" cy="31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63190" y="3246120"/>
            <a:ext cx="163449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12280" y="3246120"/>
            <a:ext cx="102870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80810" y="2514600"/>
            <a:ext cx="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41704" y="1391031"/>
            <a:ext cx="3098383" cy="22859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83030" y="3737610"/>
            <a:ext cx="177165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hiện tại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555230" y="373761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7063369" y="1228573"/>
            <a:ext cx="2654539" cy="1874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</a:t>
            </a:r>
            <a:r>
              <a:rPr lang="en-US" sz="120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truyền</a:t>
            </a: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sang </a:t>
            </a:r>
            <a:r>
              <a:rPr lang="en-US" sz="1200" dirty="0" err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bước</a:t>
            </a: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t+1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88695" y="2510246"/>
            <a:ext cx="1954530" cy="1612555"/>
          </a:xfrm>
          <a:prstGeom prst="roundRect">
            <a:avLst>
              <a:gd name="adj" fmla="val 3077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49274" y="2694742"/>
            <a:ext cx="1828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x(t)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10058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hiện tại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(token, vector đặc trưng, tín hiệu...)</a:t>
            </a:r>
            <a:endParaRPr lang="en-US" sz="1100" dirty="0"/>
          </a:p>
        </p:txBody>
      </p:sp>
      <p:sp>
        <p:nvSpPr>
          <p:cNvPr id="53" name="Shape 38">
            <a:extLst>
              <a:ext uri="{FF2B5EF4-FFF2-40B4-BE49-F238E27FC236}">
                <a16:creationId xmlns:a16="http://schemas.microsoft.com/office/drawing/2014/main" id="{80FE29F5-9A6F-A466-2C94-222799E348A8}"/>
              </a:ext>
            </a:extLst>
          </p:cNvPr>
          <p:cNvSpPr/>
          <p:nvPr/>
        </p:nvSpPr>
        <p:spPr>
          <a:xfrm>
            <a:off x="4892042" y="1908809"/>
            <a:ext cx="0" cy="642367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B2C9A731-678F-0842-B920-8A7550FCF139}"/>
              </a:ext>
            </a:extLst>
          </p:cNvPr>
          <p:cNvSpPr/>
          <p:nvPr/>
        </p:nvSpPr>
        <p:spPr>
          <a:xfrm flipH="1" flipV="1">
            <a:off x="6480797" y="1892806"/>
            <a:ext cx="3" cy="642365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B9D687-B9E0-91A1-B0DD-E199604D9A75}"/>
              </a:ext>
            </a:extLst>
          </p:cNvPr>
          <p:cNvSpPr txBox="1"/>
          <p:nvPr/>
        </p:nvSpPr>
        <p:spPr>
          <a:xfrm>
            <a:off x="1049274" y="4637991"/>
            <a:ext cx="4933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x(t)</a:t>
            </a:r>
            <a:r>
              <a:rPr lang="en-US" dirty="0">
                <a:solidFill>
                  <a:schemeClr val="bg1"/>
                </a:solidFill>
              </a:rPr>
              <a:t>: input </a:t>
            </a:r>
            <a:r>
              <a:rPr lang="en-US" dirty="0" err="1">
                <a:solidFill>
                  <a:schemeClr val="bg1"/>
                </a:solidFill>
              </a:rPr>
              <a:t>tại</a:t>
            </a:r>
            <a:r>
              <a:rPr lang="en-US" dirty="0">
                <a:solidFill>
                  <a:schemeClr val="bg1"/>
                </a:solidFill>
              </a:rPr>
              <a:t> time step t 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h(t−1)</a:t>
            </a:r>
            <a:r>
              <a:rPr lang="en-US" dirty="0">
                <a:solidFill>
                  <a:schemeClr val="bg1"/>
                </a:solidFill>
              </a:rPr>
              <a:t>: hidden state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trước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h(t)</a:t>
            </a:r>
            <a:r>
              <a:rPr lang="en-US" dirty="0">
                <a:solidFill>
                  <a:schemeClr val="bg1"/>
                </a:solidFill>
              </a:rPr>
              <a:t>: hidden state </a:t>
            </a:r>
            <a:r>
              <a:rPr lang="en-US" dirty="0" err="1">
                <a:solidFill>
                  <a:schemeClr val="bg1"/>
                </a:solidFill>
              </a:rPr>
              <a:t>mới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t 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y(t)</a:t>
            </a:r>
            <a:r>
              <a:rPr lang="en-US" dirty="0">
                <a:solidFill>
                  <a:schemeClr val="bg1"/>
                </a:solidFill>
              </a:rPr>
              <a:t>: output </a:t>
            </a:r>
            <a:r>
              <a:rPr lang="en-US" dirty="0" err="1">
                <a:solidFill>
                  <a:schemeClr val="bg1"/>
                </a:solidFill>
              </a:rPr>
              <a:t>tại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t </a:t>
            </a:r>
          </a:p>
          <a:p>
            <a:pPr lvl="0"/>
            <a:r>
              <a:rPr lang="en-US" b="1" dirty="0">
                <a:solidFill>
                  <a:schemeClr val="bg1"/>
                </a:solidFill>
              </a:rPr>
              <a:t>RNN Cell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khối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lý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x(t)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h(t−1)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5B356D4-17B3-FF0B-EC55-6B551BE8B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79" y="4090165"/>
            <a:ext cx="4698486" cy="2346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2 · KIẾN TRÚC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là gì?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vector “bộ nhớ ngắn hạn” tóm tắt ngữ cảnh đã đi qua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31520" y="1874520"/>
            <a:ext cx="3017520" cy="297180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h(t−1)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097280" y="278892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Ngữ cảnh quá khứ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1874520"/>
            <a:ext cx="3017520" cy="297180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x(t)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956048" y="2788920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Thông tin hiện tại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1874520"/>
            <a:ext cx="3017520" cy="2971800"/>
          </a:xfrm>
          <a:prstGeom prst="roundRect">
            <a:avLst>
              <a:gd name="adj" fmla="val 2462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9536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h(t)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549640" y="2788920"/>
            <a:ext cx="2240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Ngữ cảnh mới sau khi cập nhật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767328" y="2834640"/>
            <a:ext cx="75895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07808" y="2834640"/>
            <a:ext cx="75895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88720" y="5257800"/>
            <a:ext cx="9784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không lưu nguyên dữ liệu cũ; nó là một biểu diễn số học được cập nhật sau mỗi bước.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2 · KIẾN TRÚC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xử lý một chuỗi như thế nào?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được truyền liên tục qua từng bước thời gian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97280" y="274320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33856" y="2871216"/>
            <a:ext cx="11887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63040" y="3730752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81328" y="387394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x(1)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1463040" y="1993392"/>
            <a:ext cx="530352" cy="53035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81328" y="213658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h(1)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56032" y="2898648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3027030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h(0)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31520" y="3136392"/>
            <a:ext cx="365760" cy="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46120" y="274320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82696" y="2871216"/>
            <a:ext cx="11887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11880" y="3730752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30168" y="387394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x(2)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611880" y="1993392"/>
            <a:ext cx="530352" cy="53035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30168" y="213658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h(2)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2359152" y="3163824"/>
            <a:ext cx="88696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394960" y="274320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31536" y="2871216"/>
            <a:ext cx="11887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60720" y="3730752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79008" y="387394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x(3)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760720" y="1993392"/>
            <a:ext cx="530352" cy="53035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79008" y="213658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h(3)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507992" y="3163824"/>
            <a:ext cx="88696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543800" y="274320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580376" y="2871216"/>
            <a:ext cx="11887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909560" y="3730752"/>
            <a:ext cx="530352" cy="5303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927848" y="387394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x(4)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7909560" y="1993392"/>
            <a:ext cx="530352" cy="530352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927848" y="2136587"/>
            <a:ext cx="493776" cy="18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h(4)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6656832" y="3163824"/>
            <a:ext cx="88696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85801" y="5074920"/>
            <a:ext cx="10652759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Tại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mỗi</a:t>
            </a:r>
            <a:r>
              <a:rPr lang="en-US" sz="1600" dirty="0">
                <a:solidFill>
                  <a:schemeClr val="bg1"/>
                </a:solidFill>
              </a:rPr>
              <a:t> time step, RNN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hợp</a:t>
            </a:r>
            <a:r>
              <a:rPr lang="en-US" sz="1600" dirty="0">
                <a:solidFill>
                  <a:schemeClr val="bg1"/>
                </a:solidFill>
              </a:rPr>
              <a:t> input </a:t>
            </a:r>
            <a:r>
              <a:rPr lang="en-US" sz="1600" dirty="0" err="1">
                <a:solidFill>
                  <a:schemeClr val="bg1"/>
                </a:solidFill>
              </a:rPr>
              <a:t>hiện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tại</a:t>
            </a:r>
            <a:r>
              <a:rPr lang="en-US" sz="1600" dirty="0">
                <a:solidFill>
                  <a:schemeClr val="bg1"/>
                </a:solidFill>
              </a:rPr>
              <a:t> x(t) </a:t>
            </a:r>
            <a:r>
              <a:rPr lang="en-US" sz="1600" dirty="0" err="1">
                <a:solidFill>
                  <a:schemeClr val="bg1"/>
                </a:solidFill>
              </a:rPr>
              <a:t>với</a:t>
            </a:r>
            <a:r>
              <a:rPr lang="en-US" sz="1600" dirty="0">
                <a:solidFill>
                  <a:schemeClr val="bg1"/>
                </a:solidFill>
              </a:rPr>
              <a:t> hidden state </a:t>
            </a:r>
            <a:r>
              <a:rPr lang="en-US" sz="1600" dirty="0" err="1">
                <a:solidFill>
                  <a:schemeClr val="bg1"/>
                </a:solidFill>
              </a:rPr>
              <a:t>trước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đó</a:t>
            </a:r>
            <a:r>
              <a:rPr lang="en-US" sz="1600" dirty="0">
                <a:solidFill>
                  <a:schemeClr val="bg1"/>
                </a:solidFill>
              </a:rPr>
              <a:t> h(t−1) </a:t>
            </a:r>
            <a:r>
              <a:rPr lang="en-US" sz="1600" dirty="0" err="1">
                <a:solidFill>
                  <a:schemeClr val="bg1"/>
                </a:solidFill>
              </a:rPr>
              <a:t>để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tạo</a:t>
            </a:r>
            <a:r>
              <a:rPr lang="en-US" sz="1600" dirty="0">
                <a:solidFill>
                  <a:schemeClr val="bg1"/>
                </a:solidFill>
              </a:rPr>
              <a:t> hidden state </a:t>
            </a:r>
            <a:r>
              <a:rPr lang="en-US" sz="1600" dirty="0" err="1">
                <a:solidFill>
                  <a:schemeClr val="bg1"/>
                </a:solidFill>
              </a:rPr>
              <a:t>mới</a:t>
            </a:r>
            <a:r>
              <a:rPr lang="en-US" sz="1600" dirty="0">
                <a:solidFill>
                  <a:schemeClr val="bg1"/>
                </a:solidFill>
              </a:rPr>
              <a:t> h(t).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75D0A1A6-308F-8D70-DBAD-43FB421A450E}"/>
              </a:ext>
            </a:extLst>
          </p:cNvPr>
          <p:cNvSpPr/>
          <p:nvPr/>
        </p:nvSpPr>
        <p:spPr>
          <a:xfrm flipV="1">
            <a:off x="1728216" y="3547873"/>
            <a:ext cx="0" cy="184774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C1527B4A-9E71-EF56-824E-597C9ABA3E3F}"/>
              </a:ext>
            </a:extLst>
          </p:cNvPr>
          <p:cNvSpPr/>
          <p:nvPr/>
        </p:nvSpPr>
        <p:spPr>
          <a:xfrm flipV="1">
            <a:off x="3865934" y="3547873"/>
            <a:ext cx="0" cy="184774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91CE54A7-EABF-CE1A-A9CF-BAFD90CF668F}"/>
              </a:ext>
            </a:extLst>
          </p:cNvPr>
          <p:cNvSpPr/>
          <p:nvPr/>
        </p:nvSpPr>
        <p:spPr>
          <a:xfrm flipV="1">
            <a:off x="5999534" y="3547873"/>
            <a:ext cx="0" cy="184774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36">
            <a:extLst>
              <a:ext uri="{FF2B5EF4-FFF2-40B4-BE49-F238E27FC236}">
                <a16:creationId xmlns:a16="http://schemas.microsoft.com/office/drawing/2014/main" id="{26E4007D-28D1-7999-55B7-71B87FDE59ED}"/>
              </a:ext>
            </a:extLst>
          </p:cNvPr>
          <p:cNvSpPr/>
          <p:nvPr/>
        </p:nvSpPr>
        <p:spPr>
          <a:xfrm flipV="1">
            <a:off x="8174324" y="3569951"/>
            <a:ext cx="0" cy="184774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45">
            <a:extLst>
              <a:ext uri="{FF2B5EF4-FFF2-40B4-BE49-F238E27FC236}">
                <a16:creationId xmlns:a16="http://schemas.microsoft.com/office/drawing/2014/main" id="{64395CB5-521C-961C-B4CC-CE64FB4EA1FD}"/>
              </a:ext>
            </a:extLst>
          </p:cNvPr>
          <p:cNvSpPr/>
          <p:nvPr/>
        </p:nvSpPr>
        <p:spPr>
          <a:xfrm flipV="1">
            <a:off x="1728216" y="2523743"/>
            <a:ext cx="0" cy="25603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5">
            <a:extLst>
              <a:ext uri="{FF2B5EF4-FFF2-40B4-BE49-F238E27FC236}">
                <a16:creationId xmlns:a16="http://schemas.microsoft.com/office/drawing/2014/main" id="{BF634A2A-A439-0627-94D3-29006DA34C69}"/>
              </a:ext>
            </a:extLst>
          </p:cNvPr>
          <p:cNvSpPr/>
          <p:nvPr/>
        </p:nvSpPr>
        <p:spPr>
          <a:xfrm flipV="1">
            <a:off x="3865934" y="2501994"/>
            <a:ext cx="0" cy="25603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45">
            <a:extLst>
              <a:ext uri="{FF2B5EF4-FFF2-40B4-BE49-F238E27FC236}">
                <a16:creationId xmlns:a16="http://schemas.microsoft.com/office/drawing/2014/main" id="{6433B81E-8F49-4F9E-3639-661424F0445F}"/>
              </a:ext>
            </a:extLst>
          </p:cNvPr>
          <p:cNvSpPr/>
          <p:nvPr/>
        </p:nvSpPr>
        <p:spPr>
          <a:xfrm flipV="1">
            <a:off x="5999534" y="2501994"/>
            <a:ext cx="0" cy="25603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45">
            <a:extLst>
              <a:ext uri="{FF2B5EF4-FFF2-40B4-BE49-F238E27FC236}">
                <a16:creationId xmlns:a16="http://schemas.microsoft.com/office/drawing/2014/main" id="{192F6896-7574-2AE0-2E9F-DAAE839B9FB3}"/>
              </a:ext>
            </a:extLst>
          </p:cNvPr>
          <p:cNvSpPr/>
          <p:nvPr/>
        </p:nvSpPr>
        <p:spPr>
          <a:xfrm flipV="1">
            <a:off x="8174324" y="2510232"/>
            <a:ext cx="0" cy="25603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216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2 · KIẾN TRÚC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Unrolling RNN theo thời gian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cell có vòng lặp được mở thành chuỗi cell dùng chung trọng số</a:t>
            </a:r>
            <a:endParaRPr lang="en-US" sz="920" dirty="0"/>
          </a:p>
        </p:txBody>
      </p:sp>
      <p:sp>
        <p:nvSpPr>
          <p:cNvPr id="85" name="Text 83"/>
          <p:cNvSpPr/>
          <p:nvPr/>
        </p:nvSpPr>
        <p:spPr>
          <a:xfrm>
            <a:off x="960120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Unrolling </a:t>
            </a:r>
            <a:r>
              <a:rPr lang="en-US" sz="1400" dirty="0" err="1">
                <a:solidFill>
                  <a:schemeClr val="bg1"/>
                </a:solidFill>
              </a:rPr>
              <a:t>biểu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diễn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một</a:t>
            </a:r>
            <a:r>
              <a:rPr lang="en-US" sz="1400" dirty="0">
                <a:solidFill>
                  <a:schemeClr val="bg1"/>
                </a:solidFill>
              </a:rPr>
              <a:t> RNN Cell </a:t>
            </a:r>
            <a:r>
              <a:rPr lang="en-US" sz="1400" dirty="0" err="1">
                <a:solidFill>
                  <a:schemeClr val="bg1"/>
                </a:solidFill>
              </a:rPr>
              <a:t>lặp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lại</a:t>
            </a:r>
            <a:r>
              <a:rPr lang="en-US" sz="1400" dirty="0">
                <a:solidFill>
                  <a:schemeClr val="bg1"/>
                </a:solidFill>
              </a:rPr>
              <a:t> qua </a:t>
            </a:r>
            <a:r>
              <a:rPr lang="en-US" sz="1400" dirty="0" err="1">
                <a:solidFill>
                  <a:schemeClr val="bg1"/>
                </a:solidFill>
              </a:rPr>
              <a:t>các</a:t>
            </a:r>
            <a:r>
              <a:rPr lang="en-US" sz="1400" dirty="0">
                <a:solidFill>
                  <a:schemeClr val="bg1"/>
                </a:solidFill>
              </a:rPr>
              <a:t> time step; </a:t>
            </a:r>
            <a:r>
              <a:rPr lang="en-US" sz="1400" dirty="0" err="1">
                <a:solidFill>
                  <a:schemeClr val="bg1"/>
                </a:solidFill>
              </a:rPr>
              <a:t>các</a:t>
            </a:r>
            <a:r>
              <a:rPr lang="en-US" sz="1400" dirty="0">
                <a:solidFill>
                  <a:schemeClr val="bg1"/>
                </a:solidFill>
              </a:rPr>
              <a:t> cell </a:t>
            </a:r>
            <a:r>
              <a:rPr lang="en-US" sz="1400" dirty="0" err="1">
                <a:solidFill>
                  <a:schemeClr val="bg1"/>
                </a:solidFill>
              </a:rPr>
              <a:t>dùng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chung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tham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số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7BCF571A-F759-7E87-C11A-C04856BB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71456"/>
            <a:ext cx="10020093" cy="3292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2 · KIẾN TRÚC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Sharing trong RNN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Cùng một bộ trọng số được dùng tại mọi time step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1417320" y="516636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600200" y="5321808"/>
            <a:ext cx="24231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Wxh  ·  input → hidden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754880" y="516636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937760" y="5321808"/>
            <a:ext cx="24231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Whh  ·  hidden → hidden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092440" y="5166360"/>
            <a:ext cx="2788920" cy="502920"/>
          </a:xfrm>
          <a:prstGeom prst="roundRect">
            <a:avLst>
              <a:gd name="adj" fmla="val 14545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275320" y="5321808"/>
            <a:ext cx="24231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 ·  hidden → output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914400" y="5943600"/>
            <a:ext cx="10424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Chia sẻ trọng số giúp RNN áp dụng cùng một quy tắc xử lý cho mọi vị trí trong chuỗi.</a:t>
            </a:r>
            <a:endParaRPr lang="en-US" sz="14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9B8F9898-6E59-E8D5-B356-6A90788D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959" y="1538957"/>
            <a:ext cx="6454699" cy="3261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3 · CÔNG THỨC &amp; TÍNH TOÁN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thức Hidden State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hợp thông tin hiện tại với ngữ cảnh quá khứ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2960" y="1783080"/>
            <a:ext cx="10515600" cy="1170432"/>
          </a:xfrm>
          <a:prstGeom prst="roundRect">
            <a:avLst>
              <a:gd name="adj" fmla="val 6250"/>
            </a:avLst>
          </a:prstGeom>
          <a:solidFill>
            <a:srgbClr val="0B1E38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1783080"/>
            <a:ext cx="73152" cy="1170432"/>
          </a:xfrm>
          <a:prstGeom prst="rect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4128" y="1892808"/>
            <a:ext cx="10241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update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9"/>
              <p:cNvSpPr/>
              <p:nvPr/>
            </p:nvSpPr>
            <p:spPr>
              <a:xfrm>
                <a:off x="1024128" y="2221992"/>
                <a:ext cx="10195560" cy="64008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1" i="0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1" i="0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2000" b="1" i="1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𝑥ℎ</m:t>
                                  </m:r>
                                </m:sub>
                              </m:sSub>
                              <m:r>
                                <a:rPr lang="en-US" sz="2000" b="1" i="0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b="1" i="1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1" i="0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ℎℎ</m:t>
                                  </m:r>
                                </m:sub>
                              </m:sSub>
                              <m:r>
                                <a:rPr lang="en-US" sz="2000" b="1" i="0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000" b="1" i="1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1" i="0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000" b="1" i="0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b="1" i="1" dirty="0">
                                      <a:solidFill>
                                        <a:srgbClr val="F2F7FF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2221992"/>
                <a:ext cx="1019556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30"/>
          <p:cNvSpPr/>
          <p:nvPr/>
        </p:nvSpPr>
        <p:spPr>
          <a:xfrm>
            <a:off x="822960" y="3703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31"/>
              <p:cNvSpPr/>
              <p:nvPr/>
            </p:nvSpPr>
            <p:spPr>
              <a:xfrm>
                <a:off x="950976" y="3886200"/>
                <a:ext cx="2148840" cy="21031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 dirty="0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𝑥ℎ</m:t>
                          </m:r>
                        </m:sub>
                      </m:sSub>
                      <m:r>
                        <a:rPr lang="en-US" sz="1200" b="1" i="0" dirty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 dirty="0">
                          <a:solidFill>
                            <a:srgbClr val="A78BF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200" b="1" i="1" dirty="0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solidFill>
                                <a:srgbClr val="A78BFA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6" y="3886200"/>
                <a:ext cx="2148840" cy="210312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32"/>
          <p:cNvSpPr/>
          <p:nvPr/>
        </p:nvSpPr>
        <p:spPr>
          <a:xfrm>
            <a:off x="987552" y="4279392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đóng góp từ input hiện tại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0" y="3703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34"/>
              <p:cNvSpPr/>
              <p:nvPr/>
            </p:nvSpPr>
            <p:spPr>
              <a:xfrm>
                <a:off x="3694176" y="3886200"/>
                <a:ext cx="2148840" cy="21031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1" i="1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1" i="1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  <m:t>ℎℎ</m:t>
                          </m:r>
                        </m:sub>
                      </m:sSub>
                      <m:r>
                        <a:rPr lang="en-US" sz="1200" b="1" i="0" dirty="0">
                          <a:solidFill>
                            <a:srgbClr val="F472B6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1" i="1" dirty="0">
                          <a:solidFill>
                            <a:srgbClr val="F472B6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1200" b="1" i="1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1" i="0" dirty="0">
                              <a:solidFill>
                                <a:srgbClr val="F472B6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176" y="3886200"/>
                <a:ext cx="2148840" cy="210312"/>
              </a:xfrm>
              <a:prstGeom prst="rect">
                <a:avLst/>
              </a:prstGeom>
              <a:blipFill>
                <a:blip r:embed="rId5"/>
                <a:stretch>
                  <a:fillRect b="-88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35"/>
          <p:cNvSpPr/>
          <p:nvPr/>
        </p:nvSpPr>
        <p:spPr>
          <a:xfrm>
            <a:off x="3730752" y="4279392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đóng góp từ quá khứ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3703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37"/>
              <p:cNvSpPr/>
              <p:nvPr/>
            </p:nvSpPr>
            <p:spPr>
              <a:xfrm>
                <a:off x="6437376" y="3886200"/>
                <a:ext cx="2148840" cy="21031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200" b="1" i="0" dirty="0">
                              <a:solidFill>
                                <a:srgbClr val="FACC1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1" i="0" dirty="0">
                              <a:solidFill>
                                <a:srgbClr val="FACC15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sz="1200" b="1" i="0" dirty="0">
                                  <a:solidFill>
                                    <a:srgbClr val="FACC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0" dirty="0">
                                  <a:solidFill>
                                    <a:srgbClr val="FACC15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9" name="Tex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376" y="3886200"/>
                <a:ext cx="2148840" cy="210312"/>
              </a:xfrm>
              <a:prstGeom prst="rect">
                <a:avLst/>
              </a:prstGeom>
              <a:blipFill>
                <a:blip r:embed="rId6"/>
                <a:stretch>
                  <a:fillRect b="-294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38"/>
          <p:cNvSpPr/>
          <p:nvPr/>
        </p:nvSpPr>
        <p:spPr>
          <a:xfrm>
            <a:off x="6473952" y="4279392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tạo phi tuyến và giới hạn giá trị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52560" y="3703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/>
              <p:cNvSpPr/>
              <p:nvPr/>
            </p:nvSpPr>
            <p:spPr>
              <a:xfrm>
                <a:off x="9180576" y="3886200"/>
                <a:ext cx="2148840" cy="21031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b="1" i="1" dirty="0" smtClean="0">
                          <a:solidFill>
                            <a:srgbClr val="14D9E5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1200" b="1" i="1" dirty="0">
                              <a:solidFill>
                                <a:srgbClr val="14D9E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dirty="0">
                              <a:solidFill>
                                <a:srgbClr val="14D9E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576" y="3886200"/>
                <a:ext cx="2148840" cy="210312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41"/>
          <p:cNvSpPr/>
          <p:nvPr/>
        </p:nvSpPr>
        <p:spPr>
          <a:xfrm>
            <a:off x="9217152" y="4279392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trạng thái ẩn mới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3 · CÔNG THỨC &amp; TÍNH TOÁN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thức Output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được tạo từ hidden state hiện tại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68680" y="178308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0B1E38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8680" y="1783080"/>
            <a:ext cx="73152" cy="1143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" y="1892808"/>
            <a:ext cx="5394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9"/>
              <p:cNvSpPr/>
              <p:nvPr/>
            </p:nvSpPr>
            <p:spPr>
              <a:xfrm>
                <a:off x="1069848" y="2221992"/>
                <a:ext cx="5349240" cy="61264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ℎ𝑦</m:t>
                          </m:r>
                        </m:sub>
                      </m:sSub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221992"/>
                <a:ext cx="5349240" cy="612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31"/>
          <p:cNvSpPr/>
          <p:nvPr/>
        </p:nvSpPr>
        <p:spPr>
          <a:xfrm>
            <a:off x="5838444" y="2539252"/>
            <a:ext cx="555955" cy="2014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39" y="3428999"/>
            <a:ext cx="5532117" cy="8778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-y(t)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thường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là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logits</a:t>
            </a:r>
          </a:p>
          <a:p>
            <a:pPr lvl="0"/>
            <a:endParaRPr lang="en-US" sz="1600" dirty="0">
              <a:solidFill>
                <a:schemeClr val="bg1"/>
              </a:solidFill>
            </a:endParaRP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-</a:t>
            </a:r>
            <a:r>
              <a:rPr lang="en-US" sz="1600" dirty="0" err="1">
                <a:solidFill>
                  <a:schemeClr val="bg1"/>
                </a:solidFill>
              </a:rPr>
              <a:t>Dùng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sigmoid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cho</a:t>
            </a:r>
            <a:r>
              <a:rPr lang="en-US" sz="1600" dirty="0">
                <a:solidFill>
                  <a:schemeClr val="bg1"/>
                </a:solidFill>
              </a:rPr>
              <a:t> binary classification, </a:t>
            </a:r>
            <a:r>
              <a:rPr lang="en-US" sz="1600" b="1" dirty="0" err="1">
                <a:solidFill>
                  <a:schemeClr val="bg1"/>
                </a:solidFill>
              </a:rPr>
              <a:t>softmax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cho</a:t>
            </a:r>
            <a:r>
              <a:rPr lang="en-US" sz="1600" dirty="0">
                <a:solidFill>
                  <a:schemeClr val="bg1"/>
                </a:solidFill>
              </a:rPr>
              <a:t> multi-class classification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3 · CÔNG THỨC &amp; TÍNH TOÁN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trò của hàm tanh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Hàm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kích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hoạt</a:t>
            </a:r>
            <a:r>
              <a:rPr lang="en-US" sz="1000" dirty="0">
                <a:solidFill>
                  <a:schemeClr val="bg1"/>
                </a:solidFill>
              </a:rPr>
              <a:t> phi </a:t>
            </a:r>
            <a:r>
              <a:rPr lang="en-US" sz="1000" dirty="0" err="1">
                <a:solidFill>
                  <a:schemeClr val="bg1"/>
                </a:solidFill>
              </a:rPr>
              <a:t>tuyến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thường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dùng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để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cập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nhật</a:t>
            </a:r>
            <a:r>
              <a:rPr lang="en-US" sz="1000" dirty="0">
                <a:solidFill>
                  <a:schemeClr val="bg1"/>
                </a:solidFill>
              </a:rPr>
              <a:t> hidden state</a:t>
            </a:r>
            <a:endParaRPr lang="en-US" sz="920" dirty="0">
              <a:solidFill>
                <a:schemeClr val="bg1"/>
              </a:solidFill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6583679" y="1920240"/>
            <a:ext cx="4924579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lvl="0"/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en-US" sz="1600" b="1" dirty="0" err="1">
                <a:solidFill>
                  <a:schemeClr val="bg1"/>
                </a:solidFill>
              </a:rPr>
              <a:t>Tạo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tính</a:t>
            </a:r>
            <a:r>
              <a:rPr lang="en-US" sz="1600" b="1" dirty="0">
                <a:solidFill>
                  <a:schemeClr val="bg1"/>
                </a:solidFill>
              </a:rPr>
              <a:t> phi </a:t>
            </a:r>
            <a:r>
              <a:rPr lang="en-US" sz="1600" b="1" dirty="0" err="1">
                <a:solidFill>
                  <a:schemeClr val="bg1"/>
                </a:solidFill>
              </a:rPr>
              <a:t>tuyến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cho</a:t>
            </a:r>
            <a:r>
              <a:rPr lang="en-US" sz="1600" dirty="0">
                <a:solidFill>
                  <a:schemeClr val="bg1"/>
                </a:solidFill>
              </a:rPr>
              <a:t> hidden state.</a:t>
            </a:r>
          </a:p>
          <a:p>
            <a:pPr lvl="0"/>
            <a:endParaRPr lang="en-US" sz="1600" dirty="0">
              <a:solidFill>
                <a:schemeClr val="bg1"/>
              </a:solidFill>
            </a:endParaRPr>
          </a:p>
          <a:p>
            <a:pPr lvl="0"/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en-US" sz="1600" b="1" dirty="0" err="1">
                <a:solidFill>
                  <a:schemeClr val="bg1"/>
                </a:solidFill>
              </a:rPr>
              <a:t>Đưa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đầu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ra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về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khoảng</a:t>
            </a:r>
            <a:r>
              <a:rPr lang="en-US" sz="1600" b="1" dirty="0">
                <a:solidFill>
                  <a:schemeClr val="bg1"/>
                </a:solidFill>
              </a:rPr>
              <a:t> (−1, 1)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US" sz="1600" dirty="0">
              <a:solidFill>
                <a:schemeClr val="bg1"/>
              </a:solidFill>
            </a:endParaRPr>
          </a:p>
          <a:p>
            <a:pPr lvl="0"/>
            <a:r>
              <a:rPr lang="en-US" sz="1600" b="1" dirty="0">
                <a:solidFill>
                  <a:schemeClr val="bg1"/>
                </a:solidFill>
              </a:rPr>
              <a:t>-Gradient </a:t>
            </a:r>
            <a:r>
              <a:rPr lang="en-US" sz="1600" b="1" dirty="0" err="1">
                <a:solidFill>
                  <a:schemeClr val="bg1"/>
                </a:solidFill>
              </a:rPr>
              <a:t>lớn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nhất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quanh</a:t>
            </a:r>
            <a:r>
              <a:rPr lang="en-US" sz="1600" b="1" dirty="0">
                <a:solidFill>
                  <a:schemeClr val="bg1"/>
                </a:solidFill>
              </a:rPr>
              <a:t> 0; ở </a:t>
            </a:r>
            <a:r>
              <a:rPr lang="en-US" sz="1600" b="1" dirty="0" err="1">
                <a:solidFill>
                  <a:schemeClr val="bg1"/>
                </a:solidFill>
              </a:rPr>
              <a:t>vùng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bão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hòa</a:t>
            </a:r>
            <a:r>
              <a:rPr lang="en-US" sz="1600" b="1" dirty="0">
                <a:solidFill>
                  <a:schemeClr val="bg1"/>
                </a:solidFill>
              </a:rPr>
              <a:t>, gradient </a:t>
            </a:r>
            <a:r>
              <a:rPr lang="en-US" sz="1600" b="1" dirty="0" err="1">
                <a:solidFill>
                  <a:schemeClr val="bg1"/>
                </a:solidFill>
              </a:rPr>
              <a:t>nhỏ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dần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6629400" y="4617720"/>
            <a:ext cx="4297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Vanilla RNN thường dùng tanh để cập nhật h(t).</a:t>
            </a:r>
            <a:endParaRPr lang="en-US" sz="1700" dirty="0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5DE4C58A-1BDF-DE35-1629-6DEED719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31135"/>
            <a:ext cx="5288046" cy="29417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3 · CÔNG THỨC &amp; TÍNH TOÁN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 dụ xử lý chuỗi từng bước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h(0)=0, mỗi bước kết hợp input mới và hidden state trước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40664" y="1851661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" y="2263139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x(1) + h(0)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281469" y="2606040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97381" y="4206241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h(1)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480560" y="18288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45152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45152" y="2239664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x(2) + h(1)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016752" y="2627046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69280" y="4206241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h(2)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229600" y="18288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94192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430769" y="2229671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x(3) + h(2)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802369" y="2537459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36609" y="4206241"/>
            <a:ext cx="731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h(3)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3977640" y="3383280"/>
            <a:ext cx="45720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726680" y="3383280"/>
            <a:ext cx="45720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4400" y="5486400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Giả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sử</a:t>
            </a:r>
            <a:r>
              <a:rPr lang="en-US" sz="1600" dirty="0">
                <a:solidFill>
                  <a:schemeClr val="bg1"/>
                </a:solidFill>
              </a:rPr>
              <a:t> h(0)=0; </a:t>
            </a:r>
            <a:r>
              <a:rPr lang="en-US" sz="1600" dirty="0" err="1">
                <a:solidFill>
                  <a:schemeClr val="bg1"/>
                </a:solidFill>
              </a:rPr>
              <a:t>tại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mỗi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bước</a:t>
            </a:r>
            <a:r>
              <a:rPr lang="en-US" sz="1600" dirty="0">
                <a:solidFill>
                  <a:schemeClr val="bg1"/>
                </a:solidFill>
              </a:rPr>
              <a:t>, RNN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hợp</a:t>
            </a:r>
            <a:r>
              <a:rPr lang="en-US" sz="1600" dirty="0">
                <a:solidFill>
                  <a:schemeClr val="bg1"/>
                </a:solidFill>
              </a:rPr>
              <a:t> input </a:t>
            </a:r>
            <a:r>
              <a:rPr lang="en-US" sz="1600" dirty="0" err="1">
                <a:solidFill>
                  <a:schemeClr val="bg1"/>
                </a:solidFill>
              </a:rPr>
              <a:t>hiện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tại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với</a:t>
            </a:r>
            <a:r>
              <a:rPr lang="en-US" sz="1600" dirty="0">
                <a:solidFill>
                  <a:schemeClr val="bg1"/>
                </a:solidFill>
              </a:rPr>
              <a:t> hidden state </a:t>
            </a:r>
            <a:r>
              <a:rPr lang="en-US" sz="1600" dirty="0" err="1">
                <a:solidFill>
                  <a:schemeClr val="bg1"/>
                </a:solidFill>
              </a:rPr>
              <a:t>trước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đó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450133-5D1E-456D-9385-EA11C0747D60}"/>
              </a:ext>
            </a:extLst>
          </p:cNvPr>
          <p:cNvSpPr txBox="1"/>
          <p:nvPr/>
        </p:nvSpPr>
        <p:spPr>
          <a:xfrm>
            <a:off x="1463041" y="3122338"/>
            <a:ext cx="16184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solidFill>
                  <a:srgbClr val="FFFF00"/>
                </a:solidFill>
                <a:latin typeface="+mj-lt"/>
              </a:rPr>
              <a:t>RNN</a:t>
            </a:r>
          </a:p>
        </p:txBody>
      </p:sp>
      <p:sp>
        <p:nvSpPr>
          <p:cNvPr id="48" name="Shape 29">
            <a:extLst>
              <a:ext uri="{FF2B5EF4-FFF2-40B4-BE49-F238E27FC236}">
                <a16:creationId xmlns:a16="http://schemas.microsoft.com/office/drawing/2014/main" id="{79D549E3-7144-A0EC-5744-C070D223E56C}"/>
              </a:ext>
            </a:extLst>
          </p:cNvPr>
          <p:cNvSpPr/>
          <p:nvPr/>
        </p:nvSpPr>
        <p:spPr>
          <a:xfrm>
            <a:off x="2281469" y="3611880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447ED9-2587-943B-C6FA-B722EBEDD0D2}"/>
              </a:ext>
            </a:extLst>
          </p:cNvPr>
          <p:cNvSpPr txBox="1"/>
          <p:nvPr/>
        </p:nvSpPr>
        <p:spPr>
          <a:xfrm>
            <a:off x="2964633" y="3122338"/>
            <a:ext cx="61042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FFF00"/>
                </a:solidFill>
                <a:latin typeface="+mj-lt"/>
              </a:rPr>
              <a:t>RNN</a:t>
            </a:r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373FD149-B312-A460-F0B4-F54EEDB4AD13}"/>
              </a:ext>
            </a:extLst>
          </p:cNvPr>
          <p:cNvSpPr/>
          <p:nvPr/>
        </p:nvSpPr>
        <p:spPr>
          <a:xfrm>
            <a:off x="6035040" y="3611880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F47658-7E9E-C87B-DAE3-56F322DC0070}"/>
              </a:ext>
            </a:extLst>
          </p:cNvPr>
          <p:cNvSpPr txBox="1"/>
          <p:nvPr/>
        </p:nvSpPr>
        <p:spPr>
          <a:xfrm>
            <a:off x="6750250" y="3088870"/>
            <a:ext cx="610423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dirty="0">
                <a:solidFill>
                  <a:srgbClr val="FFFF00"/>
                </a:solidFill>
                <a:latin typeface="+mj-lt"/>
              </a:rPr>
              <a:t>RNN</a:t>
            </a:r>
          </a:p>
        </p:txBody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55E6D45F-4F2C-F51F-85AD-DD3027FA0BDB}"/>
              </a:ext>
            </a:extLst>
          </p:cNvPr>
          <p:cNvSpPr/>
          <p:nvPr/>
        </p:nvSpPr>
        <p:spPr>
          <a:xfrm>
            <a:off x="9805830" y="3611880"/>
            <a:ext cx="0" cy="45720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79208" y="73152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4 · CÁC DẠNG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 dạng ánh xạ Input–Output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có thể được tổ chức theo nhiều dạng bài toán chuỗi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94359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>
            <a:solidFill>
              <a:srgbClr val="9EB3C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724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One-to-One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691640" y="374904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09928" y="38601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91640" y="292608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709928" y="303718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input → 1 output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204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One-to-Many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40480" y="3657600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58768" y="376870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288036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36008" y="297417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V="1">
            <a:off x="4041647" y="3108959"/>
            <a:ext cx="576071" cy="548641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20640" y="288036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38928" y="297417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 flipV="1">
            <a:off x="4274037" y="3227832"/>
            <a:ext cx="1514116" cy="680771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23560" y="288036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641848" y="297417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flipV="1">
            <a:off x="4242813" y="3182112"/>
            <a:ext cx="923541" cy="589471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0332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input → chuỗi output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73952" y="1830859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3796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Many-to-One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85800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7628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36092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7920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86384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8212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680960" y="2834640"/>
            <a:ext cx="411480" cy="4114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699248" y="294574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58368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input → 1 output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290303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41832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Many-to-Many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78408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80236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9784080" y="283464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802368" y="292845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028700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30528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287000" y="283464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305288" y="292845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0789920" y="365760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808208" y="375141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789920" y="2834640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808208" y="2928457"/>
            <a:ext cx="310896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9464040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chuỗi input → chuỗi output</a:t>
            </a:r>
            <a:endParaRPr lang="en-US" sz="85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A502FCD-3BDB-23FD-0231-626E7109602C}"/>
              </a:ext>
            </a:extLst>
          </p:cNvPr>
          <p:cNvCxnSpPr>
            <a:stCxn id="30" idx="0"/>
            <a:endCxn id="32" idx="4"/>
          </p:cNvCxnSpPr>
          <p:nvPr/>
        </p:nvCxnSpPr>
        <p:spPr>
          <a:xfrm flipV="1">
            <a:off x="1897380" y="3337560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hape 43">
            <a:extLst>
              <a:ext uri="{FF2B5EF4-FFF2-40B4-BE49-F238E27FC236}">
                <a16:creationId xmlns:a16="http://schemas.microsoft.com/office/drawing/2014/main" id="{38742E42-2B31-BC92-D669-55E1AF30C570}"/>
              </a:ext>
            </a:extLst>
          </p:cNvPr>
          <p:cNvSpPr/>
          <p:nvPr/>
        </p:nvSpPr>
        <p:spPr>
          <a:xfrm flipV="1">
            <a:off x="7046562" y="3061180"/>
            <a:ext cx="643541" cy="591709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43">
            <a:extLst>
              <a:ext uri="{FF2B5EF4-FFF2-40B4-BE49-F238E27FC236}">
                <a16:creationId xmlns:a16="http://schemas.microsoft.com/office/drawing/2014/main" id="{23D7218F-B5C1-727F-045F-206AF9AD3C04}"/>
              </a:ext>
            </a:extLst>
          </p:cNvPr>
          <p:cNvSpPr/>
          <p:nvPr/>
        </p:nvSpPr>
        <p:spPr>
          <a:xfrm flipV="1">
            <a:off x="7580377" y="3246117"/>
            <a:ext cx="228590" cy="40676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43">
            <a:extLst>
              <a:ext uri="{FF2B5EF4-FFF2-40B4-BE49-F238E27FC236}">
                <a16:creationId xmlns:a16="http://schemas.microsoft.com/office/drawing/2014/main" id="{54B14221-A32B-2E08-4034-22C6667C0E9B}"/>
              </a:ext>
            </a:extLst>
          </p:cNvPr>
          <p:cNvSpPr/>
          <p:nvPr/>
        </p:nvSpPr>
        <p:spPr>
          <a:xfrm flipV="1">
            <a:off x="8028441" y="3182112"/>
            <a:ext cx="9126" cy="47448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43">
            <a:extLst>
              <a:ext uri="{FF2B5EF4-FFF2-40B4-BE49-F238E27FC236}">
                <a16:creationId xmlns:a16="http://schemas.microsoft.com/office/drawing/2014/main" id="{0C6C1FD9-58C5-CF28-24C6-F6B4587A4A6F}"/>
              </a:ext>
            </a:extLst>
          </p:cNvPr>
          <p:cNvSpPr/>
          <p:nvPr/>
        </p:nvSpPr>
        <p:spPr>
          <a:xfrm flipV="1">
            <a:off x="9934965" y="3185497"/>
            <a:ext cx="9126" cy="47448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43">
            <a:extLst>
              <a:ext uri="{FF2B5EF4-FFF2-40B4-BE49-F238E27FC236}">
                <a16:creationId xmlns:a16="http://schemas.microsoft.com/office/drawing/2014/main" id="{996489E3-376E-D754-55E9-C87E44B18441}"/>
              </a:ext>
            </a:extLst>
          </p:cNvPr>
          <p:cNvSpPr/>
          <p:nvPr/>
        </p:nvSpPr>
        <p:spPr>
          <a:xfrm flipV="1">
            <a:off x="10460736" y="3178390"/>
            <a:ext cx="9126" cy="47448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43">
            <a:extLst>
              <a:ext uri="{FF2B5EF4-FFF2-40B4-BE49-F238E27FC236}">
                <a16:creationId xmlns:a16="http://schemas.microsoft.com/office/drawing/2014/main" id="{F454D4B1-24AA-AC8F-7A67-FB6B66DE6ED7}"/>
              </a:ext>
            </a:extLst>
          </p:cNvPr>
          <p:cNvSpPr/>
          <p:nvPr/>
        </p:nvSpPr>
        <p:spPr>
          <a:xfrm flipV="1">
            <a:off x="10929425" y="3168919"/>
            <a:ext cx="9126" cy="47448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CE7EF9F-B2AA-0787-55DE-821523CFD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9" y="2395790"/>
            <a:ext cx="2072820" cy="2263336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35DFB30-7F5C-B8E3-7BE4-B4B3D8178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653" y="2674577"/>
            <a:ext cx="2280379" cy="181245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B2B3D9FF-556E-C544-6764-C6DE2B896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402" y="2807532"/>
            <a:ext cx="2299884" cy="1471536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94D8144A-613E-6A9D-334E-B59809AD5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0576" y="2737717"/>
            <a:ext cx="2328825" cy="17953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4 · CÁC DẠNG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One-to-Many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input ban đầu tạo ra một chuỗi output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914400" y="3025118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" y="3206169"/>
            <a:ext cx="51206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08760" y="3309354"/>
            <a:ext cx="768096" cy="991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0" y="29718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22576" y="3099816"/>
            <a:ext cx="8869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514600" y="196596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32888" y="20894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y(1)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794760" y="29718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31336" y="3099816"/>
            <a:ext cx="8869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6120" y="3319272"/>
            <a:ext cx="54864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023360" y="196596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41648" y="20894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y(2)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303520" y="29718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40096" y="3099816"/>
            <a:ext cx="8869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754880" y="3319272"/>
            <a:ext cx="54864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32120" y="196596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50408" y="20894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y(3)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12280" y="297180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48856" y="3099816"/>
            <a:ext cx="8869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63640" y="3319272"/>
            <a:ext cx="54864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40880" y="196596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59168" y="2089404"/>
            <a:ext cx="4206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y(4)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686800" y="210312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9154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 dụ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00684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Sinh chuỗi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caption / text / music</a:t>
            </a:r>
            <a:endParaRPr lang="en-US" sz="1600" dirty="0"/>
          </a:p>
        </p:txBody>
      </p:sp>
      <p:sp>
        <p:nvSpPr>
          <p:cNvPr id="58" name="Shape 36">
            <a:extLst>
              <a:ext uri="{FF2B5EF4-FFF2-40B4-BE49-F238E27FC236}">
                <a16:creationId xmlns:a16="http://schemas.microsoft.com/office/drawing/2014/main" id="{63D787BB-9725-4CAA-36A5-DD34F8B258A8}"/>
              </a:ext>
            </a:extLst>
          </p:cNvPr>
          <p:cNvSpPr/>
          <p:nvPr/>
        </p:nvSpPr>
        <p:spPr>
          <a:xfrm flipV="1">
            <a:off x="2742376" y="2400299"/>
            <a:ext cx="0" cy="562358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5B419349-2703-F61C-FDC2-E2665C428837}"/>
              </a:ext>
            </a:extLst>
          </p:cNvPr>
          <p:cNvSpPr/>
          <p:nvPr/>
        </p:nvSpPr>
        <p:spPr>
          <a:xfrm flipV="1">
            <a:off x="4270495" y="2423160"/>
            <a:ext cx="0" cy="562358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AEFCC668-E56D-68CE-5470-6740A29A2D69}"/>
              </a:ext>
            </a:extLst>
          </p:cNvPr>
          <p:cNvSpPr/>
          <p:nvPr/>
        </p:nvSpPr>
        <p:spPr>
          <a:xfrm flipV="1">
            <a:off x="5769781" y="2423160"/>
            <a:ext cx="0" cy="562358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36">
            <a:extLst>
              <a:ext uri="{FF2B5EF4-FFF2-40B4-BE49-F238E27FC236}">
                <a16:creationId xmlns:a16="http://schemas.microsoft.com/office/drawing/2014/main" id="{6EEBCF89-FAA1-66E0-81B3-F48B9B77050D}"/>
              </a:ext>
            </a:extLst>
          </p:cNvPr>
          <p:cNvSpPr/>
          <p:nvPr/>
        </p:nvSpPr>
        <p:spPr>
          <a:xfrm flipV="1">
            <a:off x="7252592" y="2400299"/>
            <a:ext cx="0" cy="562358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4 · CÁC DẠNG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Many-to-One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Một chuỗi input tạo ra một output duy nhất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22960" y="41605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1248" y="4338279"/>
            <a:ext cx="621792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Bộ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" y="305409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240280" y="41605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58568" y="4338279"/>
            <a:ext cx="621792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phim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103120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39696" y="305409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600200" y="3273552"/>
            <a:ext cx="5029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0" y="41605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75888" y="4338279"/>
            <a:ext cx="621792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rất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3520440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57016" y="305409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017520" y="3273552"/>
            <a:ext cx="5029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74920" y="41605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93208" y="4338279"/>
            <a:ext cx="621792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hay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937760" y="292608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74336" y="305409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34840" y="3273552"/>
            <a:ext cx="5029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852160" y="3273552"/>
            <a:ext cx="150876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60920" y="27432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0780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1005840" y="5303520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</a:t>
            </a:r>
            <a:r>
              <a:rPr lang="en-US" sz="14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400" dirty="0" err="1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dụng</a:t>
            </a:r>
            <a:r>
              <a:rPr lang="en-US" sz="14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Sentiment Analysis · Text Classification · Intent Classification</a:t>
            </a:r>
            <a:endParaRPr lang="en-US" sz="1400" dirty="0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6D54F850-50B8-6E10-A9BB-50C32A706F38}"/>
              </a:ext>
            </a:extLst>
          </p:cNvPr>
          <p:cNvSpPr/>
          <p:nvPr/>
        </p:nvSpPr>
        <p:spPr>
          <a:xfrm flipV="1">
            <a:off x="1156590" y="3607308"/>
            <a:ext cx="2" cy="55320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36">
            <a:extLst>
              <a:ext uri="{FF2B5EF4-FFF2-40B4-BE49-F238E27FC236}">
                <a16:creationId xmlns:a16="http://schemas.microsoft.com/office/drawing/2014/main" id="{640D37DC-0680-26F1-45E7-F4FE23E9777C}"/>
              </a:ext>
            </a:extLst>
          </p:cNvPr>
          <p:cNvSpPr/>
          <p:nvPr/>
        </p:nvSpPr>
        <p:spPr>
          <a:xfrm flipV="1">
            <a:off x="2544869" y="3611880"/>
            <a:ext cx="2" cy="55320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36">
            <a:extLst>
              <a:ext uri="{FF2B5EF4-FFF2-40B4-BE49-F238E27FC236}">
                <a16:creationId xmlns:a16="http://schemas.microsoft.com/office/drawing/2014/main" id="{165EFEFE-D68F-1A0E-256B-4E56E9FE076C}"/>
              </a:ext>
            </a:extLst>
          </p:cNvPr>
          <p:cNvSpPr/>
          <p:nvPr/>
        </p:nvSpPr>
        <p:spPr>
          <a:xfrm flipV="1">
            <a:off x="3969484" y="3599259"/>
            <a:ext cx="2" cy="55320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36">
            <a:extLst>
              <a:ext uri="{FF2B5EF4-FFF2-40B4-BE49-F238E27FC236}">
                <a16:creationId xmlns:a16="http://schemas.microsoft.com/office/drawing/2014/main" id="{046488A5-C29F-C7D0-4219-E3C648D19A44}"/>
              </a:ext>
            </a:extLst>
          </p:cNvPr>
          <p:cNvSpPr/>
          <p:nvPr/>
        </p:nvSpPr>
        <p:spPr>
          <a:xfrm flipV="1">
            <a:off x="5394958" y="3627336"/>
            <a:ext cx="2" cy="553207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4 · CÁC DẠNG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Many-to-Many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chemeClr val="bg1"/>
                </a:solidFill>
              </a:rPr>
              <a:t>Mỗi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phần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tử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trong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chuỗi</a:t>
            </a:r>
            <a:r>
              <a:rPr lang="en-US" sz="1000" dirty="0">
                <a:solidFill>
                  <a:schemeClr val="bg1"/>
                </a:solidFill>
              </a:rPr>
              <a:t> input </a:t>
            </a:r>
            <a:r>
              <a:rPr lang="en-US" sz="1000" dirty="0" err="1">
                <a:solidFill>
                  <a:schemeClr val="bg1"/>
                </a:solidFill>
              </a:rPr>
              <a:t>tạo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một</a:t>
            </a:r>
            <a:r>
              <a:rPr lang="en-US" sz="1000" dirty="0">
                <a:solidFill>
                  <a:schemeClr val="bg1"/>
                </a:solidFill>
              </a:rPr>
              <a:t> output </a:t>
            </a:r>
            <a:r>
              <a:rPr lang="en-US" sz="1000" dirty="0" err="1">
                <a:solidFill>
                  <a:schemeClr val="bg1"/>
                </a:solidFill>
              </a:rPr>
              <a:t>tương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ứng</a:t>
            </a:r>
            <a:r>
              <a:rPr lang="en-US" sz="1000" dirty="0">
                <a:solidFill>
                  <a:schemeClr val="bg1"/>
                </a:solidFill>
              </a:rPr>
              <a:t>.</a:t>
            </a:r>
            <a:endParaRPr lang="en-US" sz="92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14400" y="4343400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" y="4511284"/>
            <a:ext cx="585216" cy="21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Tôi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49808" y="29718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" y="3099816"/>
            <a:ext cx="932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6968" y="2034997"/>
            <a:ext cx="55778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651760" y="4343400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70048" y="4511284"/>
            <a:ext cx="585216" cy="21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đang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487168" y="29718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523744" y="3099816"/>
            <a:ext cx="932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606040" y="1874520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24328" y="2034997"/>
            <a:ext cx="55778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755648" y="3310128"/>
            <a:ext cx="7315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89120" y="4343400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407408" y="4511284"/>
            <a:ext cx="585216" cy="21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học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224528" y="29718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61104" y="3099816"/>
            <a:ext cx="932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43400" y="1874520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61688" y="2034997"/>
            <a:ext cx="55778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VERB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493008" y="3310128"/>
            <a:ext cx="7315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26480" y="4343400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44768" y="4511284"/>
            <a:ext cx="585216" cy="21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961888" y="29718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98464" y="3099816"/>
            <a:ext cx="9326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080760" y="1874520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99048" y="2034997"/>
            <a:ext cx="55778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NOUN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230368" y="3310128"/>
            <a:ext cx="73152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95360" y="23317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823960" y="260604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Ví dụ phù hợp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86968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-Sequence Labeling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-POS Tagging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F4699D46-F936-0B8B-8D5A-05286220A893}"/>
              </a:ext>
            </a:extLst>
          </p:cNvPr>
          <p:cNvSpPr/>
          <p:nvPr/>
        </p:nvSpPr>
        <p:spPr>
          <a:xfrm flipV="1">
            <a:off x="1176528" y="3657600"/>
            <a:ext cx="0" cy="67196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42">
            <a:extLst>
              <a:ext uri="{FF2B5EF4-FFF2-40B4-BE49-F238E27FC236}">
                <a16:creationId xmlns:a16="http://schemas.microsoft.com/office/drawing/2014/main" id="{DF1F0D4B-976A-891E-22D0-57F95294518D}"/>
              </a:ext>
            </a:extLst>
          </p:cNvPr>
          <p:cNvSpPr/>
          <p:nvPr/>
        </p:nvSpPr>
        <p:spPr>
          <a:xfrm flipV="1">
            <a:off x="2960020" y="3657600"/>
            <a:ext cx="0" cy="67196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332EF5F8-249F-CB1E-3687-9F37B8D2124F}"/>
              </a:ext>
            </a:extLst>
          </p:cNvPr>
          <p:cNvSpPr/>
          <p:nvPr/>
        </p:nvSpPr>
        <p:spPr>
          <a:xfrm flipV="1">
            <a:off x="4709160" y="3657600"/>
            <a:ext cx="0" cy="67196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42">
            <a:extLst>
              <a:ext uri="{FF2B5EF4-FFF2-40B4-BE49-F238E27FC236}">
                <a16:creationId xmlns:a16="http://schemas.microsoft.com/office/drawing/2014/main" id="{31D42AB9-F59C-3601-9A72-FFC82EBF3F4A}"/>
              </a:ext>
            </a:extLst>
          </p:cNvPr>
          <p:cNvSpPr/>
          <p:nvPr/>
        </p:nvSpPr>
        <p:spPr>
          <a:xfrm flipV="1">
            <a:off x="6428150" y="3671440"/>
            <a:ext cx="0" cy="67196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35D7893E-FFA5-FBA2-294B-9D7604772A7B}"/>
              </a:ext>
            </a:extLst>
          </p:cNvPr>
          <p:cNvSpPr/>
          <p:nvPr/>
        </p:nvSpPr>
        <p:spPr>
          <a:xfrm flipV="1">
            <a:off x="1176528" y="2468880"/>
            <a:ext cx="0" cy="50292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42">
            <a:extLst>
              <a:ext uri="{FF2B5EF4-FFF2-40B4-BE49-F238E27FC236}">
                <a16:creationId xmlns:a16="http://schemas.microsoft.com/office/drawing/2014/main" id="{D1A0EED0-F1AE-C4D5-A109-624513664402}"/>
              </a:ext>
            </a:extLst>
          </p:cNvPr>
          <p:cNvSpPr/>
          <p:nvPr/>
        </p:nvSpPr>
        <p:spPr>
          <a:xfrm flipV="1">
            <a:off x="2902355" y="2468880"/>
            <a:ext cx="0" cy="50292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42">
            <a:extLst>
              <a:ext uri="{FF2B5EF4-FFF2-40B4-BE49-F238E27FC236}">
                <a16:creationId xmlns:a16="http://schemas.microsoft.com/office/drawing/2014/main" id="{6EDE5396-6EE6-457D-6A29-DF8A33907CBD}"/>
              </a:ext>
            </a:extLst>
          </p:cNvPr>
          <p:cNvSpPr/>
          <p:nvPr/>
        </p:nvSpPr>
        <p:spPr>
          <a:xfrm flipV="1">
            <a:off x="4582874" y="2468880"/>
            <a:ext cx="0" cy="50292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42">
            <a:extLst>
              <a:ext uri="{FF2B5EF4-FFF2-40B4-BE49-F238E27FC236}">
                <a16:creationId xmlns:a16="http://schemas.microsoft.com/office/drawing/2014/main" id="{63D23881-8F8A-E5C8-DD61-8DEA2DEA7850}"/>
              </a:ext>
            </a:extLst>
          </p:cNvPr>
          <p:cNvSpPr/>
          <p:nvPr/>
        </p:nvSpPr>
        <p:spPr>
          <a:xfrm flipV="1">
            <a:off x="6309360" y="2468880"/>
            <a:ext cx="0" cy="50292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5 · HUẤN LUYỆN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được huấn luyện như thế nào?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→ Loss → BPTT → Update weights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85800" y="2743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2999232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86584" y="3218688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0" y="2743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0" y="2999232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 time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26864" y="3218688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66360" y="2743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57800" y="2809103"/>
            <a:ext cx="1508760" cy="8027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  <a:latin typeface="+mj-lt"/>
                <a:ea typeface="Montserrat" pitchFamily="34" charset="-122"/>
                <a:cs typeface="Montserrat" pitchFamily="34" charset="-120"/>
              </a:rPr>
              <a:t>-Prediction</a:t>
            </a:r>
          </a:p>
          <a:p>
            <a:pPr algn="ctr"/>
            <a:r>
              <a:rPr lang="en-US" sz="1300" b="1" dirty="0">
                <a:solidFill>
                  <a:schemeClr val="accent6"/>
                </a:solidFill>
                <a:latin typeface="+mj-lt"/>
              </a:rPr>
              <a:t>-Compute Loss</a:t>
            </a:r>
          </a:p>
          <a:p>
            <a:pPr marL="0" indent="0" algn="ctr">
              <a:buNone/>
            </a:pPr>
            <a:endParaRPr lang="en-US" sz="13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67144" y="3218688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06640" y="2743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2999232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BPTT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07424" y="3218688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46920" y="27432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0A1D3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738360" y="2999232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accent4"/>
                </a:solidFill>
                <a:latin typeface="+mj-lt"/>
              </a:rPr>
              <a:t>Update shared weights</a:t>
            </a:r>
            <a:endParaRPr lang="en-US" sz="1300" b="1" dirty="0">
              <a:solidFill>
                <a:schemeClr val="accent4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/>
              <p:cNvSpPr/>
              <p:nvPr/>
            </p:nvSpPr>
            <p:spPr>
              <a:xfrm>
                <a:off x="1097280" y="5074920"/>
                <a:ext cx="9875520" cy="30175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Các shared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𝑥ℎ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𝒉𝒉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𝒉𝒚</m:t>
                        </m:r>
                      </m:sub>
                    </m:sSub>
                    <m:r>
                      <a:rPr lang="en-US" b="1" i="1" dirty="0">
                        <a:solidFill>
                          <a:srgbClr val="A78BF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được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cập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nhật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lặp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lại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qua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nhiều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batch </a:t>
                </a:r>
                <a:r>
                  <a:rPr lang="en-US" dirty="0" err="1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và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Cambria Math" panose="02040503050406030204" pitchFamily="18" charset="0"/>
                  </a:rPr>
                  <a:t> epoch</a:t>
                </a:r>
                <a:r>
                  <a:rPr lang="en-US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US" sz="15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5074920"/>
                <a:ext cx="9875520" cy="301752"/>
              </a:xfrm>
              <a:prstGeom prst="rect">
                <a:avLst/>
              </a:prstGeom>
              <a:blipFill>
                <a:blip r:embed="rId3"/>
                <a:stretch>
                  <a:fillRect t="-28571" b="-4081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30250" y="91440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5 · HUẤN LUYỆN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Propagation Through Time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h(t) và y(t) tuần tự từ trái sang phải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20040" y="3072750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h(0)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914400" y="4983480"/>
            <a:ext cx="905256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966960" y="4983480"/>
            <a:ext cx="64008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0" y="5166360"/>
            <a:ext cx="3840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 DIRECTION: t = 1 → T</a:t>
            </a:r>
            <a:endParaRPr lang="en-US" sz="1300" dirty="0"/>
          </a:p>
        </p:txBody>
      </p:sp>
      <p:pic>
        <p:nvPicPr>
          <p:cNvPr id="70" name="Hình ảnh 69">
            <a:extLst>
              <a:ext uri="{FF2B5EF4-FFF2-40B4-BE49-F238E27FC236}">
                <a16:creationId xmlns:a16="http://schemas.microsoft.com/office/drawing/2014/main" id="{F5547F11-3AB0-71B7-01FD-2BBCD4A5B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480555"/>
            <a:ext cx="4313220" cy="33200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Hộp Văn bản 70">
                <a:extLst>
                  <a:ext uri="{FF2B5EF4-FFF2-40B4-BE49-F238E27FC236}">
                    <a16:creationId xmlns:a16="http://schemas.microsoft.com/office/drawing/2014/main" id="{575D7BB0-627D-8017-739B-C1434C0AE72C}"/>
                  </a:ext>
                </a:extLst>
              </p:cNvPr>
              <p:cNvSpPr txBox="1"/>
              <p:nvPr/>
            </p:nvSpPr>
            <p:spPr>
              <a:xfrm>
                <a:off x="5072172" y="1571715"/>
                <a:ext cx="6528318" cy="3592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1600" b="1" dirty="0" err="1">
                    <a:solidFill>
                      <a:schemeClr val="bg1"/>
                    </a:solidFill>
                  </a:rPr>
                  <a:t>Đầu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vào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&amp;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Trạng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thái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Tại</a:t>
                </a:r>
                <a:r>
                  <a:rPr lang="en-US" sz="1600" dirty="0">
                    <a:solidFill>
                      <a:schemeClr val="bg1"/>
                    </a:solidFill>
                  </a:rPr>
                  <a:t> time step </a:t>
                </a:r>
                <a:r>
                  <a:rPr lang="en-US" sz="1600" i="1" dirty="0">
                    <a:solidFill>
                      <a:schemeClr val="bg1"/>
                    </a:solidFill>
                  </a:rPr>
                  <a:t>t</a:t>
                </a:r>
                <a:r>
                  <a:rPr lang="en-US" sz="1600" dirty="0">
                    <a:solidFill>
                      <a:schemeClr val="bg1"/>
                    </a:solidFill>
                  </a:rPr>
                  <a:t>, cell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nhận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đầu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vào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hiện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tại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x</a:t>
                </a:r>
                <a:r>
                  <a:rPr lang="en-US" sz="1600" baseline="30000" dirty="0" err="1">
                    <a:solidFill>
                      <a:schemeClr val="bg1"/>
                    </a:solidFill>
                  </a:rPr>
                  <a:t>t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và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trạng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thái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ẩn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bước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trước</a:t>
                </a:r>
                <a:r>
                  <a:rPr lang="en-US" sz="1600" dirty="0">
                    <a:solidFill>
                      <a:schemeClr val="bg1"/>
                    </a:solidFill>
                  </a:rPr>
                  <a:t> h</a:t>
                </a:r>
                <a:r>
                  <a:rPr lang="en-US" sz="1600" baseline="30000" dirty="0">
                    <a:solidFill>
                      <a:schemeClr val="bg1"/>
                    </a:solidFill>
                  </a:rPr>
                  <a:t>t-1</a:t>
                </a:r>
                <a:r>
                  <a:rPr lang="en-US" sz="1600" dirty="0">
                    <a:solidFill>
                      <a:schemeClr val="bg1"/>
                    </a:solidFill>
                  </a:rPr>
                  <a:t> (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với</a:t>
                </a:r>
                <a:r>
                  <a:rPr lang="en-US" sz="1600" dirty="0">
                    <a:solidFill>
                      <a:schemeClr val="bg1"/>
                    </a:solidFill>
                  </a:rPr>
                  <a:t> h</a:t>
                </a:r>
                <a:r>
                  <a:rPr lang="en-US" sz="1600" baseline="30000" dirty="0">
                    <a:solidFill>
                      <a:schemeClr val="bg1"/>
                    </a:solidFill>
                  </a:rPr>
                  <a:t>0 </a:t>
                </a:r>
                <a:r>
                  <a:rPr lang="en-US" sz="1600" dirty="0">
                    <a:solidFill>
                      <a:schemeClr val="bg1"/>
                    </a:solidFill>
                  </a:rPr>
                  <a:t>=0) </a:t>
                </a:r>
              </a:p>
              <a:p>
                <a:pPr lvl="0"/>
                <a:endParaRPr lang="en-US" sz="1600" dirty="0">
                  <a:solidFill>
                    <a:schemeClr val="bg1"/>
                  </a:solidFill>
                </a:endParaRPr>
              </a:p>
              <a:p>
                <a:pPr lvl="0"/>
                <a:endParaRPr lang="en-US" sz="1600" dirty="0"/>
              </a:p>
              <a:p>
                <a:pPr lvl="0"/>
                <a:r>
                  <a:rPr lang="en-US" sz="1600" b="1" dirty="0">
                    <a:solidFill>
                      <a:schemeClr val="bg1"/>
                    </a:solidFill>
                  </a:rPr>
                  <a:t>Công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thức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Hidden State: </a:t>
                </a:r>
              </a:p>
              <a:p>
                <a:pPr lvl="0"/>
                <a:r>
                  <a:rPr lang="en-US" sz="1600" b="1" dirty="0">
                    <a:solidFill>
                      <a:schemeClr val="bg1"/>
                    </a:solidFill>
                  </a:rPr>
                  <a:t>	</a:t>
                </a:r>
                <a:r>
                  <a:rPr lang="en-US" sz="1600" dirty="0">
                    <a:solidFill>
                      <a:schemeClr val="bg1"/>
                    </a:solidFill>
                  </a:rPr>
                  <a:t>h⁽ᵗ⁾ = tanh(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W_xh</a:t>
                </a:r>
                <a:r>
                  <a:rPr lang="en-US" sz="1600" dirty="0">
                    <a:solidFill>
                      <a:schemeClr val="bg1"/>
                    </a:solidFill>
                  </a:rPr>
                  <a:t> · x⁽ᵗ⁾ +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W_hh</a:t>
                </a:r>
                <a:r>
                  <a:rPr lang="en-US" sz="1600" dirty="0">
                    <a:solidFill>
                      <a:schemeClr val="bg1"/>
                    </a:solidFill>
                  </a:rPr>
                  <a:t> · h⁽ᵗ⁻¹⁾ +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b_h</a:t>
                </a:r>
                <a:r>
                  <a:rPr lang="en-US" sz="1600" dirty="0">
                    <a:solidFill>
                      <a:schemeClr val="bg1"/>
                    </a:solidFill>
                  </a:rPr>
                  <a:t>)</a:t>
                </a:r>
                <a:r>
                  <a:rPr lang="en-US" sz="1600" dirty="0"/>
                  <a:t>)</a:t>
                </a:r>
              </a:p>
              <a:p>
                <a:pPr lvl="0"/>
                <a:endParaRPr lang="en-US" sz="1600" dirty="0"/>
              </a:p>
              <a:p>
                <a:pPr lvl="0"/>
                <a:r>
                  <a:rPr lang="en-US" sz="1600" b="1" dirty="0">
                    <a:solidFill>
                      <a:schemeClr val="bg1"/>
                    </a:solidFill>
                  </a:rPr>
                  <a:t>Công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thức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Output:</a:t>
                </a:r>
              </a:p>
              <a:p>
                <a:pPr lvl="0"/>
                <a:r>
                  <a:rPr lang="en-US" sz="1600" dirty="0">
                    <a:solidFill>
                      <a:schemeClr val="bg1"/>
                    </a:solidFill>
                  </a:rPr>
                  <a:t> y⁽ᵗ⁾ =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W_hy</a:t>
                </a:r>
                <a:r>
                  <a:rPr lang="en-US" sz="1600" dirty="0">
                    <a:solidFill>
                      <a:schemeClr val="bg1"/>
                    </a:solidFill>
                  </a:rPr>
                  <a:t> · h⁽ᵗ⁾ +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b_y</a:t>
                </a:r>
                <a:endParaRPr lang="en-US" sz="1600" dirty="0">
                  <a:solidFill>
                    <a:schemeClr val="bg1"/>
                  </a:solidFill>
                </a:endParaRPr>
              </a:p>
              <a:p>
                <a:pPr lvl="0"/>
                <a:endParaRPr lang="en-US" sz="1600" b="1" dirty="0">
                  <a:solidFill>
                    <a:schemeClr val="bg1"/>
                  </a:solidFill>
                </a:endParaRPr>
              </a:p>
              <a:p>
                <a:pPr lvl="0"/>
                <a:r>
                  <a:rPr lang="en-US" sz="1600" b="1" dirty="0" err="1">
                    <a:solidFill>
                      <a:schemeClr val="bg1"/>
                    </a:solidFill>
                  </a:rPr>
                  <a:t>Điểm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cốt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lõi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r>
                  <a:rPr lang="en-US" sz="1600" dirty="0">
                    <a:solidFill>
                      <a:schemeClr val="bg1"/>
                    </a:solidFill>
                  </a:rPr>
                  <a:t> Các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bộ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trọng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số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𝑥ℎ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ℎℎ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ℎ𝑦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được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chia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sẻ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 (shared weights)</a:t>
                </a:r>
                <a:r>
                  <a:rPr lang="en-US" sz="1600" dirty="0">
                    <a:solidFill>
                      <a:schemeClr val="bg1"/>
                    </a:solidFill>
                  </a:rPr>
                  <a:t> ở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tất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cả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các</a:t>
                </a:r>
                <a:r>
                  <a:rPr lang="en-US" sz="1600" dirty="0">
                    <a:solidFill>
                      <a:schemeClr val="bg1"/>
                    </a:solidFill>
                  </a:rPr>
                  <a:t> time step,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giúp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mô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hình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tiết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kiệm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tham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số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và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xử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lý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chuỗi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có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độ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dài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linh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hoạt</a:t>
                </a:r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Hộp Văn bản 70">
                <a:extLst>
                  <a:ext uri="{FF2B5EF4-FFF2-40B4-BE49-F238E27FC236}">
                    <a16:creationId xmlns:a16="http://schemas.microsoft.com/office/drawing/2014/main" id="{575D7BB0-627D-8017-739B-C1434C0AE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172" y="1571715"/>
                <a:ext cx="6528318" cy="3592137"/>
              </a:xfrm>
              <a:prstGeom prst="rect">
                <a:avLst/>
              </a:prstGeom>
              <a:blipFill>
                <a:blip r:embed="rId4"/>
                <a:stretch>
                  <a:fillRect l="-467" t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Hình ảnh 78">
            <a:extLst>
              <a:ext uri="{FF2B5EF4-FFF2-40B4-BE49-F238E27FC236}">
                <a16:creationId xmlns:a16="http://schemas.microsoft.com/office/drawing/2014/main" id="{3AB891AC-6B52-943B-5A1D-0F46F31D5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3" y="2019075"/>
            <a:ext cx="5243014" cy="259864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47273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706728" y="3731895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7595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5 · HUẤN LUYỆN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75691" y="6863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Backpropagation Through Time (BPTT)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39496" y="1372163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được truyền ngược qua các time step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20040" y="3027030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914400" y="4892040"/>
            <a:ext cx="9372600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188720" y="5120640"/>
            <a:ext cx="3200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Forward: tính h(t), y(t)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00800" y="5614416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Backward: ∂L/∂W truyền ngược thời gian</a:t>
            </a:r>
            <a:endParaRPr lang="en-US" sz="1100" dirty="0"/>
          </a:p>
        </p:txBody>
      </p:sp>
      <p:pic>
        <p:nvPicPr>
          <p:cNvPr id="76" name="Đồ họa 75" descr="8.7. Backpropagation qua thời gian — Đắm mình vào Học Sâu 0.17.5  documentation">
            <a:extLst>
              <a:ext uri="{FF2B5EF4-FFF2-40B4-BE49-F238E27FC236}">
                <a16:creationId xmlns:a16="http://schemas.microsoft.com/office/drawing/2014/main" id="{BC1FE226-9A9F-BD22-5EC0-9784E157A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376" y="2286000"/>
            <a:ext cx="4810125" cy="2095500"/>
          </a:xfrm>
          <a:prstGeom prst="rect">
            <a:avLst/>
          </a:prstGeom>
        </p:spPr>
      </p:pic>
      <p:sp>
        <p:nvSpPr>
          <p:cNvPr id="81" name="Hộp Văn bản 80">
            <a:extLst>
              <a:ext uri="{FF2B5EF4-FFF2-40B4-BE49-F238E27FC236}">
                <a16:creationId xmlns:a16="http://schemas.microsoft.com/office/drawing/2014/main" id="{935FF344-6C5C-DAE7-DEFC-7E5A34261C20}"/>
              </a:ext>
            </a:extLst>
          </p:cNvPr>
          <p:cNvSpPr txBox="1"/>
          <p:nvPr/>
        </p:nvSpPr>
        <p:spPr>
          <a:xfrm>
            <a:off x="6227370" y="2360475"/>
            <a:ext cx="52557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BPTT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thuật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đạo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hàm</a:t>
            </a:r>
            <a:r>
              <a:rPr lang="en-US" dirty="0">
                <a:solidFill>
                  <a:schemeClr val="bg1"/>
                </a:solidFill>
              </a:rPr>
              <a:t> (gradient) </a:t>
            </a:r>
            <a:r>
              <a:rPr lang="en-US" dirty="0" err="1">
                <a:solidFill>
                  <a:schemeClr val="bg1"/>
                </a:solidFill>
              </a:rPr>
              <a:t>áp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dụng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tắc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chuỗi</a:t>
            </a:r>
            <a:r>
              <a:rPr lang="en-US" dirty="0">
                <a:solidFill>
                  <a:schemeClr val="bg1"/>
                </a:solidFill>
              </a:rPr>
              <a:t> (chain rule)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đồ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toán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cuộn</a:t>
            </a:r>
            <a:r>
              <a:rPr lang="en-US" dirty="0">
                <a:solidFill>
                  <a:schemeClr val="bg1"/>
                </a:solidFill>
              </a:rPr>
              <a:t> (unroll) </a:t>
            </a:r>
            <a:r>
              <a:rPr lang="en-US" dirty="0" err="1">
                <a:solidFill>
                  <a:schemeClr val="bg1"/>
                </a:solidFill>
              </a:rPr>
              <a:t>theo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gian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Forward Pass </a:t>
            </a:r>
            <a:r>
              <a:rPr lang="en-US" dirty="0" err="1">
                <a:solidFill>
                  <a:schemeClr val="bg1"/>
                </a:solidFill>
              </a:rPr>
              <a:t>đi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$t = 1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T,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BPTT </a:t>
            </a:r>
            <a:r>
              <a:rPr lang="en-US" dirty="0" err="1">
                <a:solidFill>
                  <a:schemeClr val="bg1"/>
                </a:solidFill>
              </a:rPr>
              <a:t>sẽ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truyền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lỗi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t = T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1"/>
                </a:solidFill>
              </a:rPr>
              <a:t>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5 · HUẤN LUYỆN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Các bước chính của BPTT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Unroll → tính loss → truyền gradient → cập nhật shared weights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280160" y="201168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98448" y="2147468"/>
            <a:ext cx="46634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27432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552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</a:rPr>
              <a:t>Unroll RNN </a:t>
            </a:r>
            <a:r>
              <a:rPr lang="en-US" sz="1300" b="1" dirty="0" err="1">
                <a:solidFill>
                  <a:schemeClr val="bg1"/>
                </a:solidFill>
              </a:rPr>
              <a:t>theo</a:t>
            </a:r>
            <a:r>
              <a:rPr lang="en-US" sz="1300" b="1" dirty="0">
                <a:solidFill>
                  <a:schemeClr val="bg1"/>
                </a:solidFill>
              </a:rPr>
              <a:t> time steps</a:t>
            </a:r>
          </a:p>
        </p:txBody>
      </p:sp>
      <p:sp>
        <p:nvSpPr>
          <p:cNvPr id="32" name="Shape 30"/>
          <p:cNvSpPr/>
          <p:nvPr/>
        </p:nvSpPr>
        <p:spPr>
          <a:xfrm>
            <a:off x="2386584" y="3383280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20440" y="201168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38728" y="2147468"/>
            <a:ext cx="46634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0" y="27432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3580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Loss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26864" y="3383280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760720" y="2011680"/>
            <a:ext cx="502920" cy="5029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79008" y="2147468"/>
            <a:ext cx="46634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27432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7608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Lan </a:t>
            </a:r>
            <a:r>
              <a:rPr lang="en-US" sz="1400" b="1" dirty="0" err="1">
                <a:solidFill>
                  <a:schemeClr val="bg1"/>
                </a:solidFill>
              </a:rPr>
              <a:t>truyền</a:t>
            </a:r>
            <a:r>
              <a:rPr lang="en-US" sz="1400" b="1" dirty="0">
                <a:solidFill>
                  <a:schemeClr val="bg1"/>
                </a:solidFill>
              </a:rPr>
              <a:t> gradient </a:t>
            </a:r>
            <a:r>
              <a:rPr lang="en-US" sz="1400" b="1" dirty="0" err="1">
                <a:solidFill>
                  <a:schemeClr val="bg1"/>
                </a:solidFill>
              </a:rPr>
              <a:t>ngược</a:t>
            </a:r>
            <a:r>
              <a:rPr lang="en-US" sz="1400" b="1" dirty="0">
                <a:solidFill>
                  <a:schemeClr val="bg1"/>
                </a:solidFill>
              </a:rPr>
              <a:t> qua time steps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867144" y="3383280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001000" y="2011680"/>
            <a:ext cx="502920" cy="502920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19288" y="2147468"/>
            <a:ext cx="46634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06640" y="27432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1636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Tích lũy gradient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107424" y="3383280"/>
            <a:ext cx="521208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241280" y="2011680"/>
            <a:ext cx="502920" cy="50292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259568" y="2147468"/>
            <a:ext cx="46634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646920" y="2743200"/>
            <a:ext cx="1691640" cy="1280160"/>
          </a:xfrm>
          <a:prstGeom prst="roundRect">
            <a:avLst>
              <a:gd name="adj" fmla="val 5714"/>
            </a:avLst>
          </a:prstGeom>
          <a:solidFill>
            <a:srgbClr val="0A1D3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75664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</a:rPr>
              <a:t>Cập</a:t>
            </a:r>
            <a:r>
              <a:rPr lang="en-US" sz="1300" b="1" dirty="0">
                <a:solidFill>
                  <a:schemeClr val="bg1"/>
                </a:solidFill>
              </a:rPr>
              <a:t> </a:t>
            </a:r>
            <a:r>
              <a:rPr lang="en-US" sz="1300" b="1" dirty="0" err="1">
                <a:solidFill>
                  <a:schemeClr val="bg1"/>
                </a:solidFill>
              </a:rPr>
              <a:t>nhật</a:t>
            </a:r>
            <a:r>
              <a:rPr lang="en-US" sz="1300" b="1" dirty="0">
                <a:solidFill>
                  <a:schemeClr val="bg1"/>
                </a:solidFill>
              </a:rPr>
              <a:t> shared weights</a:t>
            </a:r>
          </a:p>
        </p:txBody>
      </p:sp>
      <p:sp>
        <p:nvSpPr>
          <p:cNvPr id="52" name="Text 50"/>
          <p:cNvSpPr/>
          <p:nvPr/>
        </p:nvSpPr>
        <p:spPr>
          <a:xfrm>
            <a:off x="1097280" y="5212080"/>
            <a:ext cx="9875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Vì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trọng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số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được</a:t>
            </a:r>
            <a:r>
              <a:rPr lang="en-US" sz="1600" dirty="0">
                <a:solidFill>
                  <a:schemeClr val="bg1"/>
                </a:solidFill>
              </a:rPr>
              <a:t> chia </a:t>
            </a:r>
            <a:r>
              <a:rPr lang="en-US" sz="1600" dirty="0" err="1">
                <a:solidFill>
                  <a:schemeClr val="bg1"/>
                </a:solidFill>
              </a:rPr>
              <a:t>sẻ</a:t>
            </a:r>
            <a:r>
              <a:rPr lang="en-US" sz="1600" dirty="0">
                <a:solidFill>
                  <a:schemeClr val="bg1"/>
                </a:solidFill>
              </a:rPr>
              <a:t> qua </a:t>
            </a:r>
            <a:r>
              <a:rPr lang="en-US" sz="1600" dirty="0" err="1">
                <a:solidFill>
                  <a:schemeClr val="bg1"/>
                </a:solidFill>
              </a:rPr>
              <a:t>thời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gian</a:t>
            </a:r>
            <a:r>
              <a:rPr lang="en-US" sz="1600" dirty="0">
                <a:solidFill>
                  <a:schemeClr val="bg1"/>
                </a:solidFill>
              </a:rPr>
              <a:t>, gradient </a:t>
            </a:r>
            <a:r>
              <a:rPr lang="en-US" sz="1600" dirty="0" err="1">
                <a:solidFill>
                  <a:schemeClr val="bg1"/>
                </a:solidFill>
              </a:rPr>
              <a:t>của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cùng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một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trọng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số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được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tích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lũy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từ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nhiều</a:t>
            </a:r>
            <a:r>
              <a:rPr lang="en-US" sz="1600" dirty="0">
                <a:solidFill>
                  <a:schemeClr val="bg1"/>
                </a:solidFill>
              </a:rPr>
              <a:t> time step.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6 · GIỚI HẠN CỦA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Long-term Dependency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Thông tin </a:t>
            </a:r>
            <a:r>
              <a:rPr lang="en-US" sz="1000" dirty="0" err="1">
                <a:solidFill>
                  <a:schemeClr val="bg1"/>
                </a:solidFill>
              </a:rPr>
              <a:t>quan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trọng</a:t>
            </a:r>
            <a:r>
              <a:rPr lang="en-US" sz="1000" dirty="0">
                <a:solidFill>
                  <a:schemeClr val="bg1"/>
                </a:solidFill>
              </a:rPr>
              <a:t> ở </a:t>
            </a:r>
            <a:r>
              <a:rPr lang="en-US" sz="1000" dirty="0" err="1">
                <a:solidFill>
                  <a:schemeClr val="bg1"/>
                </a:solidFill>
              </a:rPr>
              <a:t>đầu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chuỗi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phải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được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duy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trì</a:t>
            </a:r>
            <a:r>
              <a:rPr lang="en-US" sz="1000" dirty="0">
                <a:solidFill>
                  <a:schemeClr val="bg1"/>
                </a:solidFill>
              </a:rPr>
              <a:t> qua </a:t>
            </a:r>
            <a:r>
              <a:rPr lang="en-US" sz="1000" dirty="0" err="1">
                <a:solidFill>
                  <a:schemeClr val="bg1"/>
                </a:solidFill>
              </a:rPr>
              <a:t>nhiều</a:t>
            </a:r>
            <a:r>
              <a:rPr lang="en-US" sz="1000" dirty="0">
                <a:solidFill>
                  <a:schemeClr val="bg1"/>
                </a:solidFill>
              </a:rPr>
              <a:t> time step</a:t>
            </a:r>
            <a:endParaRPr lang="en-US" sz="92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3154680"/>
            <a:ext cx="475488" cy="475488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5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920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38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1252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063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81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2395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06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24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h3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3538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49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67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h4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4681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92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10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h5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5824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635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53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h6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6967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778240" y="3154680"/>
            <a:ext cx="475488" cy="475488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96528" y="3283062"/>
            <a:ext cx="438912" cy="161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h7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8110728" y="3392424"/>
            <a:ext cx="667512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738360" y="2770632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57232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281160" y="3392424"/>
            <a:ext cx="45720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Khoảng cách càng xa, RNN càng khó giữ thông tin hữu ích từ đầu chuỗi đến cuối chuỗi.</a:t>
            </a:r>
            <a:endParaRPr lang="en-US" sz="1600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33C90DB-4D80-BD87-D354-1DB619CDF42C}"/>
              </a:ext>
            </a:extLst>
          </p:cNvPr>
          <p:cNvSpPr/>
          <p:nvPr/>
        </p:nvSpPr>
        <p:spPr>
          <a:xfrm>
            <a:off x="963827" y="1512398"/>
            <a:ext cx="9487929" cy="1642694"/>
          </a:xfrm>
          <a:custGeom>
            <a:avLst/>
            <a:gdLst>
              <a:gd name="csX0" fmla="*/ 0 w 9487929"/>
              <a:gd name="csY0" fmla="*/ 1642694 h 1642694"/>
              <a:gd name="csX1" fmla="*/ 1696995 w 9487929"/>
              <a:gd name="csY1" fmla="*/ 258737 h 1642694"/>
              <a:gd name="csX2" fmla="*/ 8361405 w 9487929"/>
              <a:gd name="csY2" fmla="*/ 85743 h 1642694"/>
              <a:gd name="csX3" fmla="*/ 9424087 w 9487929"/>
              <a:gd name="csY3" fmla="*/ 1239040 h 1642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87929" h="1642694">
                <a:moveTo>
                  <a:pt x="0" y="1642694"/>
                </a:moveTo>
                <a:cubicBezTo>
                  <a:pt x="151714" y="1080461"/>
                  <a:pt x="303428" y="518229"/>
                  <a:pt x="1696995" y="258737"/>
                </a:cubicBezTo>
                <a:cubicBezTo>
                  <a:pt x="3090562" y="-755"/>
                  <a:pt x="7073556" y="-77641"/>
                  <a:pt x="8361405" y="85743"/>
                </a:cubicBezTo>
                <a:cubicBezTo>
                  <a:pt x="9649254" y="249127"/>
                  <a:pt x="9536670" y="744083"/>
                  <a:pt x="9424087" y="123904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A5D565-9228-B987-510B-237216B373D0}"/>
              </a:ext>
            </a:extLst>
          </p:cNvPr>
          <p:cNvSpPr txBox="1"/>
          <p:nvPr/>
        </p:nvSpPr>
        <p:spPr>
          <a:xfrm>
            <a:off x="4184701" y="1627631"/>
            <a:ext cx="3839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long-range dependency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8"/>
          <p:cNvSpPr/>
          <p:nvPr/>
        </p:nvSpPr>
        <p:spPr>
          <a:xfrm>
            <a:off x="3723284" y="1566138"/>
            <a:ext cx="466344" cy="46634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63951" y="1593570"/>
            <a:ext cx="411480" cy="4114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1529639" y="1637964"/>
            <a:ext cx="356616" cy="3566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3963" y="1692828"/>
            <a:ext cx="301752" cy="30175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6 · GIỚI HẠN CỦA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Vanishing Gradient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nhỏ dần khi truyền ngược qua nhiều bước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8072627" y="1347825"/>
            <a:ext cx="685800" cy="6858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1939" y="1676826"/>
            <a:ext cx="64922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764881" y="1831110"/>
            <a:ext cx="751498" cy="1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993635" y="1409364"/>
            <a:ext cx="630936" cy="63093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24939" y="1680301"/>
            <a:ext cx="594360" cy="21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5954161" y="1456410"/>
            <a:ext cx="576072" cy="5760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7939" y="1683775"/>
            <a:ext cx="539496" cy="19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4797251" y="1521538"/>
            <a:ext cx="521208" cy="52120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10939" y="1687250"/>
            <a:ext cx="484632" cy="17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4853939" y="1690725"/>
            <a:ext cx="429768" cy="158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5996939" y="1694200"/>
            <a:ext cx="374904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9939" y="1697674"/>
            <a:ext cx="320040" cy="121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282939" y="1701149"/>
            <a:ext cx="265176" cy="10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∂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736092" y="5559308"/>
            <a:ext cx="9784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-Gradient </a:t>
            </a:r>
            <a:r>
              <a:rPr lang="en-US" sz="1600" dirty="0" err="1">
                <a:solidFill>
                  <a:schemeClr val="bg1"/>
                </a:solidFill>
              </a:rPr>
              <a:t>nhỏ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dần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khi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truyền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ngược</a:t>
            </a:r>
            <a:r>
              <a:rPr lang="en-US" sz="1600" dirty="0">
                <a:solidFill>
                  <a:schemeClr val="bg1"/>
                </a:solidFill>
              </a:rPr>
              <a:t> qua </a:t>
            </a:r>
            <a:r>
              <a:rPr lang="en-US" sz="1600" dirty="0" err="1">
                <a:solidFill>
                  <a:schemeClr val="bg1"/>
                </a:solidFill>
              </a:rPr>
              <a:t>nhiều</a:t>
            </a:r>
            <a:r>
              <a:rPr lang="en-US" sz="1600" dirty="0">
                <a:solidFill>
                  <a:schemeClr val="bg1"/>
                </a:solidFill>
              </a:rPr>
              <a:t> time step.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-Các </a:t>
            </a:r>
            <a:r>
              <a:rPr lang="en-US" sz="1600" dirty="0" err="1">
                <a:solidFill>
                  <a:schemeClr val="bg1"/>
                </a:solidFill>
              </a:rPr>
              <a:t>bước</a:t>
            </a:r>
            <a:r>
              <a:rPr lang="en-US" sz="1600" dirty="0">
                <a:solidFill>
                  <a:schemeClr val="bg1"/>
                </a:solidFill>
              </a:rPr>
              <a:t> ở xa </a:t>
            </a:r>
            <a:r>
              <a:rPr lang="en-US" sz="1600" dirty="0" err="1">
                <a:solidFill>
                  <a:schemeClr val="bg1"/>
                </a:solidFill>
              </a:rPr>
              <a:t>nhận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tín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hiệu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học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rất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yếu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-RNN </a:t>
            </a:r>
            <a:r>
              <a:rPr lang="en-US" sz="1600" dirty="0" err="1">
                <a:solidFill>
                  <a:schemeClr val="bg1"/>
                </a:solidFill>
              </a:rPr>
              <a:t>khó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học</a:t>
            </a:r>
            <a:r>
              <a:rPr lang="en-US" sz="1600" dirty="0">
                <a:solidFill>
                  <a:schemeClr val="bg1"/>
                </a:solidFill>
              </a:rPr>
              <a:t> long-term dependencies.</a:t>
            </a: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867CFBC-12EF-D30A-17AB-1E386E8050D2}"/>
              </a:ext>
            </a:extLst>
          </p:cNvPr>
          <p:cNvSpPr/>
          <p:nvPr/>
        </p:nvSpPr>
        <p:spPr>
          <a:xfrm flipH="1">
            <a:off x="1886255" y="1831135"/>
            <a:ext cx="777696" cy="2968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8">
            <a:extLst>
              <a:ext uri="{FF2B5EF4-FFF2-40B4-BE49-F238E27FC236}">
                <a16:creationId xmlns:a16="http://schemas.microsoft.com/office/drawing/2014/main" id="{C0D28073-A2D4-5D36-A740-46E04E32562B}"/>
              </a:ext>
            </a:extLst>
          </p:cNvPr>
          <p:cNvSpPr/>
          <p:nvPr/>
        </p:nvSpPr>
        <p:spPr>
          <a:xfrm flipH="1" flipV="1">
            <a:off x="3125723" y="1818923"/>
            <a:ext cx="566928" cy="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28">
            <a:extLst>
              <a:ext uri="{FF2B5EF4-FFF2-40B4-BE49-F238E27FC236}">
                <a16:creationId xmlns:a16="http://schemas.microsoft.com/office/drawing/2014/main" id="{194ED69E-7957-031F-FB94-FF7208CBE89D}"/>
              </a:ext>
            </a:extLst>
          </p:cNvPr>
          <p:cNvSpPr/>
          <p:nvPr/>
        </p:nvSpPr>
        <p:spPr>
          <a:xfrm flipH="1" flipV="1">
            <a:off x="4213859" y="1803745"/>
            <a:ext cx="588417" cy="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0A4408F9-98B5-9B7F-2F3C-24E933542753}"/>
              </a:ext>
            </a:extLst>
          </p:cNvPr>
          <p:cNvSpPr/>
          <p:nvPr/>
        </p:nvSpPr>
        <p:spPr>
          <a:xfrm flipH="1" flipV="1">
            <a:off x="5301995" y="1777360"/>
            <a:ext cx="676656" cy="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12DEF54D-1D04-B9DA-A3EF-34F9CB08E50E}"/>
              </a:ext>
            </a:extLst>
          </p:cNvPr>
          <p:cNvSpPr/>
          <p:nvPr/>
        </p:nvSpPr>
        <p:spPr>
          <a:xfrm flipH="1">
            <a:off x="6554723" y="1777360"/>
            <a:ext cx="564186" cy="1480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0B022D76-9F38-039A-DB4E-85FF48723289}"/>
              </a:ext>
            </a:extLst>
          </p:cNvPr>
          <p:cNvSpPr/>
          <p:nvPr/>
        </p:nvSpPr>
        <p:spPr>
          <a:xfrm flipH="1" flipV="1">
            <a:off x="7642858" y="1777360"/>
            <a:ext cx="621791" cy="14804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8EE2B43-68E6-C6D9-2F12-A8D3D9769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7" y="2167950"/>
            <a:ext cx="8203522" cy="32167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-22654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6 · GIỚI HẠN CỦA RNN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7" y="658368"/>
            <a:ext cx="70695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Exploding Gradient &amp; Gradient Clipping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216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quá lớn làm huấn luyện mất ổn định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400800" y="205740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0B1E38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00800" y="2057400"/>
            <a:ext cx="73152" cy="10972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01968" y="2167128"/>
            <a:ext cx="4023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ACC1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Gradient clipping</a:t>
            </a:r>
            <a:endParaRPr lang="en-US" sz="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51"/>
              <p:cNvSpPr/>
              <p:nvPr/>
            </p:nvSpPr>
            <p:spPr>
              <a:xfrm>
                <a:off x="6601968" y="2496312"/>
                <a:ext cx="3977640" cy="56692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 fontScale="85000" lnSpcReduction="10000"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000" b="1" i="1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1" i="1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F2F7F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nếu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2F7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000" b="1" i="0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dirty="0">
                          <a:solidFill>
                            <a:srgbClr val="F2F7FF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3" name="Text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968" y="2496312"/>
                <a:ext cx="3977640" cy="566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 52"/>
          <p:cNvSpPr/>
          <p:nvPr/>
        </p:nvSpPr>
        <p:spPr>
          <a:xfrm>
            <a:off x="6400800" y="3657600"/>
            <a:ext cx="4389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</a:rPr>
              <a:t>-Gradient </a:t>
            </a:r>
            <a:r>
              <a:rPr lang="en-US" sz="1400" dirty="0" err="1">
                <a:solidFill>
                  <a:schemeClr val="bg1"/>
                </a:solidFill>
              </a:rPr>
              <a:t>quá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lớn</a:t>
            </a:r>
            <a:r>
              <a:rPr lang="en-US" sz="1400" dirty="0">
                <a:solidFill>
                  <a:schemeClr val="bg1"/>
                </a:solidFill>
              </a:rPr>
              <a:t> → </a:t>
            </a:r>
            <a:r>
              <a:rPr lang="en-US" sz="1400" dirty="0" err="1">
                <a:solidFill>
                  <a:schemeClr val="bg1"/>
                </a:solidFill>
              </a:rPr>
              <a:t>cập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nhật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trọng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số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quá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mạnh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-Loss </a:t>
            </a:r>
            <a:r>
              <a:rPr lang="en-US" sz="1400" dirty="0" err="1">
                <a:solidFill>
                  <a:schemeClr val="bg1"/>
                </a:solidFill>
              </a:rPr>
              <a:t>có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thể</a:t>
            </a:r>
            <a:r>
              <a:rPr lang="en-US" sz="1400" dirty="0">
                <a:solidFill>
                  <a:schemeClr val="bg1"/>
                </a:solidFill>
              </a:rPr>
              <a:t> dao </a:t>
            </a:r>
            <a:r>
              <a:rPr lang="en-US" sz="1400" dirty="0" err="1">
                <a:solidFill>
                  <a:schemeClr val="bg1"/>
                </a:solidFill>
              </a:rPr>
              <a:t>động</a:t>
            </a:r>
            <a:r>
              <a:rPr lang="en-US" sz="1400" dirty="0">
                <a:solidFill>
                  <a:schemeClr val="bg1"/>
                </a:solidFill>
              </a:rPr>
              <a:t>, train </a:t>
            </a:r>
            <a:r>
              <a:rPr lang="en-US" sz="1400" dirty="0" err="1">
                <a:solidFill>
                  <a:schemeClr val="bg1"/>
                </a:solidFill>
              </a:rPr>
              <a:t>mất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ổn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định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-</a:t>
            </a:r>
            <a:r>
              <a:rPr lang="en-US" sz="1400" dirty="0" err="1">
                <a:solidFill>
                  <a:schemeClr val="bg1"/>
                </a:solidFill>
              </a:rPr>
              <a:t>Có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thể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xuất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hiện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NaN</a:t>
            </a:r>
            <a:r>
              <a:rPr lang="en-US" sz="1400" dirty="0">
                <a:solidFill>
                  <a:schemeClr val="bg1"/>
                </a:solidFill>
              </a:rPr>
              <a:t>/Inf</a:t>
            </a: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-Gradient clipping </a:t>
            </a:r>
            <a:r>
              <a:rPr lang="en-US" sz="1400" dirty="0" err="1">
                <a:solidFill>
                  <a:schemeClr val="bg1"/>
                </a:solidFill>
              </a:rPr>
              <a:t>giới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hạn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độ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lớn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nhưng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giữ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hướng</a:t>
            </a:r>
            <a:r>
              <a:rPr lang="en-US" sz="1400" dirty="0">
                <a:solidFill>
                  <a:schemeClr val="bg1"/>
                </a:solidFill>
              </a:rPr>
              <a:t> gradient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348F0AB-C0B2-FA3E-C4AC-E372DEB28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44" y="1511495"/>
            <a:ext cx="4674848" cy="429220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7 · ỨNG DỤNG &amp; KẾT LUẬN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Ứng dụng của RNN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Dữ liệu có cấu trúc chuỗi là nơi RNN có thể làm baseline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85800" y="18288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8680" y="2057400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NLP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97280" y="3154680"/>
            <a:ext cx="310896" cy="310896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15568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1536192" y="3154680"/>
            <a:ext cx="310896" cy="310896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54480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x2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1975104" y="3154680"/>
            <a:ext cx="310896" cy="310896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93392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x3</a:t>
            </a:r>
            <a:endParaRPr lang="en-US" sz="500" dirty="0"/>
          </a:p>
        </p:txBody>
      </p:sp>
      <p:sp>
        <p:nvSpPr>
          <p:cNvPr id="36" name="Shape 34"/>
          <p:cNvSpPr/>
          <p:nvPr/>
        </p:nvSpPr>
        <p:spPr>
          <a:xfrm>
            <a:off x="2414016" y="3154680"/>
            <a:ext cx="310896" cy="310896"/>
          </a:xfrm>
          <a:prstGeom prst="ellipse">
            <a:avLst/>
          </a:prstGeom>
          <a:solidFill>
            <a:srgbClr val="14D9E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32304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x4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1408176" y="3310128"/>
            <a:ext cx="128016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847088" y="3310128"/>
            <a:ext cx="128016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0" y="3310128"/>
            <a:ext cx="128016" cy="0"/>
          </a:xfrm>
          <a:prstGeom prst="line">
            <a:avLst/>
          </a:prstGeom>
          <a:noFill/>
          <a:ln w="12700">
            <a:solidFill>
              <a:srgbClr val="14D9E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440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· tagging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20440" y="18288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2057400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Speech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3840480" y="3429000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09060" y="3106677"/>
            <a:ext cx="0" cy="64464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977640" y="3028281"/>
            <a:ext cx="0" cy="801438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046220" y="3253142"/>
            <a:ext cx="0" cy="35171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114800" y="3611088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183380" y="3831234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251960" y="3746977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320540" y="3422081"/>
            <a:ext cx="0" cy="1383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389120" y="3102422"/>
            <a:ext cx="0" cy="65315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457700" y="3029910"/>
            <a:ext cx="0" cy="79818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26280" y="3259421"/>
            <a:ext cx="0" cy="339157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94860" y="3617267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63440" y="3832636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732020" y="3742541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00600" y="3415165"/>
            <a:ext cx="0" cy="2767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69180" y="3098259"/>
            <a:ext cx="0" cy="661482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37760" y="3031651"/>
            <a:ext cx="0" cy="794698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006340" y="3265749"/>
            <a:ext cx="0" cy="326502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74920" y="3623392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143500" y="3833923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212080" y="3738016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280660" y="3408252"/>
            <a:ext cx="0" cy="41496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349240" y="3094190"/>
            <a:ext cx="0" cy="669621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417820" y="3033505"/>
            <a:ext cx="0" cy="79099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486400" y="3272123"/>
            <a:ext cx="0" cy="313754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554980" y="3629463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623560" y="3835096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692140" y="3733404"/>
            <a:ext cx="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74904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waveform · audio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355080" y="18288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537960" y="2057400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Series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658368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91B31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720840" y="3017520"/>
            <a:ext cx="169164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720840" y="3291840"/>
            <a:ext cx="169164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720840" y="3566160"/>
            <a:ext cx="1691640" cy="0"/>
          </a:xfrm>
          <a:prstGeom prst="line">
            <a:avLst/>
          </a:prstGeom>
          <a:noFill/>
          <a:ln w="12700">
            <a:solidFill>
              <a:srgbClr val="244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740957" y="3467405"/>
            <a:ext cx="196596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937553" y="3215030"/>
            <a:ext cx="196596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134149" y="3094330"/>
            <a:ext cx="196596" cy="131674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330745" y="3226003"/>
            <a:ext cx="235915" cy="416966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566660" y="3642970"/>
            <a:ext cx="235915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802575" y="3533242"/>
            <a:ext cx="196596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99171" y="3258922"/>
            <a:ext cx="196596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195767" y="3017520"/>
            <a:ext cx="235915" cy="329184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708953" y="3435401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727241" y="3452683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89" name="Shape 87"/>
          <p:cNvSpPr/>
          <p:nvPr/>
        </p:nvSpPr>
        <p:spPr>
          <a:xfrm>
            <a:off x="6905549" y="318302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923837" y="3200309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1" name="Shape 89"/>
          <p:cNvSpPr/>
          <p:nvPr/>
        </p:nvSpPr>
        <p:spPr>
          <a:xfrm>
            <a:off x="7102145" y="306232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120433" y="3079608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3" name="Shape 91"/>
          <p:cNvSpPr/>
          <p:nvPr/>
        </p:nvSpPr>
        <p:spPr>
          <a:xfrm>
            <a:off x="7298741" y="3193999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317029" y="3211281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5" name="Shape 93"/>
          <p:cNvSpPr/>
          <p:nvPr/>
        </p:nvSpPr>
        <p:spPr>
          <a:xfrm>
            <a:off x="7534656" y="361096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552944" y="3628248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7" name="Shape 95"/>
          <p:cNvSpPr/>
          <p:nvPr/>
        </p:nvSpPr>
        <p:spPr>
          <a:xfrm>
            <a:off x="7770571" y="350123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788859" y="3518520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99" name="Shape 97"/>
          <p:cNvSpPr/>
          <p:nvPr/>
        </p:nvSpPr>
        <p:spPr>
          <a:xfrm>
            <a:off x="7967167" y="322691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985455" y="3244200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01" name="Shape 99"/>
          <p:cNvSpPr/>
          <p:nvPr/>
        </p:nvSpPr>
        <p:spPr>
          <a:xfrm>
            <a:off x="8163763" y="298551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8182051" y="3002798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03" name="Shape 101"/>
          <p:cNvSpPr/>
          <p:nvPr/>
        </p:nvSpPr>
        <p:spPr>
          <a:xfrm>
            <a:off x="8399678" y="3314700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8417966" y="3331982"/>
            <a:ext cx="27432" cy="21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" dirty="0"/>
          </a:p>
        </p:txBody>
      </p:sp>
      <p:sp>
        <p:nvSpPr>
          <p:cNvPr id="105" name="Text 103"/>
          <p:cNvSpPr/>
          <p:nvPr/>
        </p:nvSpPr>
        <p:spPr>
          <a:xfrm>
            <a:off x="658368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9189720" y="18288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0A1D3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9372600" y="2057400"/>
            <a:ext cx="2148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ACC1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/ Logs</a:t>
            </a:r>
            <a:endParaRPr lang="en-US" sz="1700" dirty="0"/>
          </a:p>
        </p:txBody>
      </p:sp>
      <p:sp>
        <p:nvSpPr>
          <p:cNvPr id="108" name="Shape 106"/>
          <p:cNvSpPr/>
          <p:nvPr/>
        </p:nvSpPr>
        <p:spPr>
          <a:xfrm>
            <a:off x="9601200" y="3154680"/>
            <a:ext cx="310896" cy="310896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9619488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x1</a:t>
            </a:r>
            <a:endParaRPr lang="en-US" sz="500" dirty="0"/>
          </a:p>
        </p:txBody>
      </p:sp>
      <p:sp>
        <p:nvSpPr>
          <p:cNvPr id="110" name="Shape 108"/>
          <p:cNvSpPr/>
          <p:nvPr/>
        </p:nvSpPr>
        <p:spPr>
          <a:xfrm>
            <a:off x="10040112" y="3154680"/>
            <a:ext cx="310896" cy="310896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10058400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x2</a:t>
            </a:r>
            <a:endParaRPr lang="en-US" sz="500" dirty="0"/>
          </a:p>
        </p:txBody>
      </p:sp>
      <p:sp>
        <p:nvSpPr>
          <p:cNvPr id="112" name="Shape 110"/>
          <p:cNvSpPr/>
          <p:nvPr/>
        </p:nvSpPr>
        <p:spPr>
          <a:xfrm>
            <a:off x="10479024" y="3154680"/>
            <a:ext cx="310896" cy="310896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10497312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x3</a:t>
            </a: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10917936" y="3154680"/>
            <a:ext cx="310896" cy="310896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936224" y="3238622"/>
            <a:ext cx="274320" cy="10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x4</a:t>
            </a:r>
            <a:endParaRPr lang="en-US" sz="500" dirty="0"/>
          </a:p>
        </p:txBody>
      </p:sp>
      <p:sp>
        <p:nvSpPr>
          <p:cNvPr id="116" name="Shape 114"/>
          <p:cNvSpPr/>
          <p:nvPr/>
        </p:nvSpPr>
        <p:spPr>
          <a:xfrm>
            <a:off x="9912096" y="3310128"/>
            <a:ext cx="128016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0351008" y="3310128"/>
            <a:ext cx="128016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0789920" y="3310128"/>
            <a:ext cx="128016" cy="0"/>
          </a:xfrm>
          <a:prstGeom prst="line">
            <a:avLst/>
          </a:prstGeom>
          <a:noFill/>
          <a:ln w="12700">
            <a:solidFill>
              <a:srgbClr val="FACC1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941832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sequence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373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7472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521208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91695" cy="0"/>
          </a:xfrm>
          <a:prstGeom prst="line">
            <a:avLst/>
          </a:prstGeom>
          <a:noFill/>
          <a:ln w="12700">
            <a:solidFill>
              <a:srgbClr val="0B254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0B254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04101F"/>
          </a:solidFill>
          <a:ln w="12700">
            <a:solidFill>
              <a:srgbClr val="041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9144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· PHÁT TRIỂN HỆ THỐNG THÔNG MINH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09160" y="8229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PHẦN 7 · ỨNG DỤNG &amp; KẾT LUẬN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81360" y="731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 / 27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6928" y="65836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Kết luận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" y="11338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9EB3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là nền tảng để hiểu học chuỗi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77240" y="16459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A1D3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Ưu điểm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51560" y="2560320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Xử lý tự nhiên dữ liệu tuần tự</a:t>
            </a:r>
            <a:endParaRPr lang="en-US" sz="1250" dirty="0"/>
          </a:p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Hidden state mang ngữ cảnh</a:t>
            </a:r>
            <a:endParaRPr lang="en-US" sz="1250" dirty="0"/>
          </a:p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sharing tiết kiệm tham số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16459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A1D3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B71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Hạn chế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800600" y="2560320"/>
            <a:ext cx="28346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học phụ thuộc dài hạn</a:t>
            </a:r>
            <a:endParaRPr lang="en-US" sz="1250" dirty="0"/>
          </a:p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Vanishing / Exploding gradient</a:t>
            </a:r>
            <a:endParaRPr lang="en-US" sz="1250" dirty="0"/>
          </a:p>
          <a:p>
            <a:r>
              <a:rPr lang="en-US" sz="1250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Khó song song hóa theo thời gian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75320" y="16459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0A1D35"/>
          </a:solidFill>
          <a:ln w="12700">
            <a:solidFill>
              <a:srgbClr val="14D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49640" y="1920240"/>
            <a:ext cx="2606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D9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77072" y="2606040"/>
            <a:ext cx="2560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RNN truyền hidden state qua các time step, cho phép thông tin quá khứ ảnh hưởng đến xử lý hiện tại.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0" y="5897880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2842</Words>
  <Application>Microsoft Office PowerPoint</Application>
  <PresentationFormat>Widescreen</PresentationFormat>
  <Paragraphs>478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Montserrat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 (RNN)</dc:title>
  <dc:subject>Recurrent Neural Network presentation</dc:subject>
  <dc:creator>OpenAI</dc:creator>
  <cp:lastModifiedBy>Tran Hai Dang D23CE05</cp:lastModifiedBy>
  <cp:revision>4</cp:revision>
  <dcterms:created xsi:type="dcterms:W3CDTF">2026-09-28T09:38:44Z</dcterms:created>
  <dcterms:modified xsi:type="dcterms:W3CDTF">2026-09-29T12:02:43Z</dcterms:modified>
</cp:coreProperties>
</file>